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88" d="100"/>
          <a:sy n="88" d="100"/>
        </p:scale>
        <p:origin x="439"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No Sharing</c:v>
                </c:pt>
              </c:strCache>
            </c:strRef>
          </c:tx>
          <c:spPr>
            <a:solidFill>
              <a:srgbClr val="A9BEDD"/>
            </a:solidFill>
            <a:effectLst/>
          </c:spPr>
          <c:invertIfNegative val="0"/>
          <c:dLbls>
            <c:numFmt formatCode="#,##0" sourceLinked="0"/>
            <c:spPr>
              <a:noFill/>
              <a:ln>
                <a:noFill/>
              </a:ln>
              <a:effectLst/>
            </c:spPr>
            <c:txPr>
              <a:bodyPr/>
              <a:lstStyle/>
              <a:p>
                <a:pPr>
                  <a:defRPr sz="1000" b="1" i="0" u="none" strike="noStrike">
                    <a:solidFill>
                      <a:srgbClr val="0E2747"/>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Multipliers</c:v>
                </c:pt>
                <c:pt idx="1">
                  <c:v>Adders</c:v>
                </c:pt>
                <c:pt idx="2">
                  <c:v>MUX</c:v>
                </c:pt>
                <c:pt idx="3">
                  <c:v>DSP Blocks</c:v>
                </c:pt>
              </c:strCache>
            </c:strRef>
          </c:cat>
          <c:val>
            <c:numRef>
              <c:f>Sheet1!$B$2:$B$5</c:f>
              <c:numCache>
                <c:formatCode>General</c:formatCode>
                <c:ptCount val="4"/>
                <c:pt idx="0">
                  <c:v>2</c:v>
                </c:pt>
                <c:pt idx="1">
                  <c:v>1</c:v>
                </c:pt>
                <c:pt idx="2">
                  <c:v>0</c:v>
                </c:pt>
                <c:pt idx="3">
                  <c:v>2</c:v>
                </c:pt>
              </c:numCache>
            </c:numRef>
          </c:val>
          <c:extLst>
            <c:ext xmlns:c16="http://schemas.microsoft.com/office/drawing/2014/chart" uri="{C3380CC4-5D6E-409C-BE32-E72D297353CC}">
              <c16:uniqueId val="{00000000-362C-4FB0-BCF4-E416DC51A572}"/>
            </c:ext>
          </c:extLst>
        </c:ser>
        <c:ser>
          <c:idx val="1"/>
          <c:order val="1"/>
          <c:tx>
            <c:strRef>
              <c:f>Sheet1!$C$1</c:f>
              <c:strCache>
                <c:ptCount val="1"/>
                <c:pt idx="0">
                  <c:v>Sharing</c:v>
                </c:pt>
              </c:strCache>
            </c:strRef>
          </c:tx>
          <c:spPr>
            <a:solidFill>
              <a:srgbClr val="1A4FA0"/>
            </a:solidFill>
            <a:effectLst/>
          </c:spPr>
          <c:invertIfNegative val="0"/>
          <c:dLbls>
            <c:numFmt formatCode="#,##0" sourceLinked="0"/>
            <c:spPr>
              <a:noFill/>
              <a:ln>
                <a:noFill/>
              </a:ln>
              <a:effectLst/>
            </c:spPr>
            <c:txPr>
              <a:bodyPr/>
              <a:lstStyle/>
              <a:p>
                <a:pPr>
                  <a:defRPr sz="1000" b="1" i="0" u="none" strike="noStrike">
                    <a:solidFill>
                      <a:srgbClr val="0E2747"/>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Multipliers</c:v>
                </c:pt>
                <c:pt idx="1">
                  <c:v>Adders</c:v>
                </c:pt>
                <c:pt idx="2">
                  <c:v>MUX</c:v>
                </c:pt>
                <c:pt idx="3">
                  <c:v>DSP Blocks</c:v>
                </c:pt>
              </c:strCache>
            </c:strRef>
          </c:cat>
          <c:val>
            <c:numRef>
              <c:f>Sheet1!$C$2:$C$5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1-362C-4FB0-BCF4-E416DC51A57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2.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15C"/>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10.096"/>
    </inkml:context>
    <inkml:brush xml:id="br0">
      <inkml:brushProperty name="width" value="0.035" units="cm"/>
      <inkml:brushProperty name="height" value="0.035" units="cm"/>
    </inkml:brush>
  </inkml:definitions>
  <inkml:trace contextRef="#ctx0" brushRef="#br0">260 2 24575,'0'0'0,"-17"0"0,9-1 0,0 0 0,-1 1 0,1 0 0,0 1 0,-1 0 0,1 0 0,0 1 0,0 0 0,0 0 0,0 1 0,0 0 0,1 0 0,-1 1 0,-12 8 0,10-4 0,0 0 0,0 0 0,1 1 0,0 1 0,0 0 0,1 0 0,1 0 0,-12 22 0,16-27 0,0 1 0,1-1 0,0 0 0,0 1 0,0 0 0,1-1 0,0 1 0,0 0 0,0 0 0,1 0 0,0 0 0,0 0 0,0 0 0,1-1 0,0 1 0,0 0 0,0 0 0,1-1 0,0 1 0,0 0 0,0-1 0,4 6 0,-2-4 0,0 0 0,0 0 0,1-1 0,0 1 0,0-1 0,0 0 0,1-1 0,0 1 0,9 6 0,-11-9 0,1 0 0,0-1 0,0 1 0,0-1 0,0 0 0,0 0 0,1-1 0,-1 1 0,0-1 0,1-1 0,-1 1 0,1-1 0,-1 1 0,10-2 0,-3-1 0,0-1 0,1 0 0,-1 0 0,0-1 0,0-1 0,-1 0 0,0 0 0,1-1 0,16-13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11.261"/>
    </inkml:context>
    <inkml:brush xml:id="br0">
      <inkml:brushProperty name="width" value="0.035" units="cm"/>
      <inkml:brushProperty name="height" value="0.035" units="cm"/>
    </inkml:brush>
  </inkml:definitions>
  <inkml:trace contextRef="#ctx0" brushRef="#br0">91 1 24575,'0'0'0,"0"0"0,0 0 0,-1 4 0,-63 242 0,54-192 0,3 1 0,-1 89 0,8-134 0,0-6 0,-1-1 0,1 1 0,1 0 0,-1 0 0,1 0 0,1 6 0,-2-10 0,0 0 0,0 0 0,0 0 0,0 1 0,0-1 0,1 0 0,-1 0 0,0 0 0,0 0 0,0 0 0,0 0 0,0 0 0,0 0 0,1 0 0,-1 0 0,0 0 0,0 0 0,0 0 0,0 1 0,0-1 0,1 0 0,-1 0 0,0 0 0,0 0 0,0 0 0,0-1 0,1 1 0,-1 0 0,0 0 0,0 0 0,0 0 0,0 0 0,0 0 0,1 0 0,-1 0 0,0 0 0,0 0 0,0 0 0,0 0 0,0 0 0,0-1 0,0 1 0,1 0 0,-1 0 0,0 0 0,0 0 0,0 0 0,0 0 0,0-1 0,0 1 0,0 0 0,0 0 0,0 0 0,0 0 0,0-1 0,5-7 0,12-29 0,39-75 0,-44 91 0,1 0 0,1 1 0,18-20 0,-28 35 0,1 0 0,9-6 0,-14 11 0,0 1 0,1 0 0,-1-1 0,0 1 0,0 0 0,1-1 0,-1 1 0,0 0 0,0-1 0,0 1 0,0 0 0,0-1 0,0 1 0,0 1 0,-4 34 0,-10 39 0,7-40 0,-4 47 0,9-61 32,0 13-1429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11.702"/>
    </inkml:context>
    <inkml:brush xml:id="br0">
      <inkml:brushProperty name="width" value="0.035" units="cm"/>
      <inkml:brushProperty name="height" value="0.035" units="cm"/>
    </inkml:brush>
  </inkml:definitions>
  <inkml:trace contextRef="#ctx0" brushRef="#br0">71 0 24575,'0'0'0,"-1"5"0,-10 30 0,-4 7 0,3 1 0,-13 79 0,18-14-1365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12.860"/>
    </inkml:context>
    <inkml:brush xml:id="br0">
      <inkml:brushProperty name="width" value="0.035" units="cm"/>
      <inkml:brushProperty name="height" value="0.035" units="cm"/>
    </inkml:brush>
  </inkml:definitions>
  <inkml:trace contextRef="#ctx0" brushRef="#br0">53 103 24575,'0'0'0,"0"0"0,0 0 0,0 6 0,-24 92 0,17-72 0,0-1 0,2 2 0,-5 51 0,27-124 0,-3 0 0,-2 4 0,3 1 0,34-72 0,-48 112 0,-1 1 0,0-1 0,0 1 0,1-1 0,-1 1 0,0-1 0,1 1 0,-1-1 0,1 1 0,-1-1 0,0 1 0,1 0 0,-1-1 0,1 1 0,-1-1 0,1 1 0,0-1 0,0 2 0,-1-1 0,0 0 0,0 0 0,1 0 0,-1 0 0,0 0 0,0 0 0,1 1 0,-1-1 0,0 0 0,0 0 0,0 0 0,1 0 0,-1 1 0,0-1 0,0 0 0,0 0 0,0 1 0,0-1 0,0 0 0,1 0 0,-1 1 0,0-1 0,0 0 0,0 0 0,0 1 0,3 25 0,-3-21 0,1 173 0,-3-99 0,34-246 0,-18 114 0,27-69 0,-41 121 0,1 0 0,-1-1 0,1 1 0,0-1 0,0 1 0,-1-1 0,1 1 0,0 0 0,0-1 0,2-1 0,-1 17 0,2 168 0,-2-24 0,-2-134 0,0-15 0,0 0 0,0 0 0,3 18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13.799"/>
    </inkml:context>
    <inkml:brush xml:id="br0">
      <inkml:brushProperty name="width" value="0.035" units="cm"/>
      <inkml:brushProperty name="height" value="0.035" units="cm"/>
    </inkml:brush>
  </inkml:definitions>
  <inkml:trace contextRef="#ctx0" brushRef="#br0">1053 48 24575,'0'0'0,"0"-1"0,0 1 0,0 0 0,0-1 0,0 1 0,0 0 0,0-1 0,0 1 0,0 0 0,0-1 0,0 1 0,0-1 0,0 1 0,-1 0 0,1 0 0,0-1 0,0 1 0,0 0 0,-1-1 0,1 1 0,0 0 0,0 0 0,-1-1 0,1 1 0,-7-7 0,1 3 0,0 0 0,0 0 0,0 1 0,0 0 0,-1 1 0,1-1 0,-1 1 0,0 0 0,0 1 0,-11-1 0,-6 0 0,-41 1 0,-96 17 0,0 12 0,-104 13 0,244-39 0,7 0 0,0-1 0,0-1 0,0 1 0,0-2 0,-25-4 0,36 3 0,10 1 0,15 1 0,-20 0 0,325-17 0,-103 3 0,-216 13 0,197-2 0,-168 4 0,0 2 0,0 2 0,54 14 0,-87-18 0,9 2 0,0 2 0,16 6 0,-26-10 0,0 1 0,-1-1 0,1 1 0,0-1 0,-1 1 0,1 0 0,-1 0 0,0 0 0,0 0 0,0 1 0,0-1 0,0 1 0,0-1 0,0 1 0,-1-1 0,2 5 0,-3-7 0,0 1 0,1 0 0,-1-1 0,0 1 0,0-1 0,0 1 0,0 0 0,0-1 0,0 1 0,0 0 0,0-1 0,-1 1 0,1-1 0,0 1 0,0 0 0,0-1 0,-1 1 0,1-1 0,0 1 0,0-1 0,-1 1 0,1-1 0,-1 1 0,1-1 0,0 1 0,-1-1 0,1 1 0,-1-1 0,1 1 0,-1-1 0,0 0 0,1 0 0,-1 1 0,1-1 0,-1 0 0,1 0 0,-2 1 0,-3 0 0,0 1 0,1-1 0,-11 0 0,8 0 0,-185 10 0,-3-16 0,70 1 0,-358 13 0,464-8 0,-72 1 0,71-3 0,-1 0 0,-27-6 0,43 5 120,8 1-1605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14.394"/>
    </inkml:context>
    <inkml:brush xml:id="br0">
      <inkml:brushProperty name="width" value="0.035" units="cm"/>
      <inkml:brushProperty name="height" value="0.035" units="cm"/>
    </inkml:brush>
  </inkml:definitions>
  <inkml:trace contextRef="#ctx0" brushRef="#br0">25 1 24575,'-10'51'0,"3"0"0,2 1 0,2-1 0,5 56 0,0-81 6,0-16-463,-1 0 0,-1 20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16.314"/>
    </inkml:context>
    <inkml:brush xml:id="br0">
      <inkml:brushProperty name="width" value="0.035" units="cm"/>
      <inkml:brushProperty name="height" value="0.035" units="cm"/>
    </inkml:brush>
  </inkml:definitions>
  <inkml:trace contextRef="#ctx0" brushRef="#br0">64 24 24575,'13'8'0,"13"9"0,-2 2 0,0 1 0,-1 0 0,27 33 0,-49-51 0,0 0 0,1 0 0,-1 1 0,0-1 0,0 0 0,0 1 0,0-1 0,-1 1 0,1 0 0,-1-1 0,1 1 0,-1-1 0,0 1 0,0 0 0,0-1 0,-1 1 0,1-1 0,0 1 0,-1 0 0,0-1 0,0 1 0,0-1 0,0 0 0,-1 4 0,-4 4 0,1 0 0,-2 0 0,-14 17 0,18-23 0,-1 1 0,1-1 0,-1 0 0,0-1 0,-1 1 0,1-1 0,-1 1 0,1-1 0,-1-1 0,0 1 0,0-1 0,0 0 0,-1 0 0,1 0 0,0-1 0,-1 1 0,1-1 0,-10 0 0,-45 0 0,30-1 0,33-1 0,-1 0 0,1 1 0,-1-1 0,1 0 0,-1 0 0,1-1 0,2-1 0,5-2 0,148-73 0,-133 63 0,-1 0 0,0-2 0,-2 0 0,25-25 0,-25 17 0,-21 23 0,1 0 0,-1-1 0,1 1 0,-1 0 0,0-1 0,0 1 0,-1-1 0,1 1 0,0-1 0,0-3 0,-1 6 0,0 0 0,0-1 0,0 1 0,0 0 0,0 0 0,0 0 0,0 0 0,0-1 0,0 1 0,0 0 0,0 0 0,0 0 0,0 0 0,0-1 0,0 1 0,0 0 0,0 0 0,0 0 0,0 0 0,-1-1 0,1 1 0,0 0 0,0 0 0,0 0 0,0 0 0,0 0 0,0 0 0,0 0 0,-1-1 0,1 1 0,0 0 0,0 0 0,0 0 0,0 0 0,-1 0 0,1 0 0,0 0 0,0 0 0,0 0 0,0 0 0,-1 0 0,-8 3 0,-6 8 0,5-3 0,1 1 0,1 0 0,-1 0 0,1 1 0,1 0 0,0 0 0,-6 13 0,9-15 0,0-1 0,1 1 0,1 0 0,-1 0 0,1 0 0,0 0 0,1 0 0,0 0 0,0 0 0,1 1 0,1 13 0,-1-21 0,0 0 0,0 0 0,0-1 0,0 1 0,1 0 0,-1-1 0,0 1 0,0 0 0,1-1 0,-1 1 0,0 0 0,1-1 0,-1 1 0,0-1 0,1 1 0,-1-1 0,1 1 0,-1-1 0,1 1 0,-1-1 0,1 1 0,0-1 0,-1 1 0,2-1 0,-1 1 0,0-1 0,0 0 0,1 0 0,-1 0 0,0 0 0,0 0 0,0 0 0,1 0 0,-1 0 0,0-1 0,0 1 0,0 0 0,2-1 0,2-1 0,0-1 0,0 0 0,-1 1 0,1-2 0,4-3 0,2-3 0,0-1 0,-1-1 0,-1 1 0,0-2 0,-1 1 0,0-1 0,-1 0 0,0-1 0,-1 0 0,-1 0 0,7-27 0,-14 60 0,0 0 0,1 30 0,7 53 0,-6-98 0,2 18 0,-2-21 0,1-1 0,-1 1 0,0 0 0,0-1 0,0 1 0,0 0 0,1-1 0,-1 1 0,0 0 0,0-1 0,1 1 0,-1 0 0,1-1 0,-1 1 0,1-1 0,-1 1 0,1-1 0,-1 1 0,1-1 0,-1 1 0,1-1 0,-1 1 0,2 0 0,-1-2 0,0 1 0,0-1 0,0 1 0,0-1 0,0 1 0,0-1 0,0 0 0,-1 1 0,1-1 0,0 0 0,0 0 0,-1 0 0,1 0 0,0 1 0,-1-1 0,1 0 0,-1 0 0,1-2 0,1 1 0,9-19 0,0 0 0,-2 0 0,0-1 0,9-38 0,-20 71 0,1 0 0,0 0 0,1 1 0,1 15 0,0-2 0,0-8 0,2 73 0,6-110 0,3-26 0,10-72 0,6-24 0,-27 138 0,8-23 0,-9 26 0,0 0 0,1 0 0,-1 0 0,1-1 0,0 1 0,-1 0 0,1 0 0,0 0 0,0 1 0,0-1 0,-1 0 0,1 0 0,0 0 0,0 1 0,0-1 0,0 0 0,1 1 0,1-2 0,-3 2 0,1 0 0,-1 0 0,0 1 0,1-1 0,-1 0 0,1 0 0,-1 0 0,1 0 0,-1 1 0,1-1 0,-1 0 0,0 0 0,1 1 0,-1-1 0,0 0 0,1 1 0,-1-1 0,0 0 0,1 1 0,-1-1 0,0 0 0,1 1 0,-1-1 0,0 1 0,0 0 0,7 13 0,-6-11 0,7 16 0,-2 0 0,0 0 0,-1 1 0,-1-1 0,1 26 0,0 100 0,-5-104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17.104"/>
    </inkml:context>
    <inkml:brush xml:id="br0">
      <inkml:brushProperty name="width" value="0.035" units="cm"/>
      <inkml:brushProperty name="height" value="0.035" units="cm"/>
    </inkml:brush>
  </inkml:definitions>
  <inkml:trace contextRef="#ctx0" brushRef="#br0">645 38 24575,'-7'-5'0,"-1"1"0,0 1 0,0 0 0,0 0 0,-17-4 0,-44-2 0,11 6 0,0 2 0,0 3 0,0 2 0,1 3 0,-64 16 0,108-20 0,1 0 0,-1 0 0,1 1 0,0 1 0,-18 9 0,29-14 0,1 0 0,-1 1 0,1-1 0,-1 0 0,1 1 0,-1-1 0,1 1 0,-1-1 0,1 0 0,-1 1 0,1-1 0,0 1 0,-1-1 0,1 1 0,-1-1 0,1 1 0,0 0 0,0-1 0,-1 1 0,1-1 0,0 1 0,0 0 0,0-1 0,0 1 0,0 0 0,0 0 0,0 0 0,1 0 0,-1 0 0,0-1 0,1 1 0,-1 0 0,1 0 0,-1-1 0,1 1 0,0 0 0,-1-1 0,1 1 0,0-1 0,-1 1 0,3 0 0,2 3 0,2-1 0,-1-1 0,11 4 0,12 3 0,1-2 0,49 6 0,65-3 0,-120-9 0,139 4 0,73 4 0,-226-6 0,-9-3 0,-1 0 0,0 0 0,0 0 0,0 0 0,0 0 0,0 0 0,0 0 0,0 0 0,0 0 0,0 0 0,0 0 0,0 0 0,0 0 0,0 0 0,0 0 0,0 0 0,0 0 0,1 0 0,-1 1 0,0-1 0,0 0 0,0 0 0,0 0 0,0 0 0,0 0 0,0 0 0,0 0 0,0 0 0,0 0 0,0 0 0,0 0 0,0 0 0,0 0 0,0 1 0,0-1 0,0 0 0,0 0 0,0 0 0,0 0 0,0 0 0,0 0 0,0 0 0,-1 0 0,1 0 0,0 0 0,0 0 0,0 0 0,0 0 0,0 1 0,0-1 0,0 0 0,0 0 0,0 0 0,0 0 0,-18 7 0,-16 1 0,-61 6 0,-37-6 0,114-7 0,-339 3 0,347-4 0,-22-2 0,30 1 0,-1 1 0,1-1 0,0 1 0,0-1 0,0 1 0,1-1 0,-1 0 0,0 0 0,0 0 0,0 0 0,1 0 0,-3-2 0,4 3-24,0-1-1,0 1 1,-1 0 0,1 0-1,0 0 1,0 0 0,0 0-1,0 0 1,0 0-1,0 0 1,0 0 0,0 0-1,0-1 1,0 1 0,0 0-1,-1 0 1,1 0-1,0 0 1,0 0 0,0 0-1,0 0 1,0-1 0,0 1-1,0 0 1,0 0-1,0 0 1,0 0 0,0 0-1,0 0 1,0-1-1,0 1 1,0 0 0,0 0-1,0 0 1,0 0 0,1 0-1,-1 0 1,0 0-1,0-1 1,0 1 0,0 0-1,0 0 1,0 0 0,0 0-1,0 0 1,0 0-1,0 0 1,0 0 0,1 0-1,-1 0 1,0 0-1,0 0 1,0-1 0,0 1-1,0 0 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18.780"/>
    </inkml:context>
    <inkml:brush xml:id="br0">
      <inkml:brushProperty name="width" value="0.035" units="cm"/>
      <inkml:brushProperty name="height" value="0.035" units="cm"/>
    </inkml:brush>
  </inkml:definitions>
  <inkml:trace contextRef="#ctx0" brushRef="#br0">126 119 24575,'-2'-1'0,"0"0"0,0 0 0,0 0 0,1 0 0,-2 0 0,1 1 0,0-1 0,0 1 0,0-1 0,0 1 0,0 0 0,0 0 0,0 0 0,-1 0 0,-2 0 0,2 1 0,-1 0 0,1 0 0,0 0 0,-1 0 0,1 1 0,0-1 0,0 1 0,-6 4 0,5-3 0,-1 1 0,1 0 0,0 1 0,0-1 0,0 1 0,0-1 0,1 1 0,0 0 0,0 0 0,0 1 0,-2 5 0,3-4 0,0 1 0,0-1 0,1 0 0,0 1 0,1-1 0,0 1 0,0-1 0,0 1 0,4 13 0,-4-17 0,1 0 0,0 0 0,1 0 0,-1 0 0,1 0 0,-1-1 0,1 1 0,0-1 0,1 1 0,-1-1 0,0 0 0,1 0 0,0 0 0,0 0 0,0 0 0,0 0 0,0-1 0,0 0 0,8 4 0,-8-5 0,0 0 0,0 0 0,0-1 0,0 1 0,1-1 0,-1 0 0,0 0 0,0 0 0,1 0 0,-1-1 0,0 1 0,0-1 0,0 0 0,0 0 0,0 0 0,0 0 0,6-4 0,0 0 0,0 0 0,0-1 0,-1 0 0,10-9 0,-9 6 0,-1 0 0,-1 0 0,1-1 0,-1 0 0,-1 0 0,0-1 0,0 1 0,-1-2 0,-1 1 0,6-21 0,-4 7 0,-1 0 0,-1 0 0,-2 0 0,0-31 0,-2 55 0,0 1 0,0-1 0,0 0 0,0 0 0,0 1 0,0-1 0,0 0 0,0 0 0,-1 0 0,1 1 0,0-1 0,-1 0 0,0 0 0,-2 1 0,0 6 0,-2 11 0,1 0 0,1 1 0,0-1 0,1 1 0,1 28 0,11 89 0,-9-131 0,-1 0 0,3 11 0,-3-14 0,1-1 0,-1 0 0,0 0 0,0 1 0,1-1 0,-1 0 0,0 0 0,0 1 0,1-1 0,-1 0 0,0 0 0,1 0 0,-1 1 0,0-1 0,1 0 0,-1 0 0,1 0 0,-1 0 0,0 0 0,1 0 0,-1 0 0,0 0 0,1 0 0,-1 0 0,1 0 0,-1 0 0,0 0 0,1 0 0,-1 0 0,0 0 0,1 0 0,-1-1 0,0 1 0,1 0 0,-1 0 0,0 0 0,1 0 0,-1-1 0,5-2 0,-1 0 0,1 0 0,-1 0 0,0-1 0,0 1 0,5-8 0,20-27 0,-27 34 0,75-123 0,-73 154 0,4 102 0,0 3 0,-8-132 0,0 0 0,1-1 0,-1 1 0,0 0 0,0 0 0,0 0 0,0 0 0,0 0 0,0-1 0,0 1 0,0 0 0,0 0 0,1 0 0,-1 0 0,0 0 0,0 0 0,0 0 0,0 0 0,0 0 0,1-1 0,-1 1 0,0 0 0,0 0 0,0 0 0,0 0 0,1 0 0,-1 0 0,0 0 0,0 0 0,0 0 0,0 0 0,0 0 0,1 0 0,-1 0 0,0 0 0,0 0 0,0 0 0,0 0 0,1 0 0,-1 1 0,0-1 0,0 0 0,0 0 0,0 0 0,0 0 0,1 0 0,-1 0 0,0 0 0,0 0 0,0 1 0,0-1 0,0 0 0,0 0 0,0 0 0,0 0 0,0 0 0,1 1 0,-1-1 0,0 0 0,0 0 0,0 0 0,0 0 0,0 1 0,0-1 0,0 0 0,0 0 0,0 1 0,9-14 0,-8 12 0,14-26 0,0 0 0,-2-1 0,-1-1 0,-1 0 0,9-39 0,-19 60 0,-1 10 0,-2 13 0,9 245-1365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19.607"/>
    </inkml:context>
    <inkml:brush xml:id="br0">
      <inkml:brushProperty name="width" value="0.035" units="cm"/>
      <inkml:brushProperty name="height" value="0.035" units="cm"/>
    </inkml:brush>
  </inkml:definitions>
  <inkml:trace contextRef="#ctx0" brushRef="#br0">720 117 24575,'0'0'0,"0"-8"0,0 6 0,-1-1 0,0 0 0,0 0 0,-1 1 0,1-1 0,-1 1 0,1-1 0,-1 1 0,0 0 0,1-1 0,-1 1 0,-1 0 0,1 0 0,-5-3 0,-2-2 0,0 1 0,-16-8 0,8 7 0,-1 0 0,1 1 0,-2 0 0,1 2 0,0 0 0,-36-2 0,3 4 0,-66 5 0,65 1 0,1 2 0,0 2 0,-79 23 0,126-30 0,2-1 0,0 1 0,0-1 0,0 1 0,0 0 0,0-1 0,0 1 0,0 0 0,0 0 0,1 0 0,-1 1 0,0-1 0,1 0 0,-1 1 0,1-1 0,-3 3 0,4-3 0,0-1 0,0 0 0,0 1 0,0-1 0,0 0 0,0 1 0,0-1 0,1 0 0,-1 0 0,0 1 0,0-1 0,0 0 0,0 1 0,1-1 0,-1 0 0,0 0 0,0 0 0,1 1 0,-1-1 0,0 0 0,0 0 0,1 0 0,-1 1 0,0-1 0,0 0 0,1 0 0,-1 0 0,0 0 0,1 0 0,-1 0 0,1 0 0,13 4 0,-12-3 0,209 37 0,-145-28 0,103 14 0,114 21 0,-273-43 0,-2-1 0,-1 0 0,0 1 0,0 0 0,0 0 0,0 1 0,-1-1 0,13 8 0,-19-10 0,0 0 0,0 0 0,1 1 0,-1-1 0,0 0 0,1 0 0,-1 0 0,0 0 0,0 1 0,1-1 0,-1 0 0,0 0 0,0 0 0,0 1 0,1-1 0,-1 0 0,0 0 0,0 1 0,0-1 0,0 0 0,0 0 0,1 1 0,-1-1 0,0 0 0,0 1 0,0-1 0,0 0 0,0 1 0,0-1 0,0 0 0,0 0 0,0 1 0,0-1 0,0 0 0,0 1 0,0-1 0,-1 0 0,1 1 0,0-1 0,0 0 0,0 0 0,0 1 0,0-1 0,-1 0 0,1 0 0,0 1 0,0-1 0,0 0 0,-1 0 0,1 0 0,0 1 0,0-1 0,-1 0 0,1 0 0,0 0 0,0 0 0,-1 1 0,1-1 0,0 0 0,-1 0 0,1 0 0,-23 6 0,19-6 0,-172 22 0,-2-15 0,-8 1 0,168-7 0,-27 3 0,0-3 0,-47-3 0,102-1-1365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19.963"/>
    </inkml:context>
    <inkml:brush xml:id="br0">
      <inkml:brushProperty name="width" value="0.035" units="cm"/>
      <inkml:brushProperty name="height" value="0.035" units="cm"/>
    </inkml:brush>
  </inkml:definitions>
  <inkml:trace contextRef="#ctx0" brushRef="#br0">0 0 24575,'0'0'0,"0"0"0,0 0 0,0 0 0,0 0 0,0 0 0,0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10:55:20.103"/>
    </inkml:context>
    <inkml:brush xml:id="br0">
      <inkml:brushProperty name="width" value="0.035" units="cm"/>
      <inkml:brushProperty name="height" value="0.035" units="cm"/>
    </inkml:brush>
  </inkml:definitions>
  <inkml:trace contextRef="#ctx0" brushRef="#br0">1 0 24575,'0'0'0,"0"0"0,0 0 0,0 0 0,0 0 0,0 0 0,0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5032983"/>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0.png"/><Relationship Id="rId18" Type="http://schemas.openxmlformats.org/officeDocument/2006/relationships/customXml" Target="../ink/ink9.xml"/><Relationship Id="rId3" Type="http://schemas.openxmlformats.org/officeDocument/2006/relationships/image" Target="../media/image5.png"/><Relationship Id="rId21" Type="http://schemas.openxmlformats.org/officeDocument/2006/relationships/image" Target="../media/image14.png"/><Relationship Id="rId7" Type="http://schemas.openxmlformats.org/officeDocument/2006/relationships/image" Target="../media/image7.png"/><Relationship Id="rId12" Type="http://schemas.openxmlformats.org/officeDocument/2006/relationships/customXml" Target="../ink/ink6.xml"/><Relationship Id="rId17" Type="http://schemas.openxmlformats.org/officeDocument/2006/relationships/image" Target="../media/image12.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1.xml"/><Relationship Id="rId6" Type="http://schemas.openxmlformats.org/officeDocument/2006/relationships/customXml" Target="../ink/ink3.xml"/><Relationship Id="rId11" Type="http://schemas.openxmlformats.org/officeDocument/2006/relationships/image" Target="../media/image9.png"/><Relationship Id="rId24" Type="http://schemas.openxmlformats.org/officeDocument/2006/relationships/customXml" Target="../ink/ink12.xml"/><Relationship Id="rId5" Type="http://schemas.openxmlformats.org/officeDocument/2006/relationships/image" Target="../media/image6.png"/><Relationship Id="rId15" Type="http://schemas.openxmlformats.org/officeDocument/2006/relationships/image" Target="../media/image11.png"/><Relationship Id="rId23" Type="http://schemas.openxmlformats.org/officeDocument/2006/relationships/image" Target="../media/image15.png"/><Relationship Id="rId10" Type="http://schemas.openxmlformats.org/officeDocument/2006/relationships/customXml" Target="../ink/ink5.xml"/><Relationship Id="rId19" Type="http://schemas.openxmlformats.org/officeDocument/2006/relationships/image" Target="../media/image13.png"/><Relationship Id="rId4" Type="http://schemas.openxmlformats.org/officeDocument/2006/relationships/customXml" Target="../ink/ink2.xml"/><Relationship Id="rId9" Type="http://schemas.openxmlformats.org/officeDocument/2006/relationships/image" Target="../media/image8.png"/><Relationship Id="rId14" Type="http://schemas.openxmlformats.org/officeDocument/2006/relationships/customXml" Target="../ink/ink7.xml"/><Relationship Id="rId22" Type="http://schemas.openxmlformats.org/officeDocument/2006/relationships/customXml" Target="../ink/ink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747"/>
        </a:solidFill>
        <a:effectLst/>
      </p:bgPr>
    </p:bg>
    <p:spTree>
      <p:nvGrpSpPr>
        <p:cNvPr id="1" name=""/>
        <p:cNvGrpSpPr/>
        <p:nvPr/>
      </p:nvGrpSpPr>
      <p:grpSpPr>
        <a:xfrm>
          <a:off x="0" y="0"/>
          <a:ext cx="0" cy="0"/>
          <a:chOff x="0" y="0"/>
          <a:chExt cx="0" cy="0"/>
        </a:xfrm>
      </p:grpSpPr>
      <p:pic>
        <p:nvPicPr>
          <p:cNvPr id="2" name="Image 0" descr="/agent/turn1/workspace/images/image-945f89b9bf6f843fde5f5a6c07dbd4c6.jp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305" y="0"/>
            <a:ext cx="12191695" cy="6858000"/>
          </a:xfrm>
          <a:prstGeom prst="rect">
            <a:avLst/>
          </a:prstGeom>
          <a:solidFill>
            <a:srgbClr val="0E2747">
              <a:alpha val="62000"/>
            </a:srgbClr>
          </a:solidFill>
          <a:ln/>
        </p:spPr>
        <p:txBody>
          <a:bodyPr/>
          <a:lstStyle/>
          <a:p>
            <a:endParaRPr lang="en-DE"/>
          </a:p>
        </p:txBody>
      </p:sp>
      <p:sp>
        <p:nvSpPr>
          <p:cNvPr id="4" name="Shape 1"/>
          <p:cNvSpPr/>
          <p:nvPr/>
        </p:nvSpPr>
        <p:spPr>
          <a:xfrm>
            <a:off x="0" y="1947672"/>
            <a:ext cx="12192000" cy="3187702"/>
          </a:xfrm>
          <a:prstGeom prst="rect">
            <a:avLst/>
          </a:prstGeom>
          <a:solidFill>
            <a:srgbClr val="0E2747">
              <a:alpha val="82000"/>
            </a:srgbClr>
          </a:solidFill>
          <a:ln/>
        </p:spPr>
        <p:txBody>
          <a:bodyPr/>
          <a:lstStyle/>
          <a:p>
            <a:endParaRPr lang="en-DE"/>
          </a:p>
        </p:txBody>
      </p:sp>
      <p:sp>
        <p:nvSpPr>
          <p:cNvPr id="5" name="Text 2"/>
          <p:cNvSpPr/>
          <p:nvPr/>
        </p:nvSpPr>
        <p:spPr>
          <a:xfrm>
            <a:off x="777240" y="640080"/>
            <a:ext cx="10607040" cy="320040"/>
          </a:xfrm>
          <a:prstGeom prst="rect">
            <a:avLst/>
          </a:prstGeom>
          <a:noFill/>
          <a:ln/>
        </p:spPr>
        <p:txBody>
          <a:bodyPr wrap="square" rtlCol="0" anchor="ctr"/>
          <a:lstStyle/>
          <a:p>
            <a:pPr marL="0" indent="0">
              <a:buNone/>
            </a:pPr>
            <a:r>
              <a:rPr lang="en-US" sz="1300" b="1" kern="0" spc="200" dirty="0">
                <a:solidFill>
                  <a:srgbClr val="8FC9F2"/>
                </a:solidFill>
                <a:latin typeface="Trebuchet MS" pitchFamily="34" charset="0"/>
                <a:ea typeface="Trebuchet MS" pitchFamily="34" charset="-122"/>
                <a:cs typeface="Trebuchet MS" pitchFamily="34" charset="-120"/>
              </a:rPr>
              <a:t>HOCHSCHULE HAMM-LIPPSTADT  •  EMBEDDED ELECTRONIC ENGINEERING A</a:t>
            </a:r>
            <a:endParaRPr lang="en-US" sz="1300" dirty="0"/>
          </a:p>
        </p:txBody>
      </p:sp>
      <p:sp>
        <p:nvSpPr>
          <p:cNvPr id="6" name="Shape 3"/>
          <p:cNvSpPr/>
          <p:nvPr/>
        </p:nvSpPr>
        <p:spPr>
          <a:xfrm>
            <a:off x="822960" y="1078992"/>
            <a:ext cx="1371600" cy="45720"/>
          </a:xfrm>
          <a:prstGeom prst="rect">
            <a:avLst/>
          </a:prstGeom>
          <a:solidFill>
            <a:srgbClr val="0E8FD0"/>
          </a:solidFill>
          <a:ln/>
        </p:spPr>
        <p:txBody>
          <a:bodyPr/>
          <a:lstStyle/>
          <a:p>
            <a:endParaRPr lang="en-DE"/>
          </a:p>
        </p:txBody>
      </p:sp>
      <p:sp>
        <p:nvSpPr>
          <p:cNvPr id="7" name="Text 4"/>
          <p:cNvSpPr/>
          <p:nvPr/>
        </p:nvSpPr>
        <p:spPr>
          <a:xfrm>
            <a:off x="749808" y="1828800"/>
            <a:ext cx="10698480" cy="1554480"/>
          </a:xfrm>
          <a:prstGeom prst="rect">
            <a:avLst/>
          </a:prstGeom>
          <a:noFill/>
          <a:ln/>
        </p:spPr>
        <p:txBody>
          <a:bodyPr wrap="square" rtlCol="0" anchor="ctr"/>
          <a:lstStyle/>
          <a:p>
            <a:pPr marL="0" indent="0">
              <a:lnSpc>
                <a:spcPct val="100000"/>
              </a:lnSpc>
              <a:buNone/>
            </a:pPr>
            <a:r>
              <a:rPr lang="en-US" sz="4600" b="1" dirty="0">
                <a:solidFill>
                  <a:srgbClr val="FFFFFF"/>
                </a:solidFill>
                <a:latin typeface="Trebuchet MS" pitchFamily="34" charset="0"/>
                <a:ea typeface="Trebuchet MS" pitchFamily="34" charset="-122"/>
                <a:cs typeface="Trebuchet MS" pitchFamily="34" charset="-120"/>
              </a:rPr>
              <a:t>Sharing and Binding within</a:t>
            </a:r>
            <a:endParaRPr lang="en-US" sz="4600" dirty="0"/>
          </a:p>
          <a:p>
            <a:pPr marL="0" indent="0">
              <a:lnSpc>
                <a:spcPct val="100000"/>
              </a:lnSpc>
              <a:buNone/>
            </a:pPr>
            <a:r>
              <a:rPr lang="en-US" sz="4600" b="1" dirty="0">
                <a:solidFill>
                  <a:srgbClr val="FFFFFF"/>
                </a:solidFill>
                <a:latin typeface="Trebuchet MS" pitchFamily="34" charset="0"/>
                <a:ea typeface="Trebuchet MS" pitchFamily="34" charset="-122"/>
                <a:cs typeface="Trebuchet MS" pitchFamily="34" charset="-120"/>
              </a:rPr>
              <a:t>High-Level Synthesis</a:t>
            </a:r>
            <a:endParaRPr lang="en-US" sz="4600" dirty="0"/>
          </a:p>
        </p:txBody>
      </p:sp>
      <p:sp>
        <p:nvSpPr>
          <p:cNvPr id="8" name="Text 5"/>
          <p:cNvSpPr/>
          <p:nvPr/>
        </p:nvSpPr>
        <p:spPr>
          <a:xfrm>
            <a:off x="786384" y="3310128"/>
            <a:ext cx="10058400" cy="457200"/>
          </a:xfrm>
          <a:prstGeom prst="rect">
            <a:avLst/>
          </a:prstGeom>
          <a:noFill/>
          <a:ln/>
        </p:spPr>
        <p:txBody>
          <a:bodyPr wrap="square" rtlCol="0" anchor="ctr"/>
          <a:lstStyle/>
          <a:p>
            <a:pPr marL="0" indent="0">
              <a:buNone/>
            </a:pPr>
            <a:r>
              <a:rPr lang="en-US" sz="2100" dirty="0">
                <a:solidFill>
                  <a:srgbClr val="BBD6F2"/>
                </a:solidFill>
                <a:latin typeface="Calibri" pitchFamily="34" charset="0"/>
                <a:ea typeface="Calibri" pitchFamily="34" charset="-122"/>
                <a:cs typeface="Calibri" pitchFamily="34" charset="-120"/>
              </a:rPr>
              <a:t>Modern FPGA and ASIC Design Optimization</a:t>
            </a:r>
            <a:endParaRPr lang="en-US" sz="2100" dirty="0"/>
          </a:p>
        </p:txBody>
      </p:sp>
      <p:sp>
        <p:nvSpPr>
          <p:cNvPr id="9" name="Text 6"/>
          <p:cNvSpPr/>
          <p:nvPr/>
        </p:nvSpPr>
        <p:spPr>
          <a:xfrm>
            <a:off x="777240" y="4123944"/>
            <a:ext cx="2796758" cy="822960"/>
          </a:xfrm>
          <a:prstGeom prst="rect">
            <a:avLst/>
          </a:prstGeom>
          <a:noFill/>
          <a:ln/>
        </p:spPr>
        <p:txBody>
          <a:bodyPr wrap="square" rtlCol="0" anchor="t"/>
          <a:lstStyle/>
          <a:p>
            <a:r>
              <a:rPr lang="en-US" b="1" kern="0" spc="100" dirty="0">
                <a:solidFill>
                  <a:srgbClr val="0E8FD0"/>
                </a:solidFill>
                <a:latin typeface="Calibri" pitchFamily="34" charset="0"/>
                <a:ea typeface="Calibri" pitchFamily="34" charset="-122"/>
                <a:cs typeface="Calibri" pitchFamily="34" charset="-120"/>
              </a:rPr>
              <a:t>Student</a:t>
            </a:r>
            <a:endParaRPr lang="en-US" sz="1700" b="1" dirty="0">
              <a:solidFill>
                <a:srgbClr val="FFFFFF"/>
              </a:solidFill>
              <a:latin typeface="Calibri" pitchFamily="34" charset="0"/>
              <a:ea typeface="Calibri" pitchFamily="34" charset="-122"/>
              <a:cs typeface="Calibri" pitchFamily="34" charset="-120"/>
            </a:endParaRPr>
          </a:p>
          <a:p>
            <a:pPr marL="0" indent="0">
              <a:buNone/>
            </a:pPr>
            <a:r>
              <a:rPr lang="en-US" sz="1700" b="1" dirty="0">
                <a:solidFill>
                  <a:srgbClr val="FFFFFF"/>
                </a:solidFill>
                <a:latin typeface="Calibri" pitchFamily="34" charset="0"/>
                <a:ea typeface="Calibri" pitchFamily="34" charset="-122"/>
                <a:cs typeface="Calibri" pitchFamily="34" charset="-120"/>
              </a:rPr>
              <a:t>Daniel Chidi Chimezie</a:t>
            </a:r>
            <a:endParaRPr lang="en-US" sz="1700" dirty="0"/>
          </a:p>
          <a:p>
            <a:pPr marL="0" indent="0">
              <a:buNone/>
            </a:pPr>
            <a:r>
              <a:rPr lang="en-US" sz="1300" dirty="0">
                <a:solidFill>
                  <a:srgbClr val="BBD6F2"/>
                </a:solidFill>
                <a:latin typeface="Calibri" pitchFamily="34" charset="0"/>
                <a:ea typeface="Calibri" pitchFamily="34" charset="-122"/>
                <a:cs typeface="Calibri" pitchFamily="34" charset="-120"/>
              </a:rPr>
              <a:t>Matriculation Number: 1230515</a:t>
            </a:r>
            <a:endParaRPr lang="en-US" sz="1700" dirty="0"/>
          </a:p>
        </p:txBody>
      </p:sp>
      <p:sp>
        <p:nvSpPr>
          <p:cNvPr id="10" name="Text 7"/>
          <p:cNvSpPr/>
          <p:nvPr/>
        </p:nvSpPr>
        <p:spPr>
          <a:xfrm>
            <a:off x="6272784" y="4187952"/>
            <a:ext cx="4206240" cy="914400"/>
          </a:xfrm>
          <a:prstGeom prst="rect">
            <a:avLst/>
          </a:prstGeom>
          <a:noFill/>
          <a:ln/>
        </p:spPr>
        <p:txBody>
          <a:bodyPr wrap="square" rtlCol="0" anchor="t"/>
          <a:lstStyle/>
          <a:p>
            <a:pPr marL="0" indent="0">
              <a:buNone/>
            </a:pPr>
            <a:r>
              <a:rPr lang="en-US" b="1" kern="0" spc="100" dirty="0">
                <a:solidFill>
                  <a:srgbClr val="0E8FD0"/>
                </a:solidFill>
                <a:ea typeface="Calibri" pitchFamily="34" charset="-122"/>
                <a:cs typeface="Calibri" pitchFamily="34" charset="-120"/>
              </a:rPr>
              <a:t>Supervisors</a:t>
            </a:r>
            <a:endParaRPr lang="en-US" dirty="0"/>
          </a:p>
          <a:p>
            <a:pPr marL="0" indent="0">
              <a:buNone/>
            </a:pPr>
            <a:r>
              <a:rPr lang="en-US" sz="1300" dirty="0">
                <a:solidFill>
                  <a:srgbClr val="FFFFFF"/>
                </a:solidFill>
                <a:latin typeface="Calibri" pitchFamily="34" charset="0"/>
                <a:ea typeface="Calibri" pitchFamily="34" charset="-122"/>
                <a:cs typeface="Calibri" pitchFamily="34" charset="-120"/>
              </a:rPr>
              <a:t>Prof. Dr. Achim Rettberg</a:t>
            </a:r>
            <a:endParaRPr lang="en-US" sz="1100" dirty="0"/>
          </a:p>
          <a:p>
            <a:pPr marL="0" indent="0">
              <a:buNone/>
            </a:pPr>
            <a:r>
              <a:rPr lang="en-US" sz="1300" dirty="0">
                <a:solidFill>
                  <a:srgbClr val="FFFFFF"/>
                </a:solidFill>
                <a:latin typeface="Calibri" pitchFamily="34" charset="0"/>
                <a:ea typeface="Calibri" pitchFamily="34" charset="-122"/>
                <a:cs typeface="Calibri" pitchFamily="34" charset="-120"/>
              </a:rPr>
              <a:t>Prof. Dr. Stefan Henkler</a:t>
            </a:r>
            <a:endParaRPr lang="en-US" sz="1100" dirty="0"/>
          </a:p>
        </p:txBody>
      </p:sp>
      <p:sp>
        <p:nvSpPr>
          <p:cNvPr id="11" name="Shape 8"/>
          <p:cNvSpPr/>
          <p:nvPr/>
        </p:nvSpPr>
        <p:spPr>
          <a:xfrm>
            <a:off x="0" y="6355080"/>
            <a:ext cx="12191695" cy="502920"/>
          </a:xfrm>
          <a:prstGeom prst="rect">
            <a:avLst/>
          </a:prstGeom>
          <a:solidFill>
            <a:srgbClr val="0E2747">
              <a:alpha val="90000"/>
            </a:srgbClr>
          </a:solidFill>
          <a:ln/>
        </p:spPr>
        <p:txBody>
          <a:bodyPr/>
          <a:lstStyle/>
          <a:p>
            <a:endParaRPr lang="en-DE"/>
          </a:p>
        </p:txBody>
      </p:sp>
      <p:sp>
        <p:nvSpPr>
          <p:cNvPr id="12" name="Text 9"/>
          <p:cNvSpPr/>
          <p:nvPr/>
        </p:nvSpPr>
        <p:spPr>
          <a:xfrm>
            <a:off x="786384" y="6382512"/>
            <a:ext cx="5486400" cy="365760"/>
          </a:xfrm>
          <a:prstGeom prst="rect">
            <a:avLst/>
          </a:prstGeom>
          <a:noFill/>
          <a:ln/>
        </p:spPr>
        <p:txBody>
          <a:bodyPr wrap="square" rtlCol="0" anchor="ctr"/>
          <a:lstStyle/>
          <a:p>
            <a:pPr marL="0" indent="0">
              <a:buNone/>
            </a:pPr>
            <a:r>
              <a:rPr lang="en-US" sz="1300" b="1" dirty="0">
                <a:solidFill>
                  <a:srgbClr val="BBD6F2"/>
                </a:solidFill>
                <a:latin typeface="Trebuchet MS" pitchFamily="34" charset="0"/>
                <a:ea typeface="Trebuchet MS" pitchFamily="34" charset="-122"/>
                <a:cs typeface="Trebuchet MS" pitchFamily="34" charset="-120"/>
              </a:rPr>
              <a:t>Seminar Presentation June 29, 2026</a:t>
            </a:r>
            <a:endParaRPr lang="en-US" sz="1300" dirty="0"/>
          </a:p>
        </p:txBody>
      </p:sp>
      <p:sp>
        <p:nvSpPr>
          <p:cNvPr id="13" name="Text 10"/>
          <p:cNvSpPr/>
          <p:nvPr/>
        </p:nvSpPr>
        <p:spPr>
          <a:xfrm>
            <a:off x="7680960" y="6400800"/>
            <a:ext cx="4069080" cy="237744"/>
          </a:xfrm>
          <a:prstGeom prst="rect">
            <a:avLst/>
          </a:prstGeom>
          <a:noFill/>
          <a:ln/>
        </p:spPr>
        <p:txBody>
          <a:bodyPr wrap="square" rtlCol="0" anchor="ctr"/>
          <a:lstStyle/>
          <a:p>
            <a:pPr marL="0" indent="0" algn="l">
              <a:buNone/>
            </a:pPr>
            <a:r>
              <a:rPr lang="en-US" sz="800" i="1" dirty="0">
                <a:solidFill>
                  <a:srgbClr val="9DBBDD"/>
                </a:solidFill>
                <a:latin typeface="Calibri" pitchFamily="34" charset="0"/>
                <a:ea typeface="Calibri" pitchFamily="34" charset="-122"/>
                <a:cs typeface="Calibri" pitchFamily="34" charset="-120"/>
              </a:rPr>
              <a:t>Fig. 1. FPGA package and silicon die (illustrative rendering) [I1].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FFFFFF"/>
          </a:solidFill>
          <a:ln/>
        </p:spPr>
        <p:txBody>
          <a:bodyPr/>
          <a:lstStyle/>
          <a:p>
            <a:endParaRPr lang="en-DE"/>
          </a:p>
        </p:txBody>
      </p:sp>
      <p:sp>
        <p:nvSpPr>
          <p:cNvPr id="3" name="Shape 1"/>
          <p:cNvSpPr/>
          <p:nvPr/>
        </p:nvSpPr>
        <p:spPr>
          <a:xfrm>
            <a:off x="0" y="0"/>
            <a:ext cx="201168" cy="1078992"/>
          </a:xfrm>
          <a:prstGeom prst="rect">
            <a:avLst/>
          </a:prstGeom>
          <a:solidFill>
            <a:srgbClr val="1A4FA0"/>
          </a:solidFill>
          <a:ln/>
        </p:spPr>
        <p:txBody>
          <a:bodyPr/>
          <a:lstStyle/>
          <a:p>
            <a:endParaRPr lang="en-DE"/>
          </a:p>
        </p:txBody>
      </p:sp>
      <p:sp>
        <p:nvSpPr>
          <p:cNvPr id="4" name="Text 2"/>
          <p:cNvSpPr/>
          <p:nvPr/>
        </p:nvSpPr>
        <p:spPr>
          <a:xfrm>
            <a:off x="502920" y="182880"/>
            <a:ext cx="10515600" cy="274320"/>
          </a:xfrm>
          <a:prstGeom prst="rect">
            <a:avLst/>
          </a:prstGeom>
          <a:noFill/>
          <a:ln/>
        </p:spPr>
        <p:txBody>
          <a:bodyPr wrap="square" rtlCol="0" anchor="ctr"/>
          <a:lstStyle/>
          <a:p>
            <a:pPr marL="0" indent="0">
              <a:buNone/>
            </a:pPr>
            <a:r>
              <a:rPr lang="en-US" sz="1200" b="1" kern="0" spc="200" dirty="0">
                <a:solidFill>
                  <a:srgbClr val="0E8FD0"/>
                </a:solidFill>
                <a:latin typeface="Trebuchet MS" pitchFamily="34" charset="0"/>
                <a:ea typeface="Trebuchet MS" pitchFamily="34" charset="-122"/>
                <a:cs typeface="Trebuchet MS" pitchFamily="34" charset="-120"/>
              </a:rPr>
              <a:t>INTRODUCTION</a:t>
            </a:r>
            <a:endParaRPr lang="en-US" sz="1200" dirty="0"/>
          </a:p>
        </p:txBody>
      </p:sp>
      <p:sp>
        <p:nvSpPr>
          <p:cNvPr id="5" name="Text 3"/>
          <p:cNvSpPr/>
          <p:nvPr/>
        </p:nvSpPr>
        <p:spPr>
          <a:xfrm>
            <a:off x="475488" y="420624"/>
            <a:ext cx="11247120" cy="566928"/>
          </a:xfrm>
          <a:prstGeom prst="rect">
            <a:avLst/>
          </a:prstGeom>
          <a:noFill/>
          <a:ln/>
        </p:spPr>
        <p:txBody>
          <a:bodyPr wrap="square" rtlCol="0" anchor="ctr"/>
          <a:lstStyle/>
          <a:p>
            <a:pPr marL="0" indent="0">
              <a:buNone/>
            </a:pPr>
            <a:r>
              <a:rPr lang="en-US" sz="2700" b="1" dirty="0">
                <a:solidFill>
                  <a:srgbClr val="0E2747"/>
                </a:solidFill>
                <a:latin typeface="Trebuchet MS" pitchFamily="34" charset="0"/>
                <a:ea typeface="Trebuchet MS" pitchFamily="34" charset="-122"/>
                <a:cs typeface="Trebuchet MS" pitchFamily="34" charset="-120"/>
              </a:rPr>
              <a:t>Introduction to High-Level Synthesis</a:t>
            </a:r>
            <a:endParaRPr lang="en-US" sz="2700" dirty="0"/>
          </a:p>
        </p:txBody>
      </p:sp>
      <p:sp>
        <p:nvSpPr>
          <p:cNvPr id="6" name="Shape 4"/>
          <p:cNvSpPr/>
          <p:nvPr/>
        </p:nvSpPr>
        <p:spPr>
          <a:xfrm>
            <a:off x="502920" y="1060704"/>
            <a:ext cx="11185855" cy="16459"/>
          </a:xfrm>
          <a:prstGeom prst="rect">
            <a:avLst/>
          </a:prstGeom>
          <a:solidFill>
            <a:srgbClr val="D5E0F0"/>
          </a:solidFill>
          <a:ln/>
        </p:spPr>
        <p:txBody>
          <a:bodyPr/>
          <a:lstStyle/>
          <a:p>
            <a:endParaRPr lang="en-DE"/>
          </a:p>
        </p:txBody>
      </p:sp>
      <p:sp>
        <p:nvSpPr>
          <p:cNvPr id="7" name="Text 5"/>
          <p:cNvSpPr/>
          <p:nvPr/>
        </p:nvSpPr>
        <p:spPr>
          <a:xfrm>
            <a:off x="502920" y="1234440"/>
            <a:ext cx="5486400" cy="685800"/>
          </a:xfrm>
          <a:prstGeom prst="rect">
            <a:avLst/>
          </a:prstGeom>
          <a:noFill/>
          <a:ln/>
        </p:spPr>
        <p:txBody>
          <a:bodyPr wrap="square" rtlCol="0" anchor="t"/>
          <a:lstStyle/>
          <a:p>
            <a:pPr marL="0" indent="0">
              <a:buNone/>
            </a:pPr>
            <a:r>
              <a:rPr lang="en-US" sz="1400" dirty="0">
                <a:solidFill>
                  <a:srgbClr val="33415C"/>
                </a:solidFill>
                <a:latin typeface="Calibri" pitchFamily="34" charset="0"/>
                <a:ea typeface="Calibri" pitchFamily="34" charset="-122"/>
                <a:cs typeface="Calibri" pitchFamily="34" charset="-120"/>
              </a:rPr>
              <a:t>High-Level Synthesis (HLS) automatically converts a behavioral software description into register-transfer-level hardware.</a:t>
            </a:r>
            <a:r>
              <a:rPr lang="en-US" sz="1400">
                <a:solidFill>
                  <a:srgbClr val="33415C"/>
                </a:solidFill>
                <a:latin typeface="Calibri" pitchFamily="34" charset="0"/>
                <a:ea typeface="Calibri" pitchFamily="34" charset="-122"/>
                <a:cs typeface="Calibri" pitchFamily="34" charset="-120"/>
              </a:rPr>
              <a:t> [1]</a:t>
            </a:r>
            <a:endParaRPr lang="en-US" sz="1400" dirty="0"/>
          </a:p>
        </p:txBody>
      </p:sp>
      <p:sp>
        <p:nvSpPr>
          <p:cNvPr id="8" name="Shape 6"/>
          <p:cNvSpPr/>
          <p:nvPr/>
        </p:nvSpPr>
        <p:spPr>
          <a:xfrm>
            <a:off x="1280160" y="2057400"/>
            <a:ext cx="3931920" cy="502920"/>
          </a:xfrm>
          <a:prstGeom prst="roundRect">
            <a:avLst>
              <a:gd name="adj" fmla="val 12727"/>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9" name="Text 7"/>
          <p:cNvSpPr/>
          <p:nvPr/>
        </p:nvSpPr>
        <p:spPr>
          <a:xfrm>
            <a:off x="1325880" y="2057400"/>
            <a:ext cx="3840480" cy="502920"/>
          </a:xfrm>
          <a:prstGeom prst="rect">
            <a:avLst/>
          </a:prstGeom>
          <a:noFill/>
          <a:ln/>
        </p:spPr>
        <p:txBody>
          <a:bodyPr wrap="square" rtlCol="0" anchor="ctr"/>
          <a:lstStyle/>
          <a:p>
            <a:pPr marL="0" indent="0" algn="ctr">
              <a:buNone/>
            </a:pPr>
            <a:r>
              <a:rPr lang="en-US" sz="1400" b="1" dirty="0">
                <a:solidFill>
                  <a:srgbClr val="0E2747"/>
                </a:solidFill>
                <a:latin typeface="Trebuchet MS" pitchFamily="34" charset="0"/>
                <a:ea typeface="Trebuchet MS" pitchFamily="34" charset="-122"/>
                <a:cs typeface="Trebuchet MS" pitchFamily="34" charset="-120"/>
              </a:rPr>
              <a:t>C / C++  /  SystemC</a:t>
            </a:r>
            <a:endParaRPr lang="en-US" sz="1400" dirty="0"/>
          </a:p>
        </p:txBody>
      </p:sp>
      <p:sp>
        <p:nvSpPr>
          <p:cNvPr id="10" name="Text 8"/>
          <p:cNvSpPr/>
          <p:nvPr/>
        </p:nvSpPr>
        <p:spPr>
          <a:xfrm>
            <a:off x="1280160" y="2560320"/>
            <a:ext cx="393192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1280160" y="2834640"/>
            <a:ext cx="3931920" cy="502920"/>
          </a:xfrm>
          <a:prstGeom prst="roundRect">
            <a:avLst>
              <a:gd name="adj" fmla="val 12727"/>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2" name="Text 10"/>
          <p:cNvSpPr/>
          <p:nvPr/>
        </p:nvSpPr>
        <p:spPr>
          <a:xfrm>
            <a:off x="1325880" y="2834640"/>
            <a:ext cx="3840480" cy="502920"/>
          </a:xfrm>
          <a:prstGeom prst="rect">
            <a:avLst/>
          </a:prstGeom>
          <a:noFill/>
          <a:ln/>
        </p:spPr>
        <p:txBody>
          <a:bodyPr wrap="square" rtlCol="0" anchor="ctr"/>
          <a:lstStyle/>
          <a:p>
            <a:pPr marL="0" indent="0" algn="ctr">
              <a:buNone/>
            </a:pPr>
            <a:r>
              <a:rPr lang="en-US" sz="1400" b="1" dirty="0">
                <a:solidFill>
                  <a:srgbClr val="0E2747"/>
                </a:solidFill>
                <a:latin typeface="Trebuchet MS" pitchFamily="34" charset="0"/>
                <a:ea typeface="Trebuchet MS" pitchFamily="34" charset="-122"/>
                <a:cs typeface="Trebuchet MS" pitchFamily="34" charset="-120"/>
              </a:rPr>
              <a:t>Behavioral Model</a:t>
            </a:r>
            <a:endParaRPr lang="en-US" sz="1400" dirty="0"/>
          </a:p>
        </p:txBody>
      </p:sp>
      <p:sp>
        <p:nvSpPr>
          <p:cNvPr id="13" name="Text 11"/>
          <p:cNvSpPr/>
          <p:nvPr/>
        </p:nvSpPr>
        <p:spPr>
          <a:xfrm>
            <a:off x="1280160" y="3337560"/>
            <a:ext cx="393192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14" name="Shape 12"/>
          <p:cNvSpPr/>
          <p:nvPr/>
        </p:nvSpPr>
        <p:spPr>
          <a:xfrm>
            <a:off x="1280160" y="3611880"/>
            <a:ext cx="3931920" cy="502920"/>
          </a:xfrm>
          <a:prstGeom prst="roundRect">
            <a:avLst>
              <a:gd name="adj" fmla="val 12727"/>
            </a:avLst>
          </a:prstGeom>
          <a:solidFill>
            <a:srgbClr val="1A4FA0"/>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5" name="Text 13"/>
          <p:cNvSpPr/>
          <p:nvPr/>
        </p:nvSpPr>
        <p:spPr>
          <a:xfrm>
            <a:off x="1325880" y="3611880"/>
            <a:ext cx="3840480" cy="50292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RTL  (Verilog / VHDL)</a:t>
            </a:r>
            <a:endParaRPr lang="en-US" sz="1400" dirty="0"/>
          </a:p>
        </p:txBody>
      </p:sp>
      <p:sp>
        <p:nvSpPr>
          <p:cNvPr id="16" name="Text 14"/>
          <p:cNvSpPr/>
          <p:nvPr/>
        </p:nvSpPr>
        <p:spPr>
          <a:xfrm>
            <a:off x="502920" y="4617720"/>
            <a:ext cx="2743200" cy="274320"/>
          </a:xfrm>
          <a:prstGeom prst="rect">
            <a:avLst/>
          </a:prstGeom>
          <a:noFill/>
          <a:ln/>
        </p:spPr>
        <p:txBody>
          <a:bodyPr wrap="square" rtlCol="0" anchor="ctr"/>
          <a:lstStyle/>
          <a:p>
            <a:pPr marL="0" indent="0">
              <a:buNone/>
            </a:pPr>
            <a:r>
              <a:rPr lang="en-US" sz="1200" b="1" kern="0" spc="100" dirty="0">
                <a:solidFill>
                  <a:srgbClr val="0E8FD0"/>
                </a:solidFill>
                <a:latin typeface="Trebuchet MS" pitchFamily="34" charset="0"/>
                <a:ea typeface="Trebuchet MS" pitchFamily="34" charset="-122"/>
                <a:cs typeface="Trebuchet MS" pitchFamily="34" charset="-120"/>
              </a:rPr>
              <a:t>EXAMPLE</a:t>
            </a:r>
            <a:endParaRPr lang="en-US" sz="1200" dirty="0"/>
          </a:p>
        </p:txBody>
      </p:sp>
      <p:sp>
        <p:nvSpPr>
          <p:cNvPr id="17" name="Shape 15"/>
          <p:cNvSpPr/>
          <p:nvPr/>
        </p:nvSpPr>
        <p:spPr>
          <a:xfrm>
            <a:off x="502920" y="4892040"/>
            <a:ext cx="5486400" cy="1234440"/>
          </a:xfrm>
          <a:prstGeom prst="rect">
            <a:avLst/>
          </a:prstGeom>
          <a:solidFill>
            <a:srgbClr val="0E2747"/>
          </a:solidFill>
          <a:ln w="12700">
            <a:solidFill>
              <a:srgbClr val="1A4FA0"/>
            </a:solidFill>
            <a:prstDash val="solid"/>
          </a:ln>
        </p:spPr>
        <p:txBody>
          <a:bodyPr/>
          <a:lstStyle/>
          <a:p>
            <a:endParaRPr lang="en-DE"/>
          </a:p>
        </p:txBody>
      </p:sp>
      <p:sp>
        <p:nvSpPr>
          <p:cNvPr id="18" name="Shape 16"/>
          <p:cNvSpPr/>
          <p:nvPr/>
        </p:nvSpPr>
        <p:spPr>
          <a:xfrm>
            <a:off x="502920" y="4892040"/>
            <a:ext cx="73152" cy="1234440"/>
          </a:xfrm>
          <a:prstGeom prst="rect">
            <a:avLst/>
          </a:prstGeom>
          <a:solidFill>
            <a:srgbClr val="0E8FD0"/>
          </a:solidFill>
          <a:ln/>
        </p:spPr>
        <p:txBody>
          <a:bodyPr/>
          <a:lstStyle/>
          <a:p>
            <a:endParaRPr lang="en-DE"/>
          </a:p>
        </p:txBody>
      </p:sp>
      <p:sp>
        <p:nvSpPr>
          <p:cNvPr id="19" name="Text 17"/>
          <p:cNvSpPr/>
          <p:nvPr/>
        </p:nvSpPr>
        <p:spPr>
          <a:xfrm>
            <a:off x="685800" y="4892040"/>
            <a:ext cx="5212080" cy="1234440"/>
          </a:xfrm>
          <a:prstGeom prst="rect">
            <a:avLst/>
          </a:prstGeom>
          <a:noFill/>
          <a:ln/>
        </p:spPr>
        <p:txBody>
          <a:bodyPr wrap="square" rtlCol="0" anchor="ctr"/>
          <a:lstStyle/>
          <a:p>
            <a:pPr marL="0" indent="0" algn="l">
              <a:buNone/>
            </a:pPr>
            <a:r>
              <a:rPr lang="en-US" sz="1400" b="1" dirty="0">
                <a:solidFill>
                  <a:srgbClr val="FFFFFF"/>
                </a:solidFill>
                <a:latin typeface="Consolas" pitchFamily="34" charset="0"/>
                <a:ea typeface="Consolas" pitchFamily="34" charset="-122"/>
                <a:cs typeface="Consolas" pitchFamily="34" charset="-120"/>
              </a:rPr>
              <a:t>y = a*b + c*d;</a:t>
            </a:r>
            <a:endParaRPr lang="en-US" sz="1400" dirty="0"/>
          </a:p>
          <a:p>
            <a:pPr marL="0" indent="0" algn="l">
              <a:buNone/>
            </a:pPr>
            <a:r>
              <a:rPr lang="en-US" sz="1400" dirty="0">
                <a:solidFill>
                  <a:srgbClr val="0E8FD0"/>
                </a:solidFill>
                <a:latin typeface="Consolas" pitchFamily="34" charset="0"/>
                <a:ea typeface="Consolas" pitchFamily="34" charset="-122"/>
                <a:cs typeface="Consolas" pitchFamily="34" charset="-120"/>
              </a:rPr>
              <a:t>        ↓</a:t>
            </a:r>
            <a:endParaRPr lang="en-US" sz="1400" dirty="0"/>
          </a:p>
          <a:p>
            <a:pPr marL="0" indent="0" algn="l">
              <a:buNone/>
            </a:pPr>
            <a:r>
              <a:rPr lang="en-US" sz="1200" dirty="0">
                <a:solidFill>
                  <a:srgbClr val="AECBF2"/>
                </a:solidFill>
                <a:latin typeface="Consolas" pitchFamily="34" charset="0"/>
                <a:ea typeface="Consolas" pitchFamily="34" charset="-122"/>
                <a:cs typeface="Consolas" pitchFamily="34" charset="-120"/>
              </a:rPr>
              <a:t>RTL hardware implementation</a:t>
            </a:r>
            <a:endParaRPr lang="en-US" sz="1400" dirty="0"/>
          </a:p>
        </p:txBody>
      </p:sp>
      <p:sp>
        <p:nvSpPr>
          <p:cNvPr id="20" name="Shape 18"/>
          <p:cNvSpPr/>
          <p:nvPr/>
        </p:nvSpPr>
        <p:spPr>
          <a:xfrm>
            <a:off x="6355080" y="1234440"/>
            <a:ext cx="2331720" cy="4892040"/>
          </a:xfrm>
          <a:prstGeom prst="rect">
            <a:avLst/>
          </a:prstGeom>
          <a:solidFill>
            <a:srgbClr val="F4F7FC"/>
          </a:solidFill>
          <a:ln w="12700">
            <a:solidFill>
              <a:srgbClr val="D5E0F0"/>
            </a:solidFill>
            <a:prstDash val="solid"/>
          </a:ln>
        </p:spPr>
        <p:txBody>
          <a:bodyPr/>
          <a:lstStyle/>
          <a:p>
            <a:endParaRPr lang="en-DE"/>
          </a:p>
        </p:txBody>
      </p:sp>
      <p:sp>
        <p:nvSpPr>
          <p:cNvPr id="21" name="Text 19"/>
          <p:cNvSpPr/>
          <p:nvPr/>
        </p:nvSpPr>
        <p:spPr>
          <a:xfrm>
            <a:off x="6583680" y="1371600"/>
            <a:ext cx="1920240" cy="365760"/>
          </a:xfrm>
          <a:prstGeom prst="rect">
            <a:avLst/>
          </a:prstGeom>
          <a:noFill/>
          <a:ln/>
        </p:spPr>
        <p:txBody>
          <a:bodyPr wrap="square" rtlCol="0" anchor="ctr"/>
          <a:lstStyle/>
          <a:p>
            <a:pPr marL="0" indent="0">
              <a:buNone/>
            </a:pPr>
            <a:r>
              <a:rPr lang="en-US" sz="1700" b="1" dirty="0">
                <a:solidFill>
                  <a:srgbClr val="1A4FA0"/>
                </a:solidFill>
                <a:latin typeface="Trebuchet MS" pitchFamily="34" charset="0"/>
                <a:ea typeface="Trebuchet MS" pitchFamily="34" charset="-122"/>
                <a:cs typeface="Trebuchet MS" pitchFamily="34" charset="-120"/>
              </a:rPr>
              <a:t>Benefits</a:t>
            </a:r>
            <a:endParaRPr lang="en-US" sz="1700" dirty="0"/>
          </a:p>
        </p:txBody>
      </p:sp>
      <p:sp>
        <p:nvSpPr>
          <p:cNvPr id="22" name="Text 20"/>
          <p:cNvSpPr/>
          <p:nvPr/>
        </p:nvSpPr>
        <p:spPr>
          <a:xfrm>
            <a:off x="6565392" y="1874520"/>
            <a:ext cx="292608" cy="457200"/>
          </a:xfrm>
          <a:prstGeom prst="rect">
            <a:avLst/>
          </a:prstGeom>
          <a:noFill/>
          <a:ln/>
        </p:spPr>
        <p:txBody>
          <a:bodyPr wrap="square" rtlCol="0" anchor="t"/>
          <a:lstStyle/>
          <a:p>
            <a:pPr marL="0" indent="0">
              <a:buNone/>
            </a:pPr>
            <a:r>
              <a:rPr lang="en-US" sz="1300" b="1" dirty="0">
                <a:solidFill>
                  <a:srgbClr val="2E9E5B"/>
                </a:solidFill>
                <a:latin typeface="Calibri" pitchFamily="34" charset="0"/>
                <a:ea typeface="Calibri" pitchFamily="34" charset="-122"/>
                <a:cs typeface="Calibri" pitchFamily="34" charset="-120"/>
              </a:rPr>
              <a:t>✔</a:t>
            </a:r>
            <a:endParaRPr lang="en-US" sz="1300" dirty="0"/>
          </a:p>
        </p:txBody>
      </p:sp>
      <p:sp>
        <p:nvSpPr>
          <p:cNvPr id="23" name="Text 21"/>
          <p:cNvSpPr/>
          <p:nvPr/>
        </p:nvSpPr>
        <p:spPr>
          <a:xfrm>
            <a:off x="6876288" y="1874520"/>
            <a:ext cx="1755648" cy="566928"/>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Faster hardware development</a:t>
            </a:r>
            <a:endParaRPr lang="en-US" sz="1250" dirty="0"/>
          </a:p>
        </p:txBody>
      </p:sp>
      <p:sp>
        <p:nvSpPr>
          <p:cNvPr id="24" name="Text 22"/>
          <p:cNvSpPr/>
          <p:nvPr/>
        </p:nvSpPr>
        <p:spPr>
          <a:xfrm>
            <a:off x="6565392" y="2697480"/>
            <a:ext cx="292608" cy="457200"/>
          </a:xfrm>
          <a:prstGeom prst="rect">
            <a:avLst/>
          </a:prstGeom>
          <a:noFill/>
          <a:ln/>
        </p:spPr>
        <p:txBody>
          <a:bodyPr wrap="square" rtlCol="0" anchor="t"/>
          <a:lstStyle/>
          <a:p>
            <a:pPr marL="0" indent="0">
              <a:buNone/>
            </a:pPr>
            <a:r>
              <a:rPr lang="en-US" sz="1300" b="1" dirty="0">
                <a:solidFill>
                  <a:srgbClr val="2E9E5B"/>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6876288" y="2697480"/>
            <a:ext cx="1755648" cy="566928"/>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Reduced design time</a:t>
            </a:r>
            <a:endParaRPr lang="en-US" sz="1250" dirty="0"/>
          </a:p>
        </p:txBody>
      </p:sp>
      <p:sp>
        <p:nvSpPr>
          <p:cNvPr id="26" name="Text 24"/>
          <p:cNvSpPr/>
          <p:nvPr/>
        </p:nvSpPr>
        <p:spPr>
          <a:xfrm>
            <a:off x="6565392" y="3520440"/>
            <a:ext cx="292608" cy="457200"/>
          </a:xfrm>
          <a:prstGeom prst="rect">
            <a:avLst/>
          </a:prstGeom>
          <a:noFill/>
          <a:ln/>
        </p:spPr>
        <p:txBody>
          <a:bodyPr wrap="square" rtlCol="0" anchor="t"/>
          <a:lstStyle/>
          <a:p>
            <a:pPr marL="0" indent="0">
              <a:buNone/>
            </a:pPr>
            <a:r>
              <a:rPr lang="en-US" sz="1300" b="1" dirty="0">
                <a:solidFill>
                  <a:srgbClr val="2E9E5B"/>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6876288" y="3520440"/>
            <a:ext cx="1755648" cy="566928"/>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Improved productivity</a:t>
            </a:r>
            <a:endParaRPr lang="en-US" sz="1250" dirty="0"/>
          </a:p>
        </p:txBody>
      </p:sp>
      <p:sp>
        <p:nvSpPr>
          <p:cNvPr id="28" name="Text 26"/>
          <p:cNvSpPr/>
          <p:nvPr/>
        </p:nvSpPr>
        <p:spPr>
          <a:xfrm>
            <a:off x="6565392" y="4343400"/>
            <a:ext cx="292608" cy="457200"/>
          </a:xfrm>
          <a:prstGeom prst="rect">
            <a:avLst/>
          </a:prstGeom>
          <a:noFill/>
          <a:ln/>
        </p:spPr>
        <p:txBody>
          <a:bodyPr wrap="square" rtlCol="0" anchor="t"/>
          <a:lstStyle/>
          <a:p>
            <a:pPr marL="0" indent="0">
              <a:buNone/>
            </a:pPr>
            <a:r>
              <a:rPr lang="en-US" sz="1300" b="1" dirty="0">
                <a:solidFill>
                  <a:srgbClr val="2E9E5B"/>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6876288" y="4343400"/>
            <a:ext cx="1755648" cy="566928"/>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Easier verification</a:t>
            </a:r>
            <a:endParaRPr lang="en-US" sz="1250" dirty="0"/>
          </a:p>
        </p:txBody>
      </p:sp>
      <p:sp>
        <p:nvSpPr>
          <p:cNvPr id="30" name="Text 28"/>
          <p:cNvSpPr/>
          <p:nvPr/>
        </p:nvSpPr>
        <p:spPr>
          <a:xfrm>
            <a:off x="6565392" y="5166360"/>
            <a:ext cx="292608" cy="457200"/>
          </a:xfrm>
          <a:prstGeom prst="rect">
            <a:avLst/>
          </a:prstGeom>
          <a:noFill/>
          <a:ln/>
        </p:spPr>
        <p:txBody>
          <a:bodyPr wrap="square" rtlCol="0" anchor="t"/>
          <a:lstStyle/>
          <a:p>
            <a:pPr marL="0" indent="0">
              <a:buNone/>
            </a:pPr>
            <a:r>
              <a:rPr lang="en-US" sz="1300" b="1" dirty="0">
                <a:solidFill>
                  <a:srgbClr val="2E9E5B"/>
                </a:solidFill>
                <a:latin typeface="Calibri" pitchFamily="34" charset="0"/>
                <a:ea typeface="Calibri" pitchFamily="34" charset="-122"/>
                <a:cs typeface="Calibri" pitchFamily="34" charset="-120"/>
              </a:rPr>
              <a:t>✔</a:t>
            </a:r>
            <a:endParaRPr lang="en-US" sz="1300" dirty="0"/>
          </a:p>
        </p:txBody>
      </p:sp>
      <p:sp>
        <p:nvSpPr>
          <p:cNvPr id="31" name="Text 29"/>
          <p:cNvSpPr/>
          <p:nvPr/>
        </p:nvSpPr>
        <p:spPr>
          <a:xfrm>
            <a:off x="6876288" y="5166360"/>
            <a:ext cx="1755648" cy="566928"/>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Rapid design exploration</a:t>
            </a:r>
            <a:endParaRPr lang="en-US" sz="1250" dirty="0"/>
          </a:p>
        </p:txBody>
      </p:sp>
      <p:pic>
        <p:nvPicPr>
          <p:cNvPr id="32" name="Image 0" descr="/agent/turn1/workspace/images/image-0fb86917121a87b1530ee9a94a7fb010.jpg"/>
          <p:cNvPicPr>
            <a:picLocks noChangeAspect="1"/>
          </p:cNvPicPr>
          <p:nvPr/>
        </p:nvPicPr>
        <p:blipFill>
          <a:blip r:embed="rId3"/>
          <a:srcRect l="29005" r="29005"/>
          <a:stretch/>
        </p:blipFill>
        <p:spPr>
          <a:xfrm>
            <a:off x="8915400" y="1234440"/>
            <a:ext cx="2788920" cy="4069080"/>
          </a:xfrm>
          <a:prstGeom prst="rect">
            <a:avLst/>
          </a:prstGeom>
        </p:spPr>
      </p:pic>
      <p:sp>
        <p:nvSpPr>
          <p:cNvPr id="33" name="Shape 30"/>
          <p:cNvSpPr/>
          <p:nvPr/>
        </p:nvSpPr>
        <p:spPr>
          <a:xfrm>
            <a:off x="8915400" y="1234440"/>
            <a:ext cx="2788920" cy="4069080"/>
          </a:xfrm>
          <a:prstGeom prst="rect">
            <a:avLst/>
          </a:prstGeom>
          <a:ln w="12700">
            <a:solidFill>
              <a:srgbClr val="D5E0F0"/>
            </a:solidFill>
            <a:prstDash val="solid"/>
          </a:ln>
        </p:spPr>
        <p:txBody>
          <a:bodyPr/>
          <a:lstStyle/>
          <a:p>
            <a:endParaRPr lang="en-DE"/>
          </a:p>
        </p:txBody>
      </p:sp>
      <p:sp>
        <p:nvSpPr>
          <p:cNvPr id="34" name="Text 31"/>
          <p:cNvSpPr/>
          <p:nvPr/>
        </p:nvSpPr>
        <p:spPr>
          <a:xfrm>
            <a:off x="8915400" y="5340096"/>
            <a:ext cx="2788920" cy="237744"/>
          </a:xfrm>
          <a:prstGeom prst="rect">
            <a:avLst/>
          </a:prstGeom>
          <a:noFill/>
          <a:ln/>
        </p:spPr>
        <p:txBody>
          <a:bodyPr wrap="square" rtlCol="0" anchor="ctr"/>
          <a:lstStyle/>
          <a:p>
            <a:pPr marL="0" indent="0" algn="l">
              <a:buNone/>
            </a:pPr>
            <a:r>
              <a:rPr lang="en-US" sz="800" i="1" dirty="0">
                <a:solidFill>
                  <a:srgbClr val="64748B"/>
                </a:solidFill>
                <a:latin typeface="Calibri" pitchFamily="34" charset="0"/>
                <a:ea typeface="Calibri" pitchFamily="34" charset="-122"/>
                <a:cs typeface="Calibri" pitchFamily="34" charset="-120"/>
              </a:rPr>
              <a:t>Fig. 2. C-to-RTL conversion concept (illustrative) [I2].</a:t>
            </a:r>
            <a:endParaRPr lang="en-US" sz="800" dirty="0"/>
          </a:p>
        </p:txBody>
      </p:sp>
      <p:sp>
        <p:nvSpPr>
          <p:cNvPr id="35" name="Text 32"/>
          <p:cNvSpPr/>
          <p:nvPr/>
        </p:nvSpPr>
        <p:spPr>
          <a:xfrm>
            <a:off x="502920" y="6473952"/>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Sharing and Binding within High-Level Synthesis</a:t>
            </a:r>
            <a:endParaRPr lang="en-US" sz="900" dirty="0"/>
          </a:p>
        </p:txBody>
      </p:sp>
      <p:sp>
        <p:nvSpPr>
          <p:cNvPr id="36" name="Text 33"/>
          <p:cNvSpPr/>
          <p:nvPr/>
        </p:nvSpPr>
        <p:spPr>
          <a:xfrm>
            <a:off x="8229600" y="6473952"/>
            <a:ext cx="2743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HSHL  •  Seminar Presentation</a:t>
            </a:r>
            <a:endParaRPr lang="en-US" sz="900" dirty="0"/>
          </a:p>
        </p:txBody>
      </p:sp>
      <p:sp>
        <p:nvSpPr>
          <p:cNvPr id="37" name="Text 34"/>
          <p:cNvSpPr/>
          <p:nvPr/>
        </p:nvSpPr>
        <p:spPr>
          <a:xfrm>
            <a:off x="11155680" y="6473952"/>
            <a:ext cx="548640" cy="274320"/>
          </a:xfrm>
          <a:prstGeom prst="rect">
            <a:avLst/>
          </a:prstGeom>
          <a:noFill/>
          <a:ln/>
        </p:spPr>
        <p:txBody>
          <a:bodyPr wrap="square" rtlCol="0" anchor="ctr"/>
          <a:lstStyle/>
          <a:p>
            <a:pPr marL="0" indent="0" algn="r">
              <a:buNone/>
            </a:pPr>
            <a:r>
              <a:rPr lang="en-US" sz="1000" b="1" dirty="0">
                <a:solidFill>
                  <a:srgbClr val="1A4FA0"/>
                </a:solidFill>
                <a:latin typeface="Trebuchet MS" pitchFamily="34" charset="0"/>
                <a:ea typeface="Trebuchet MS" pitchFamily="34" charset="-122"/>
                <a:cs typeface="Trebuchet MS"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FFFFFF"/>
          </a:solidFill>
          <a:ln/>
        </p:spPr>
        <p:txBody>
          <a:bodyPr/>
          <a:lstStyle/>
          <a:p>
            <a:endParaRPr lang="en-DE"/>
          </a:p>
        </p:txBody>
      </p:sp>
      <p:sp>
        <p:nvSpPr>
          <p:cNvPr id="3" name="Shape 1"/>
          <p:cNvSpPr/>
          <p:nvPr/>
        </p:nvSpPr>
        <p:spPr>
          <a:xfrm>
            <a:off x="0" y="0"/>
            <a:ext cx="201168" cy="1078992"/>
          </a:xfrm>
          <a:prstGeom prst="rect">
            <a:avLst/>
          </a:prstGeom>
          <a:solidFill>
            <a:srgbClr val="1A4FA0"/>
          </a:solidFill>
          <a:ln/>
        </p:spPr>
        <p:txBody>
          <a:bodyPr/>
          <a:lstStyle/>
          <a:p>
            <a:endParaRPr lang="en-DE"/>
          </a:p>
        </p:txBody>
      </p:sp>
      <p:sp>
        <p:nvSpPr>
          <p:cNvPr id="4" name="Text 2"/>
          <p:cNvSpPr/>
          <p:nvPr/>
        </p:nvSpPr>
        <p:spPr>
          <a:xfrm>
            <a:off x="502920" y="182880"/>
            <a:ext cx="10515600" cy="274320"/>
          </a:xfrm>
          <a:prstGeom prst="rect">
            <a:avLst/>
          </a:prstGeom>
          <a:noFill/>
          <a:ln/>
        </p:spPr>
        <p:txBody>
          <a:bodyPr wrap="square" rtlCol="0" anchor="ctr"/>
          <a:lstStyle/>
          <a:p>
            <a:pPr marL="0" indent="0">
              <a:buNone/>
            </a:pPr>
            <a:r>
              <a:rPr lang="en-US" sz="1200" b="1" kern="0" spc="200" dirty="0">
                <a:solidFill>
                  <a:srgbClr val="0E8FD0"/>
                </a:solidFill>
                <a:latin typeface="Trebuchet MS" pitchFamily="34" charset="0"/>
                <a:ea typeface="Trebuchet MS" pitchFamily="34" charset="-122"/>
                <a:cs typeface="Trebuchet MS" pitchFamily="34" charset="-120"/>
              </a:rPr>
              <a:t>DESIGN FLOW</a:t>
            </a:r>
            <a:endParaRPr lang="en-US" sz="1200" dirty="0"/>
          </a:p>
        </p:txBody>
      </p:sp>
      <p:sp>
        <p:nvSpPr>
          <p:cNvPr id="5" name="Text 3"/>
          <p:cNvSpPr/>
          <p:nvPr/>
        </p:nvSpPr>
        <p:spPr>
          <a:xfrm>
            <a:off x="475488" y="420624"/>
            <a:ext cx="11247120" cy="566928"/>
          </a:xfrm>
          <a:prstGeom prst="rect">
            <a:avLst/>
          </a:prstGeom>
          <a:noFill/>
          <a:ln/>
        </p:spPr>
        <p:txBody>
          <a:bodyPr wrap="square" rtlCol="0" anchor="ctr"/>
          <a:lstStyle/>
          <a:p>
            <a:pPr marL="0" indent="0">
              <a:buNone/>
            </a:pPr>
            <a:r>
              <a:rPr lang="en-US" sz="2700" b="1" dirty="0">
                <a:solidFill>
                  <a:srgbClr val="0E2747"/>
                </a:solidFill>
                <a:latin typeface="Trebuchet MS" pitchFamily="34" charset="0"/>
                <a:ea typeface="Trebuchet MS" pitchFamily="34" charset="-122"/>
                <a:cs typeface="Trebuchet MS" pitchFamily="34" charset="-120"/>
              </a:rPr>
              <a:t>High-Level Synthesis Design Flow</a:t>
            </a:r>
            <a:endParaRPr lang="en-US" sz="2700" dirty="0"/>
          </a:p>
        </p:txBody>
      </p:sp>
      <p:sp>
        <p:nvSpPr>
          <p:cNvPr id="6" name="Shape 4"/>
          <p:cNvSpPr/>
          <p:nvPr/>
        </p:nvSpPr>
        <p:spPr>
          <a:xfrm>
            <a:off x="502920" y="1060704"/>
            <a:ext cx="11185855" cy="16459"/>
          </a:xfrm>
          <a:prstGeom prst="rect">
            <a:avLst/>
          </a:prstGeom>
          <a:solidFill>
            <a:srgbClr val="D5E0F0"/>
          </a:solidFill>
          <a:ln/>
        </p:spPr>
        <p:txBody>
          <a:bodyPr/>
          <a:lstStyle/>
          <a:p>
            <a:endParaRPr lang="en-DE"/>
          </a:p>
        </p:txBody>
      </p:sp>
      <p:sp>
        <p:nvSpPr>
          <p:cNvPr id="7" name="Text 5"/>
          <p:cNvSpPr/>
          <p:nvPr/>
        </p:nvSpPr>
        <p:spPr>
          <a:xfrm>
            <a:off x="502920" y="1234440"/>
            <a:ext cx="4572000" cy="365760"/>
          </a:xfrm>
          <a:prstGeom prst="rect">
            <a:avLst/>
          </a:prstGeom>
          <a:noFill/>
          <a:ln/>
        </p:spPr>
        <p:txBody>
          <a:bodyPr wrap="square" rtlCol="0" anchor="ctr"/>
          <a:lstStyle/>
          <a:p>
            <a:pPr marL="0" indent="0">
              <a:buNone/>
            </a:pPr>
            <a:r>
              <a:rPr lang="en-US" sz="1700" b="1" dirty="0">
                <a:solidFill>
                  <a:srgbClr val="1A4FA0"/>
                </a:solidFill>
                <a:latin typeface="Trebuchet MS" pitchFamily="34" charset="0"/>
                <a:ea typeface="Trebuchet MS" pitchFamily="34" charset="-122"/>
                <a:cs typeface="Trebuchet MS" pitchFamily="34" charset="-120"/>
              </a:rPr>
              <a:t>Main HLS Stages</a:t>
            </a:r>
            <a:endParaRPr lang="en-US" sz="1700" dirty="0"/>
          </a:p>
        </p:txBody>
      </p:sp>
      <p:sp>
        <p:nvSpPr>
          <p:cNvPr id="8" name="Shape 6"/>
          <p:cNvSpPr/>
          <p:nvPr/>
        </p:nvSpPr>
        <p:spPr>
          <a:xfrm>
            <a:off x="868680" y="1691640"/>
            <a:ext cx="3931920" cy="548640"/>
          </a:xfrm>
          <a:prstGeom prst="roundRect">
            <a:avLst>
              <a:gd name="adj" fmla="val 11667"/>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9" name="Text 7"/>
          <p:cNvSpPr/>
          <p:nvPr/>
        </p:nvSpPr>
        <p:spPr>
          <a:xfrm>
            <a:off x="914400" y="1691640"/>
            <a:ext cx="3840480" cy="548640"/>
          </a:xfrm>
          <a:prstGeom prst="rect">
            <a:avLst/>
          </a:prstGeom>
          <a:noFill/>
          <a:ln/>
        </p:spPr>
        <p:txBody>
          <a:bodyPr wrap="square" rtlCol="0" anchor="ctr"/>
          <a:lstStyle/>
          <a:p>
            <a:pPr marL="0" indent="0" algn="ctr">
              <a:buNone/>
            </a:pPr>
            <a:r>
              <a:rPr lang="en-US" sz="1400" b="1" dirty="0">
                <a:solidFill>
                  <a:srgbClr val="0E2747"/>
                </a:solidFill>
                <a:latin typeface="Trebuchet MS" pitchFamily="34" charset="0"/>
                <a:ea typeface="Trebuchet MS" pitchFamily="34" charset="-122"/>
                <a:cs typeface="Trebuchet MS" pitchFamily="34" charset="-120"/>
              </a:rPr>
              <a:t>Behavioral Specification</a:t>
            </a:r>
            <a:endParaRPr lang="en-US" sz="1400" dirty="0"/>
          </a:p>
        </p:txBody>
      </p:sp>
      <p:sp>
        <p:nvSpPr>
          <p:cNvPr id="10" name="Text 8"/>
          <p:cNvSpPr/>
          <p:nvPr/>
        </p:nvSpPr>
        <p:spPr>
          <a:xfrm>
            <a:off x="868680" y="2221992"/>
            <a:ext cx="393192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868680" y="2432304"/>
            <a:ext cx="3931920" cy="548640"/>
          </a:xfrm>
          <a:prstGeom prst="roundRect">
            <a:avLst>
              <a:gd name="adj" fmla="val 11667"/>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2" name="Text 10"/>
          <p:cNvSpPr/>
          <p:nvPr/>
        </p:nvSpPr>
        <p:spPr>
          <a:xfrm>
            <a:off x="914400" y="2432304"/>
            <a:ext cx="3840480" cy="548640"/>
          </a:xfrm>
          <a:prstGeom prst="rect">
            <a:avLst/>
          </a:prstGeom>
          <a:noFill/>
          <a:ln/>
        </p:spPr>
        <p:txBody>
          <a:bodyPr wrap="square" rtlCol="0" anchor="ctr"/>
          <a:lstStyle/>
          <a:p>
            <a:pPr marL="0" indent="0" algn="ctr">
              <a:buNone/>
            </a:pPr>
            <a:r>
              <a:rPr lang="en-US" sz="1400" b="1" dirty="0">
                <a:solidFill>
                  <a:srgbClr val="0E2747"/>
                </a:solidFill>
                <a:latin typeface="Trebuchet MS" pitchFamily="34" charset="0"/>
                <a:ea typeface="Trebuchet MS" pitchFamily="34" charset="-122"/>
                <a:cs typeface="Trebuchet MS" pitchFamily="34" charset="-120"/>
              </a:rPr>
              <a:t>Scheduling</a:t>
            </a:r>
            <a:endParaRPr lang="en-US" sz="1400" dirty="0"/>
          </a:p>
        </p:txBody>
      </p:sp>
      <p:sp>
        <p:nvSpPr>
          <p:cNvPr id="13" name="Text 11"/>
          <p:cNvSpPr/>
          <p:nvPr/>
        </p:nvSpPr>
        <p:spPr>
          <a:xfrm>
            <a:off x="868680" y="2962656"/>
            <a:ext cx="393192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14" name="Shape 12"/>
          <p:cNvSpPr/>
          <p:nvPr/>
        </p:nvSpPr>
        <p:spPr>
          <a:xfrm>
            <a:off x="868680" y="3172968"/>
            <a:ext cx="3931920" cy="548640"/>
          </a:xfrm>
          <a:prstGeom prst="roundRect">
            <a:avLst>
              <a:gd name="adj" fmla="val 11667"/>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5" name="Text 13"/>
          <p:cNvSpPr/>
          <p:nvPr/>
        </p:nvSpPr>
        <p:spPr>
          <a:xfrm>
            <a:off x="914400" y="3172968"/>
            <a:ext cx="3840480" cy="548640"/>
          </a:xfrm>
          <a:prstGeom prst="rect">
            <a:avLst/>
          </a:prstGeom>
          <a:noFill/>
          <a:ln/>
        </p:spPr>
        <p:txBody>
          <a:bodyPr wrap="square" rtlCol="0" anchor="ctr"/>
          <a:lstStyle/>
          <a:p>
            <a:pPr marL="0" indent="0" algn="ctr">
              <a:buNone/>
            </a:pPr>
            <a:r>
              <a:rPr lang="en-US" sz="1400" b="1" dirty="0">
                <a:solidFill>
                  <a:srgbClr val="0E2747"/>
                </a:solidFill>
                <a:latin typeface="Trebuchet MS" pitchFamily="34" charset="0"/>
                <a:ea typeface="Trebuchet MS" pitchFamily="34" charset="-122"/>
                <a:cs typeface="Trebuchet MS" pitchFamily="34" charset="-120"/>
              </a:rPr>
              <a:t>Allocation</a:t>
            </a:r>
            <a:endParaRPr lang="en-US" sz="1400" dirty="0"/>
          </a:p>
        </p:txBody>
      </p:sp>
      <p:sp>
        <p:nvSpPr>
          <p:cNvPr id="16" name="Text 14"/>
          <p:cNvSpPr/>
          <p:nvPr/>
        </p:nvSpPr>
        <p:spPr>
          <a:xfrm>
            <a:off x="868680" y="3703320"/>
            <a:ext cx="393192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868680" y="3913632"/>
            <a:ext cx="3931920" cy="548640"/>
          </a:xfrm>
          <a:prstGeom prst="roundRect">
            <a:avLst>
              <a:gd name="adj" fmla="val 11667"/>
            </a:avLst>
          </a:prstGeom>
          <a:solidFill>
            <a:srgbClr val="1A4FA0"/>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8" name="Text 16"/>
          <p:cNvSpPr/>
          <p:nvPr/>
        </p:nvSpPr>
        <p:spPr>
          <a:xfrm>
            <a:off x="914400" y="3913632"/>
            <a:ext cx="3840480" cy="5486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Binding</a:t>
            </a:r>
            <a:endParaRPr lang="en-US" sz="1400" dirty="0"/>
          </a:p>
        </p:txBody>
      </p:sp>
      <p:sp>
        <p:nvSpPr>
          <p:cNvPr id="19" name="Text 17"/>
          <p:cNvSpPr/>
          <p:nvPr/>
        </p:nvSpPr>
        <p:spPr>
          <a:xfrm>
            <a:off x="868680" y="4443984"/>
            <a:ext cx="393192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868680" y="4654296"/>
            <a:ext cx="3931920" cy="548640"/>
          </a:xfrm>
          <a:prstGeom prst="roundRect">
            <a:avLst>
              <a:gd name="adj" fmla="val 11667"/>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1" name="Text 19"/>
          <p:cNvSpPr/>
          <p:nvPr/>
        </p:nvSpPr>
        <p:spPr>
          <a:xfrm>
            <a:off x="914400" y="4654296"/>
            <a:ext cx="3840480" cy="548640"/>
          </a:xfrm>
          <a:prstGeom prst="rect">
            <a:avLst/>
          </a:prstGeom>
          <a:noFill/>
          <a:ln/>
        </p:spPr>
        <p:txBody>
          <a:bodyPr wrap="square" rtlCol="0" anchor="ctr"/>
          <a:lstStyle/>
          <a:p>
            <a:pPr marL="0" indent="0" algn="ctr">
              <a:buNone/>
            </a:pPr>
            <a:r>
              <a:rPr lang="en-US" sz="1400" b="1" dirty="0">
                <a:solidFill>
                  <a:srgbClr val="0E2747"/>
                </a:solidFill>
                <a:latin typeface="Trebuchet MS" pitchFamily="34" charset="0"/>
                <a:ea typeface="Trebuchet MS" pitchFamily="34" charset="-122"/>
                <a:cs typeface="Trebuchet MS" pitchFamily="34" charset="-120"/>
              </a:rPr>
              <a:t>RTL Generation</a:t>
            </a:r>
            <a:endParaRPr lang="en-US" sz="1400" dirty="0"/>
          </a:p>
        </p:txBody>
      </p:sp>
      <p:sp>
        <p:nvSpPr>
          <p:cNvPr id="22" name="Text 20"/>
          <p:cNvSpPr/>
          <p:nvPr/>
        </p:nvSpPr>
        <p:spPr>
          <a:xfrm>
            <a:off x="868680" y="5184648"/>
            <a:ext cx="393192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868680" y="5394960"/>
            <a:ext cx="3931920" cy="548640"/>
          </a:xfrm>
          <a:prstGeom prst="roundRect">
            <a:avLst>
              <a:gd name="adj" fmla="val 11667"/>
            </a:avLst>
          </a:prstGeom>
          <a:solidFill>
            <a:srgbClr val="0E2747"/>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4" name="Text 22"/>
          <p:cNvSpPr/>
          <p:nvPr/>
        </p:nvSpPr>
        <p:spPr>
          <a:xfrm>
            <a:off x="914400" y="5394960"/>
            <a:ext cx="3840480" cy="5486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FPGA / ASIC</a:t>
            </a:r>
            <a:endParaRPr lang="en-US" sz="1400" dirty="0"/>
          </a:p>
        </p:txBody>
      </p:sp>
      <p:sp>
        <p:nvSpPr>
          <p:cNvPr id="25" name="Text 23"/>
          <p:cNvSpPr/>
          <p:nvPr/>
        </p:nvSpPr>
        <p:spPr>
          <a:xfrm>
            <a:off x="5669280" y="1234440"/>
            <a:ext cx="5486400" cy="365760"/>
          </a:xfrm>
          <a:prstGeom prst="rect">
            <a:avLst/>
          </a:prstGeom>
          <a:noFill/>
          <a:ln/>
        </p:spPr>
        <p:txBody>
          <a:bodyPr wrap="square" rtlCol="0" anchor="ctr"/>
          <a:lstStyle/>
          <a:p>
            <a:pPr marL="0" indent="0">
              <a:buNone/>
            </a:pPr>
            <a:r>
              <a:rPr lang="en-US" sz="1700" b="1" dirty="0">
                <a:solidFill>
                  <a:srgbClr val="1A4FA0"/>
                </a:solidFill>
                <a:latin typeface="Trebuchet MS" pitchFamily="34" charset="0"/>
                <a:ea typeface="Trebuchet MS" pitchFamily="34" charset="-122"/>
                <a:cs typeface="Trebuchet MS" pitchFamily="34" charset="-120"/>
              </a:rPr>
              <a:t>Stage Responsibilities</a:t>
            </a:r>
            <a:endParaRPr lang="en-US" sz="17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0" y="1691640"/>
          <a:ext cx="6035040" cy="411480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457200">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Stage</a:t>
                      </a:r>
                      <a:endParaRPr lang="en-US" sz="1300" dirty="0">
                        <a:latin typeface="Trebuchet MS" charset="0"/>
                        <a:ea typeface="Trebuchet MS" charset="0"/>
                        <a:cs typeface="Trebuchet MS"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1A4FA0"/>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Purpose</a:t>
                      </a:r>
                      <a:endParaRPr lang="en-US" sz="1300" dirty="0">
                        <a:latin typeface="Trebuchet MS" charset="0"/>
                        <a:ea typeface="Trebuchet MS" charset="0"/>
                        <a:cs typeface="Trebuchet MS"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1A4FA0"/>
                    </a:solidFill>
                  </a:tcPr>
                </a:tc>
                <a:extLst>
                  <a:ext uri="{0D108BD9-81ED-4DB2-BD59-A6C34878D82A}">
                    <a16:rowId xmlns:a16="http://schemas.microsoft.com/office/drawing/2014/main" val="10000"/>
                  </a:ext>
                </a:extLst>
              </a:tr>
              <a:tr h="914400">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Scheduling</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Assign an execution time (control step) to each operation</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Allocation</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Select the type and number of hardware resources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extLst>
                  <a:ext uri="{0D108BD9-81ED-4DB2-BD59-A6C34878D82A}">
                    <a16:rowId xmlns:a16="http://schemas.microsoft.com/office/drawing/2014/main" val="10002"/>
                  </a:ext>
                </a:extLst>
              </a:tr>
              <a:tr h="914400">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Binding</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Map operations and variables onto physical hardware</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RTL Generation</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Produce synthesizable Verilog / VHDL</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extLst>
                  <a:ext uri="{0D108BD9-81ED-4DB2-BD59-A6C34878D82A}">
                    <a16:rowId xmlns:a16="http://schemas.microsoft.com/office/drawing/2014/main" val="10004"/>
                  </a:ext>
                </a:extLst>
              </a:tr>
            </a:tbl>
          </a:graphicData>
        </a:graphic>
      </p:graphicFrame>
      <p:sp>
        <p:nvSpPr>
          <p:cNvPr id="27" name="Shape 24"/>
          <p:cNvSpPr/>
          <p:nvPr/>
        </p:nvSpPr>
        <p:spPr>
          <a:xfrm>
            <a:off x="5669280" y="5532120"/>
            <a:ext cx="6035040" cy="713232"/>
          </a:xfrm>
          <a:prstGeom prst="rect">
            <a:avLst/>
          </a:prstGeom>
          <a:solidFill>
            <a:srgbClr val="F4F7FC"/>
          </a:solidFill>
          <a:ln w="12700">
            <a:solidFill>
              <a:srgbClr val="D5E0F0"/>
            </a:solidFill>
            <a:prstDash val="solid"/>
          </a:ln>
        </p:spPr>
        <p:txBody>
          <a:bodyPr/>
          <a:lstStyle/>
          <a:p>
            <a:endParaRPr lang="en-DE"/>
          </a:p>
        </p:txBody>
      </p:sp>
      <p:sp>
        <p:nvSpPr>
          <p:cNvPr id="28" name="Shape 25"/>
          <p:cNvSpPr/>
          <p:nvPr/>
        </p:nvSpPr>
        <p:spPr>
          <a:xfrm>
            <a:off x="5669280" y="5532120"/>
            <a:ext cx="82296" cy="713232"/>
          </a:xfrm>
          <a:prstGeom prst="rect">
            <a:avLst/>
          </a:prstGeom>
          <a:solidFill>
            <a:srgbClr val="0E8FD0"/>
          </a:solidFill>
          <a:ln/>
        </p:spPr>
        <p:txBody>
          <a:bodyPr/>
          <a:lstStyle/>
          <a:p>
            <a:endParaRPr lang="en-DE"/>
          </a:p>
        </p:txBody>
      </p:sp>
      <p:sp>
        <p:nvSpPr>
          <p:cNvPr id="29" name="Text 26"/>
          <p:cNvSpPr/>
          <p:nvPr/>
        </p:nvSpPr>
        <p:spPr>
          <a:xfrm>
            <a:off x="5897880" y="5532120"/>
            <a:ext cx="5669280" cy="713232"/>
          </a:xfrm>
          <a:prstGeom prst="rect">
            <a:avLst/>
          </a:prstGeom>
          <a:noFill/>
          <a:ln/>
        </p:spPr>
        <p:txBody>
          <a:bodyPr wrap="square" rtlCol="0" anchor="ctr"/>
          <a:lstStyle/>
          <a:p>
            <a:pPr marL="0" indent="0">
              <a:buNone/>
            </a:pPr>
            <a:r>
              <a:rPr lang="en-US" sz="1250" dirty="0">
                <a:solidFill>
                  <a:srgbClr val="33415C"/>
                </a:solidFill>
                <a:latin typeface="Calibri" pitchFamily="34" charset="0"/>
                <a:ea typeface="Calibri" pitchFamily="34" charset="-122"/>
                <a:cs typeface="Calibri" pitchFamily="34" charset="-120"/>
              </a:rPr>
              <a:t>Scheduling, allocation and binding </a:t>
            </a:r>
            <a:r>
              <a:rPr lang="en-US" sz="1250" b="1" dirty="0">
                <a:solidFill>
                  <a:srgbClr val="0E2747"/>
                </a:solidFill>
                <a:latin typeface="Calibri" pitchFamily="34" charset="0"/>
                <a:ea typeface="Calibri" pitchFamily="34" charset="-122"/>
                <a:cs typeface="Calibri" pitchFamily="34" charset="-120"/>
              </a:rPr>
              <a:t>together determine the final area, latency and power of the generated hardware.</a:t>
            </a:r>
            <a:r>
              <a:rPr lang="en-US" sz="1250" b="1">
                <a:solidFill>
                  <a:srgbClr val="0E2747"/>
                </a:solidFill>
                <a:latin typeface="Calibri" pitchFamily="34" charset="0"/>
                <a:ea typeface="Calibri" pitchFamily="34" charset="-122"/>
                <a:cs typeface="Calibri" pitchFamily="34" charset="-120"/>
              </a:rPr>
              <a:t> [2]</a:t>
            </a:r>
            <a:endParaRPr lang="en-US" sz="1250" dirty="0"/>
          </a:p>
        </p:txBody>
      </p:sp>
      <p:sp>
        <p:nvSpPr>
          <p:cNvPr id="30" name="Text 27"/>
          <p:cNvSpPr/>
          <p:nvPr/>
        </p:nvSpPr>
        <p:spPr>
          <a:xfrm>
            <a:off x="502920" y="6473952"/>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Sharing and Binding within High-Level Synthesis</a:t>
            </a:r>
            <a:endParaRPr lang="en-US" sz="900" dirty="0"/>
          </a:p>
        </p:txBody>
      </p:sp>
      <p:sp>
        <p:nvSpPr>
          <p:cNvPr id="31" name="Text 28"/>
          <p:cNvSpPr/>
          <p:nvPr/>
        </p:nvSpPr>
        <p:spPr>
          <a:xfrm>
            <a:off x="8229600" y="6473952"/>
            <a:ext cx="2743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HSHL  •  Seminar Presentation</a:t>
            </a:r>
            <a:endParaRPr lang="en-US" sz="900" dirty="0"/>
          </a:p>
        </p:txBody>
      </p:sp>
      <p:sp>
        <p:nvSpPr>
          <p:cNvPr id="32" name="Text 29"/>
          <p:cNvSpPr/>
          <p:nvPr/>
        </p:nvSpPr>
        <p:spPr>
          <a:xfrm>
            <a:off x="11155680" y="6473952"/>
            <a:ext cx="548640" cy="274320"/>
          </a:xfrm>
          <a:prstGeom prst="rect">
            <a:avLst/>
          </a:prstGeom>
          <a:noFill/>
          <a:ln/>
        </p:spPr>
        <p:txBody>
          <a:bodyPr wrap="square" rtlCol="0" anchor="ctr"/>
          <a:lstStyle/>
          <a:p>
            <a:pPr marL="0" indent="0" algn="r">
              <a:buNone/>
            </a:pPr>
            <a:r>
              <a:rPr lang="en-US" sz="1000" b="1" dirty="0">
                <a:solidFill>
                  <a:srgbClr val="1A4FA0"/>
                </a:solidFill>
                <a:latin typeface="Trebuchet MS" pitchFamily="34" charset="0"/>
                <a:ea typeface="Trebuchet MS" pitchFamily="34" charset="-122"/>
                <a:cs typeface="Trebuchet MS"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FFFFFF"/>
          </a:solidFill>
          <a:ln/>
        </p:spPr>
        <p:txBody>
          <a:bodyPr/>
          <a:lstStyle/>
          <a:p>
            <a:endParaRPr lang="en-DE"/>
          </a:p>
        </p:txBody>
      </p:sp>
      <p:sp>
        <p:nvSpPr>
          <p:cNvPr id="3" name="Shape 1"/>
          <p:cNvSpPr/>
          <p:nvPr/>
        </p:nvSpPr>
        <p:spPr>
          <a:xfrm>
            <a:off x="0" y="0"/>
            <a:ext cx="201168" cy="1078992"/>
          </a:xfrm>
          <a:prstGeom prst="rect">
            <a:avLst/>
          </a:prstGeom>
          <a:solidFill>
            <a:srgbClr val="1A4FA0"/>
          </a:solidFill>
          <a:ln/>
        </p:spPr>
        <p:txBody>
          <a:bodyPr/>
          <a:lstStyle/>
          <a:p>
            <a:endParaRPr lang="en-DE"/>
          </a:p>
        </p:txBody>
      </p:sp>
      <p:sp>
        <p:nvSpPr>
          <p:cNvPr id="4" name="Text 2"/>
          <p:cNvSpPr/>
          <p:nvPr/>
        </p:nvSpPr>
        <p:spPr>
          <a:xfrm>
            <a:off x="502920" y="182880"/>
            <a:ext cx="10515600" cy="274320"/>
          </a:xfrm>
          <a:prstGeom prst="rect">
            <a:avLst/>
          </a:prstGeom>
          <a:noFill/>
          <a:ln/>
        </p:spPr>
        <p:txBody>
          <a:bodyPr wrap="square" rtlCol="0" anchor="ctr"/>
          <a:lstStyle/>
          <a:p>
            <a:pPr marL="0" indent="0">
              <a:buNone/>
            </a:pPr>
            <a:r>
              <a:rPr lang="en-US" sz="1200" b="1" kern="0" spc="200" dirty="0">
                <a:solidFill>
                  <a:srgbClr val="0E8FD0"/>
                </a:solidFill>
                <a:latin typeface="Trebuchet MS" pitchFamily="34" charset="0"/>
                <a:ea typeface="Trebuchet MS" pitchFamily="34" charset="-122"/>
                <a:cs typeface="Trebuchet MS" pitchFamily="34" charset="-120"/>
              </a:rPr>
              <a:t>CORE CONCEPT</a:t>
            </a:r>
            <a:endParaRPr lang="en-US" sz="1200" dirty="0"/>
          </a:p>
        </p:txBody>
      </p:sp>
      <p:sp>
        <p:nvSpPr>
          <p:cNvPr id="5" name="Text 3"/>
          <p:cNvSpPr/>
          <p:nvPr/>
        </p:nvSpPr>
        <p:spPr>
          <a:xfrm>
            <a:off x="475488" y="420624"/>
            <a:ext cx="11247120" cy="566928"/>
          </a:xfrm>
          <a:prstGeom prst="rect">
            <a:avLst/>
          </a:prstGeom>
          <a:noFill/>
          <a:ln/>
        </p:spPr>
        <p:txBody>
          <a:bodyPr wrap="square" rtlCol="0" anchor="ctr"/>
          <a:lstStyle/>
          <a:p>
            <a:pPr marL="0" indent="0">
              <a:buNone/>
            </a:pPr>
            <a:r>
              <a:rPr lang="en-US" sz="2700" b="1" dirty="0">
                <a:solidFill>
                  <a:srgbClr val="0E2747"/>
                </a:solidFill>
                <a:latin typeface="Trebuchet MS" pitchFamily="34" charset="0"/>
                <a:ea typeface="Trebuchet MS" pitchFamily="34" charset="-122"/>
                <a:cs typeface="Trebuchet MS" pitchFamily="34" charset="-120"/>
              </a:rPr>
              <a:t>Resource Sharing Concept</a:t>
            </a:r>
            <a:endParaRPr lang="en-US" sz="2700" dirty="0"/>
          </a:p>
        </p:txBody>
      </p:sp>
      <p:sp>
        <p:nvSpPr>
          <p:cNvPr id="6" name="Shape 4"/>
          <p:cNvSpPr/>
          <p:nvPr/>
        </p:nvSpPr>
        <p:spPr>
          <a:xfrm>
            <a:off x="502920" y="1060704"/>
            <a:ext cx="11185855" cy="16459"/>
          </a:xfrm>
          <a:prstGeom prst="rect">
            <a:avLst/>
          </a:prstGeom>
          <a:solidFill>
            <a:srgbClr val="D5E0F0"/>
          </a:solidFill>
          <a:ln/>
        </p:spPr>
        <p:txBody>
          <a:bodyPr/>
          <a:lstStyle/>
          <a:p>
            <a:endParaRPr lang="en-DE"/>
          </a:p>
        </p:txBody>
      </p:sp>
      <p:sp>
        <p:nvSpPr>
          <p:cNvPr id="7" name="Shape 5"/>
          <p:cNvSpPr/>
          <p:nvPr/>
        </p:nvSpPr>
        <p:spPr>
          <a:xfrm>
            <a:off x="502920" y="1207008"/>
            <a:ext cx="6766560" cy="566928"/>
          </a:xfrm>
          <a:prstGeom prst="rect">
            <a:avLst/>
          </a:prstGeom>
          <a:solidFill>
            <a:srgbClr val="F4F7FC"/>
          </a:solidFill>
          <a:ln w="12700">
            <a:solidFill>
              <a:srgbClr val="D5E0F0"/>
            </a:solidFill>
            <a:prstDash val="solid"/>
          </a:ln>
        </p:spPr>
        <p:txBody>
          <a:bodyPr/>
          <a:lstStyle/>
          <a:p>
            <a:endParaRPr lang="en-DE"/>
          </a:p>
        </p:txBody>
      </p:sp>
      <p:sp>
        <p:nvSpPr>
          <p:cNvPr id="8" name="Shape 6"/>
          <p:cNvSpPr/>
          <p:nvPr/>
        </p:nvSpPr>
        <p:spPr>
          <a:xfrm>
            <a:off x="502920" y="1207008"/>
            <a:ext cx="82296" cy="566928"/>
          </a:xfrm>
          <a:prstGeom prst="rect">
            <a:avLst/>
          </a:prstGeom>
          <a:solidFill>
            <a:srgbClr val="0E8FD0"/>
          </a:solidFill>
          <a:ln/>
        </p:spPr>
        <p:txBody>
          <a:bodyPr/>
          <a:lstStyle/>
          <a:p>
            <a:endParaRPr lang="en-DE"/>
          </a:p>
        </p:txBody>
      </p:sp>
      <p:sp>
        <p:nvSpPr>
          <p:cNvPr id="9" name="Text 7"/>
          <p:cNvSpPr/>
          <p:nvPr/>
        </p:nvSpPr>
        <p:spPr>
          <a:xfrm>
            <a:off x="731520" y="1207008"/>
            <a:ext cx="6400800" cy="566928"/>
          </a:xfrm>
          <a:prstGeom prst="rect">
            <a:avLst/>
          </a:prstGeom>
          <a:noFill/>
          <a:ln/>
        </p:spPr>
        <p:txBody>
          <a:bodyPr wrap="square" rtlCol="0" anchor="ctr"/>
          <a:lstStyle/>
          <a:p>
            <a:pPr marL="0" indent="0">
              <a:buNone/>
            </a:pPr>
            <a:r>
              <a:rPr lang="en-US" sz="1350" b="1" dirty="0">
                <a:solidFill>
                  <a:srgbClr val="0E2747"/>
                </a:solidFill>
                <a:latin typeface="Calibri" pitchFamily="34" charset="0"/>
                <a:ea typeface="Calibri" pitchFamily="34" charset="-122"/>
                <a:cs typeface="Calibri" pitchFamily="34" charset="-120"/>
              </a:rPr>
              <a:t>Resource sharing  </a:t>
            </a:r>
            <a:r>
              <a:rPr lang="en-US" sz="1350" dirty="0">
                <a:solidFill>
                  <a:srgbClr val="33415C"/>
                </a:solidFill>
                <a:latin typeface="Calibri" pitchFamily="34" charset="0"/>
                <a:ea typeface="Calibri" pitchFamily="34" charset="-122"/>
                <a:cs typeface="Calibri" pitchFamily="34" charset="-120"/>
              </a:rPr>
              <a:t>lets multiple operations reuse the same physical hardware resource.</a:t>
            </a:r>
            <a:r>
              <a:rPr lang="en-US" sz="1350">
                <a:solidFill>
                  <a:srgbClr val="33415C"/>
                </a:solidFill>
                <a:latin typeface="Calibri" pitchFamily="34" charset="0"/>
                <a:ea typeface="Calibri" pitchFamily="34" charset="-122"/>
                <a:cs typeface="Calibri" pitchFamily="34" charset="-120"/>
              </a:rPr>
              <a:t> [3]</a:t>
            </a:r>
            <a:endParaRPr lang="en-US" sz="1350" dirty="0"/>
          </a:p>
        </p:txBody>
      </p:sp>
      <p:sp>
        <p:nvSpPr>
          <p:cNvPr id="10" name="Shape 8"/>
          <p:cNvSpPr/>
          <p:nvPr/>
        </p:nvSpPr>
        <p:spPr>
          <a:xfrm>
            <a:off x="502920" y="1993392"/>
            <a:ext cx="3291840" cy="182880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1" name="Text 9"/>
          <p:cNvSpPr/>
          <p:nvPr/>
        </p:nvSpPr>
        <p:spPr>
          <a:xfrm>
            <a:off x="640080" y="2121408"/>
            <a:ext cx="3017520" cy="292608"/>
          </a:xfrm>
          <a:prstGeom prst="rect">
            <a:avLst/>
          </a:prstGeom>
          <a:noFill/>
          <a:ln/>
        </p:spPr>
        <p:txBody>
          <a:bodyPr wrap="square" rtlCol="0" anchor="ctr"/>
          <a:lstStyle/>
          <a:p>
            <a:pPr marL="0" indent="0">
              <a:buNone/>
            </a:pPr>
            <a:r>
              <a:rPr lang="en-US" sz="1250" b="1" kern="0" spc="100" dirty="0">
                <a:solidFill>
                  <a:srgbClr val="C0392B"/>
                </a:solidFill>
                <a:latin typeface="Trebuchet MS" pitchFamily="34" charset="0"/>
                <a:ea typeface="Trebuchet MS" pitchFamily="34" charset="-122"/>
                <a:cs typeface="Trebuchet MS" pitchFamily="34" charset="-120"/>
              </a:rPr>
              <a:t>WITHOUT SHARING</a:t>
            </a:r>
            <a:endParaRPr lang="en-US" sz="1250" dirty="0"/>
          </a:p>
        </p:txBody>
      </p:sp>
      <p:sp>
        <p:nvSpPr>
          <p:cNvPr id="12" name="Shape 10"/>
          <p:cNvSpPr/>
          <p:nvPr/>
        </p:nvSpPr>
        <p:spPr>
          <a:xfrm>
            <a:off x="713232" y="2542032"/>
            <a:ext cx="1325880" cy="457200"/>
          </a:xfrm>
          <a:prstGeom prst="roundRect">
            <a:avLst>
              <a:gd name="adj" fmla="val 14000"/>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3" name="Text 11"/>
          <p:cNvSpPr/>
          <p:nvPr/>
        </p:nvSpPr>
        <p:spPr>
          <a:xfrm>
            <a:off x="758952" y="2542032"/>
            <a:ext cx="1234440" cy="457200"/>
          </a:xfrm>
          <a:prstGeom prst="rect">
            <a:avLst/>
          </a:prstGeom>
          <a:noFill/>
          <a:ln/>
        </p:spPr>
        <p:txBody>
          <a:bodyPr wrap="square" rtlCol="0" anchor="ctr"/>
          <a:lstStyle/>
          <a:p>
            <a:pPr marL="0" indent="0" algn="ctr">
              <a:buNone/>
            </a:pPr>
            <a:r>
              <a:rPr lang="en-US" sz="1300" b="1" dirty="0">
                <a:solidFill>
                  <a:srgbClr val="0E2747"/>
                </a:solidFill>
                <a:latin typeface="Trebuchet MS" pitchFamily="34" charset="0"/>
                <a:ea typeface="Trebuchet MS" pitchFamily="34" charset="-122"/>
                <a:cs typeface="Trebuchet MS" pitchFamily="34" charset="-120"/>
              </a:rPr>
              <a:t>a · b</a:t>
            </a:r>
            <a:endParaRPr lang="en-US" sz="1300" dirty="0"/>
          </a:p>
        </p:txBody>
      </p:sp>
      <p:sp>
        <p:nvSpPr>
          <p:cNvPr id="14" name="Shape 12"/>
          <p:cNvSpPr/>
          <p:nvPr/>
        </p:nvSpPr>
        <p:spPr>
          <a:xfrm>
            <a:off x="713232" y="3154680"/>
            <a:ext cx="1325880" cy="457200"/>
          </a:xfrm>
          <a:prstGeom prst="roundRect">
            <a:avLst>
              <a:gd name="adj" fmla="val 14000"/>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5" name="Text 13"/>
          <p:cNvSpPr/>
          <p:nvPr/>
        </p:nvSpPr>
        <p:spPr>
          <a:xfrm>
            <a:off x="758952" y="3154680"/>
            <a:ext cx="1234440" cy="457200"/>
          </a:xfrm>
          <a:prstGeom prst="rect">
            <a:avLst/>
          </a:prstGeom>
          <a:noFill/>
          <a:ln/>
        </p:spPr>
        <p:txBody>
          <a:bodyPr wrap="square" rtlCol="0" anchor="ctr"/>
          <a:lstStyle/>
          <a:p>
            <a:pPr marL="0" indent="0" algn="ctr">
              <a:buNone/>
            </a:pPr>
            <a:r>
              <a:rPr lang="en-US" sz="1300" b="1" dirty="0">
                <a:solidFill>
                  <a:srgbClr val="0E2747"/>
                </a:solidFill>
                <a:latin typeface="Trebuchet MS" pitchFamily="34" charset="0"/>
                <a:ea typeface="Trebuchet MS" pitchFamily="34" charset="-122"/>
                <a:cs typeface="Trebuchet MS" pitchFamily="34" charset="-120"/>
              </a:rPr>
              <a:t>c · d</a:t>
            </a:r>
            <a:endParaRPr lang="en-US" sz="1300" dirty="0"/>
          </a:p>
        </p:txBody>
      </p:sp>
      <p:sp>
        <p:nvSpPr>
          <p:cNvPr id="16" name="Text 14"/>
          <p:cNvSpPr/>
          <p:nvPr/>
        </p:nvSpPr>
        <p:spPr>
          <a:xfrm>
            <a:off x="2084832" y="2542032"/>
            <a:ext cx="365760" cy="457200"/>
          </a:xfrm>
          <a:prstGeom prst="rect">
            <a:avLst/>
          </a:prstGeom>
          <a:noFill/>
          <a:ln/>
        </p:spPr>
        <p:txBody>
          <a:bodyPr wrap="square" rtlCol="0" anchor="ctr"/>
          <a:lstStyle/>
          <a:p>
            <a:pPr marL="0" indent="0" algn="ctr">
              <a:buNone/>
            </a:pPr>
            <a:r>
              <a:rPr lang="en-US" sz="1400" dirty="0">
                <a:solidFill>
                  <a:srgbClr val="0E8FD0"/>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2084832" y="3154680"/>
            <a:ext cx="365760" cy="457200"/>
          </a:xfrm>
          <a:prstGeom prst="rect">
            <a:avLst/>
          </a:prstGeom>
          <a:noFill/>
          <a:ln/>
        </p:spPr>
        <p:txBody>
          <a:bodyPr wrap="square" rtlCol="0" anchor="ctr"/>
          <a:lstStyle/>
          <a:p>
            <a:pPr marL="0" indent="0" algn="ctr">
              <a:buNone/>
            </a:pPr>
            <a:r>
              <a:rPr lang="en-US" sz="1400" dirty="0">
                <a:solidFill>
                  <a:srgbClr val="0E8FD0"/>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2487168" y="2542032"/>
            <a:ext cx="1207008" cy="457200"/>
          </a:xfrm>
          <a:prstGeom prst="roundRect">
            <a:avLst>
              <a:gd name="adj" fmla="val 14000"/>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9" name="Text 17"/>
          <p:cNvSpPr/>
          <p:nvPr/>
        </p:nvSpPr>
        <p:spPr>
          <a:xfrm>
            <a:off x="2532888" y="2542032"/>
            <a:ext cx="1115568" cy="457200"/>
          </a:xfrm>
          <a:prstGeom prst="rect">
            <a:avLst/>
          </a:prstGeom>
          <a:noFill/>
          <a:ln/>
        </p:spPr>
        <p:txBody>
          <a:bodyPr wrap="square" rtlCol="0" anchor="ctr"/>
          <a:lstStyle/>
          <a:p>
            <a:pPr marL="0" indent="0" algn="ctr">
              <a:buNone/>
            </a:pPr>
            <a:r>
              <a:rPr lang="en-US" sz="1200" b="1" dirty="0">
                <a:solidFill>
                  <a:srgbClr val="1A4FA0"/>
                </a:solidFill>
                <a:latin typeface="Trebuchet MS" pitchFamily="34" charset="0"/>
                <a:ea typeface="Trebuchet MS" pitchFamily="34" charset="-122"/>
                <a:cs typeface="Trebuchet MS" pitchFamily="34" charset="-120"/>
              </a:rPr>
              <a:t>Mult 1</a:t>
            </a:r>
            <a:endParaRPr lang="en-US" sz="1200" dirty="0"/>
          </a:p>
        </p:txBody>
      </p:sp>
      <p:sp>
        <p:nvSpPr>
          <p:cNvPr id="20" name="Shape 18"/>
          <p:cNvSpPr/>
          <p:nvPr/>
        </p:nvSpPr>
        <p:spPr>
          <a:xfrm>
            <a:off x="2487168" y="3154680"/>
            <a:ext cx="1207008" cy="457200"/>
          </a:xfrm>
          <a:prstGeom prst="roundRect">
            <a:avLst>
              <a:gd name="adj" fmla="val 14000"/>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1" name="Text 19"/>
          <p:cNvSpPr/>
          <p:nvPr/>
        </p:nvSpPr>
        <p:spPr>
          <a:xfrm>
            <a:off x="2532888" y="3154680"/>
            <a:ext cx="1115568" cy="457200"/>
          </a:xfrm>
          <a:prstGeom prst="rect">
            <a:avLst/>
          </a:prstGeom>
          <a:noFill/>
          <a:ln/>
        </p:spPr>
        <p:txBody>
          <a:bodyPr wrap="square" rtlCol="0" anchor="ctr"/>
          <a:lstStyle/>
          <a:p>
            <a:pPr marL="0" indent="0" algn="ctr">
              <a:buNone/>
            </a:pPr>
            <a:r>
              <a:rPr lang="en-US" sz="1200" b="1" dirty="0">
                <a:solidFill>
                  <a:srgbClr val="1A4FA0"/>
                </a:solidFill>
                <a:latin typeface="Trebuchet MS" pitchFamily="34" charset="0"/>
                <a:ea typeface="Trebuchet MS" pitchFamily="34" charset="-122"/>
                <a:cs typeface="Trebuchet MS" pitchFamily="34" charset="-120"/>
              </a:rPr>
              <a:t>Mult 2</a:t>
            </a:r>
            <a:endParaRPr lang="en-US" sz="1200" dirty="0"/>
          </a:p>
        </p:txBody>
      </p:sp>
      <p:sp>
        <p:nvSpPr>
          <p:cNvPr id="22" name="Shape 20"/>
          <p:cNvSpPr/>
          <p:nvPr/>
        </p:nvSpPr>
        <p:spPr>
          <a:xfrm>
            <a:off x="3977640" y="1993392"/>
            <a:ext cx="3291840" cy="182880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3" name="Text 21"/>
          <p:cNvSpPr/>
          <p:nvPr/>
        </p:nvSpPr>
        <p:spPr>
          <a:xfrm>
            <a:off x="4114800" y="2121408"/>
            <a:ext cx="3017520" cy="292608"/>
          </a:xfrm>
          <a:prstGeom prst="rect">
            <a:avLst/>
          </a:prstGeom>
          <a:noFill/>
          <a:ln/>
        </p:spPr>
        <p:txBody>
          <a:bodyPr wrap="square" rtlCol="0" anchor="ctr"/>
          <a:lstStyle/>
          <a:p>
            <a:pPr marL="0" indent="0">
              <a:buNone/>
            </a:pPr>
            <a:r>
              <a:rPr lang="en-US" sz="1250" b="1" kern="0" spc="100" dirty="0">
                <a:solidFill>
                  <a:srgbClr val="2E9E5B"/>
                </a:solidFill>
                <a:latin typeface="Trebuchet MS" pitchFamily="34" charset="0"/>
                <a:ea typeface="Trebuchet MS" pitchFamily="34" charset="-122"/>
                <a:cs typeface="Trebuchet MS" pitchFamily="34" charset="-120"/>
              </a:rPr>
              <a:t>WITH SHARING</a:t>
            </a:r>
            <a:endParaRPr lang="en-US" sz="1250" dirty="0"/>
          </a:p>
        </p:txBody>
      </p:sp>
      <p:sp>
        <p:nvSpPr>
          <p:cNvPr id="24" name="Shape 22"/>
          <p:cNvSpPr/>
          <p:nvPr/>
        </p:nvSpPr>
        <p:spPr>
          <a:xfrm>
            <a:off x="4160520" y="2542032"/>
            <a:ext cx="1207008" cy="457200"/>
          </a:xfrm>
          <a:prstGeom prst="roundRect">
            <a:avLst>
              <a:gd name="adj" fmla="val 14000"/>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5" name="Text 23"/>
          <p:cNvSpPr/>
          <p:nvPr/>
        </p:nvSpPr>
        <p:spPr>
          <a:xfrm>
            <a:off x="4206240" y="2542032"/>
            <a:ext cx="1115568" cy="457200"/>
          </a:xfrm>
          <a:prstGeom prst="rect">
            <a:avLst/>
          </a:prstGeom>
          <a:noFill/>
          <a:ln/>
        </p:spPr>
        <p:txBody>
          <a:bodyPr wrap="square" rtlCol="0" anchor="ctr"/>
          <a:lstStyle/>
          <a:p>
            <a:pPr marL="0" indent="0" algn="ctr">
              <a:buNone/>
            </a:pPr>
            <a:r>
              <a:rPr lang="en-US" sz="1300" b="1" dirty="0">
                <a:solidFill>
                  <a:srgbClr val="0E2747"/>
                </a:solidFill>
                <a:latin typeface="Trebuchet MS" pitchFamily="34" charset="0"/>
                <a:ea typeface="Trebuchet MS" pitchFamily="34" charset="-122"/>
                <a:cs typeface="Trebuchet MS" pitchFamily="34" charset="-120"/>
              </a:rPr>
              <a:t>a · b</a:t>
            </a:r>
            <a:endParaRPr lang="en-US" sz="1300" dirty="0"/>
          </a:p>
        </p:txBody>
      </p:sp>
      <p:sp>
        <p:nvSpPr>
          <p:cNvPr id="26" name="Shape 24"/>
          <p:cNvSpPr/>
          <p:nvPr/>
        </p:nvSpPr>
        <p:spPr>
          <a:xfrm>
            <a:off x="4160520" y="3154680"/>
            <a:ext cx="1207008" cy="457200"/>
          </a:xfrm>
          <a:prstGeom prst="roundRect">
            <a:avLst>
              <a:gd name="adj" fmla="val 14000"/>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7" name="Text 25"/>
          <p:cNvSpPr/>
          <p:nvPr/>
        </p:nvSpPr>
        <p:spPr>
          <a:xfrm>
            <a:off x="4206240" y="3154680"/>
            <a:ext cx="1115568" cy="457200"/>
          </a:xfrm>
          <a:prstGeom prst="rect">
            <a:avLst/>
          </a:prstGeom>
          <a:noFill/>
          <a:ln/>
        </p:spPr>
        <p:txBody>
          <a:bodyPr wrap="square" rtlCol="0" anchor="ctr"/>
          <a:lstStyle/>
          <a:p>
            <a:pPr marL="0" indent="0" algn="ctr">
              <a:buNone/>
            </a:pPr>
            <a:r>
              <a:rPr lang="en-US" sz="1300" b="1" dirty="0">
                <a:solidFill>
                  <a:srgbClr val="0E2747"/>
                </a:solidFill>
                <a:latin typeface="Trebuchet MS" pitchFamily="34" charset="0"/>
                <a:ea typeface="Trebuchet MS" pitchFamily="34" charset="-122"/>
                <a:cs typeface="Trebuchet MS" pitchFamily="34" charset="-120"/>
              </a:rPr>
              <a:t>c · d</a:t>
            </a:r>
            <a:endParaRPr lang="en-US" sz="1300" dirty="0"/>
          </a:p>
        </p:txBody>
      </p:sp>
      <p:sp>
        <p:nvSpPr>
          <p:cNvPr id="28" name="Text 26"/>
          <p:cNvSpPr/>
          <p:nvPr/>
        </p:nvSpPr>
        <p:spPr>
          <a:xfrm>
            <a:off x="5413248" y="2843784"/>
            <a:ext cx="365760" cy="457200"/>
          </a:xfrm>
          <a:prstGeom prst="rect">
            <a:avLst/>
          </a:prstGeom>
          <a:noFill/>
          <a:ln/>
        </p:spPr>
        <p:txBody>
          <a:bodyPr wrap="square" rtlCol="0" anchor="ctr"/>
          <a:lstStyle/>
          <a:p>
            <a:pPr marL="0" indent="0" algn="ctr">
              <a:buNone/>
            </a:pPr>
            <a:r>
              <a:rPr lang="en-US" sz="1400" dirty="0">
                <a:solidFill>
                  <a:srgbClr val="0E8FD0"/>
                </a:solidFill>
                <a:latin typeface="Calibri" pitchFamily="34" charset="0"/>
                <a:ea typeface="Calibri" pitchFamily="34" charset="-122"/>
                <a:cs typeface="Calibri" pitchFamily="34" charset="-120"/>
              </a:rPr>
              <a:t>►</a:t>
            </a:r>
            <a:endParaRPr lang="en-US" sz="1400" dirty="0"/>
          </a:p>
        </p:txBody>
      </p:sp>
      <p:sp>
        <p:nvSpPr>
          <p:cNvPr id="29" name="Shape 27"/>
          <p:cNvSpPr/>
          <p:nvPr/>
        </p:nvSpPr>
        <p:spPr>
          <a:xfrm>
            <a:off x="5806440" y="2743200"/>
            <a:ext cx="1325880" cy="713232"/>
          </a:xfrm>
          <a:prstGeom prst="roundRect">
            <a:avLst>
              <a:gd name="adj" fmla="val 8974"/>
            </a:avLst>
          </a:prstGeom>
          <a:solidFill>
            <a:srgbClr val="1A4FA0"/>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30" name="Text 28"/>
          <p:cNvSpPr/>
          <p:nvPr/>
        </p:nvSpPr>
        <p:spPr>
          <a:xfrm>
            <a:off x="5852160" y="2743200"/>
            <a:ext cx="1234440" cy="713232"/>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Shared</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Multiplier</a:t>
            </a:r>
            <a:endParaRPr lang="en-US" sz="1200" dirty="0"/>
          </a:p>
        </p:txBody>
      </p:sp>
      <p:sp>
        <p:nvSpPr>
          <p:cNvPr id="31" name="Shape 29"/>
          <p:cNvSpPr/>
          <p:nvPr/>
        </p:nvSpPr>
        <p:spPr>
          <a:xfrm>
            <a:off x="7543800" y="1993392"/>
            <a:ext cx="4160520" cy="768096"/>
          </a:xfrm>
          <a:prstGeom prst="rect">
            <a:avLst/>
          </a:prstGeom>
          <a:solidFill>
            <a:srgbClr val="F4F7FC"/>
          </a:solidFill>
          <a:ln w="12700">
            <a:solidFill>
              <a:srgbClr val="D5E0F0"/>
            </a:solidFill>
            <a:prstDash val="solid"/>
          </a:ln>
        </p:spPr>
        <p:txBody>
          <a:bodyPr/>
          <a:lstStyle/>
          <a:p>
            <a:endParaRPr lang="en-DE"/>
          </a:p>
        </p:txBody>
      </p:sp>
      <p:sp>
        <p:nvSpPr>
          <p:cNvPr id="32" name="Shape 30"/>
          <p:cNvSpPr/>
          <p:nvPr/>
        </p:nvSpPr>
        <p:spPr>
          <a:xfrm>
            <a:off x="7543800" y="1993392"/>
            <a:ext cx="91440" cy="768096"/>
          </a:xfrm>
          <a:prstGeom prst="rect">
            <a:avLst/>
          </a:prstGeom>
          <a:solidFill>
            <a:srgbClr val="D98A1E"/>
          </a:solidFill>
          <a:ln/>
        </p:spPr>
        <p:txBody>
          <a:bodyPr/>
          <a:lstStyle/>
          <a:p>
            <a:endParaRPr lang="en-DE"/>
          </a:p>
        </p:txBody>
      </p:sp>
      <p:sp>
        <p:nvSpPr>
          <p:cNvPr id="33" name="Text 31"/>
          <p:cNvSpPr/>
          <p:nvPr/>
        </p:nvSpPr>
        <p:spPr>
          <a:xfrm>
            <a:off x="7772400" y="2084832"/>
            <a:ext cx="3749040" cy="310896"/>
          </a:xfrm>
          <a:prstGeom prst="rect">
            <a:avLst/>
          </a:prstGeom>
          <a:noFill/>
          <a:ln/>
        </p:spPr>
        <p:txBody>
          <a:bodyPr wrap="square" rtlCol="0" anchor="ctr"/>
          <a:lstStyle/>
          <a:p>
            <a:pPr marL="0" indent="0">
              <a:buNone/>
            </a:pPr>
            <a:r>
              <a:rPr lang="en-US" sz="1400" b="1" dirty="0">
                <a:solidFill>
                  <a:srgbClr val="0E2747"/>
                </a:solidFill>
                <a:latin typeface="Trebuchet MS" pitchFamily="34" charset="0"/>
                <a:ea typeface="Trebuchet MS" pitchFamily="34" charset="-122"/>
                <a:cs typeface="Trebuchet MS" pitchFamily="34" charset="-120"/>
              </a:rPr>
              <a:t>Area Reduction</a:t>
            </a:r>
            <a:endParaRPr lang="en-US" sz="1400" dirty="0"/>
          </a:p>
        </p:txBody>
      </p:sp>
      <p:sp>
        <p:nvSpPr>
          <p:cNvPr id="34" name="Text 32"/>
          <p:cNvSpPr/>
          <p:nvPr/>
        </p:nvSpPr>
        <p:spPr>
          <a:xfrm>
            <a:off x="7772400" y="2395728"/>
            <a:ext cx="3749040" cy="310896"/>
          </a:xfrm>
          <a:prstGeom prst="rect">
            <a:avLst/>
          </a:prstGeom>
          <a:noFill/>
          <a:ln/>
        </p:spPr>
        <p:txBody>
          <a:bodyPr wrap="square" rtlCol="0" anchor="ctr"/>
          <a:lstStyle/>
          <a:p>
            <a:pPr marL="0" indent="0">
              <a:buNone/>
            </a:pPr>
            <a:r>
              <a:rPr lang="en-US" sz="1200" dirty="0">
                <a:solidFill>
                  <a:srgbClr val="33415C"/>
                </a:solidFill>
                <a:latin typeface="Calibri" pitchFamily="34" charset="0"/>
                <a:ea typeface="Calibri" pitchFamily="34" charset="-122"/>
                <a:cs typeface="Calibri" pitchFamily="34" charset="-120"/>
              </a:rPr>
              <a:t>Fewer hardware units on the die</a:t>
            </a:r>
            <a:endParaRPr lang="en-US" sz="1200" dirty="0"/>
          </a:p>
        </p:txBody>
      </p:sp>
      <p:sp>
        <p:nvSpPr>
          <p:cNvPr id="35" name="Shape 33"/>
          <p:cNvSpPr/>
          <p:nvPr/>
        </p:nvSpPr>
        <p:spPr>
          <a:xfrm>
            <a:off x="7543800" y="2907792"/>
            <a:ext cx="4160520" cy="768096"/>
          </a:xfrm>
          <a:prstGeom prst="rect">
            <a:avLst/>
          </a:prstGeom>
          <a:solidFill>
            <a:srgbClr val="F4F7FC"/>
          </a:solidFill>
          <a:ln w="12700">
            <a:solidFill>
              <a:srgbClr val="D5E0F0"/>
            </a:solidFill>
            <a:prstDash val="solid"/>
          </a:ln>
        </p:spPr>
        <p:txBody>
          <a:bodyPr/>
          <a:lstStyle/>
          <a:p>
            <a:endParaRPr lang="en-DE"/>
          </a:p>
        </p:txBody>
      </p:sp>
      <p:sp>
        <p:nvSpPr>
          <p:cNvPr id="36" name="Shape 34"/>
          <p:cNvSpPr/>
          <p:nvPr/>
        </p:nvSpPr>
        <p:spPr>
          <a:xfrm>
            <a:off x="7543800" y="2907792"/>
            <a:ext cx="91440" cy="768096"/>
          </a:xfrm>
          <a:prstGeom prst="rect">
            <a:avLst/>
          </a:prstGeom>
          <a:solidFill>
            <a:srgbClr val="0E8FD0"/>
          </a:solidFill>
          <a:ln/>
        </p:spPr>
        <p:txBody>
          <a:bodyPr/>
          <a:lstStyle/>
          <a:p>
            <a:endParaRPr lang="en-DE"/>
          </a:p>
        </p:txBody>
      </p:sp>
      <p:sp>
        <p:nvSpPr>
          <p:cNvPr id="37" name="Text 35"/>
          <p:cNvSpPr/>
          <p:nvPr/>
        </p:nvSpPr>
        <p:spPr>
          <a:xfrm>
            <a:off x="7772400" y="2999232"/>
            <a:ext cx="3749040" cy="310896"/>
          </a:xfrm>
          <a:prstGeom prst="rect">
            <a:avLst/>
          </a:prstGeom>
          <a:noFill/>
          <a:ln/>
        </p:spPr>
        <p:txBody>
          <a:bodyPr wrap="square" rtlCol="0" anchor="ctr"/>
          <a:lstStyle/>
          <a:p>
            <a:pPr marL="0" indent="0">
              <a:buNone/>
            </a:pPr>
            <a:r>
              <a:rPr lang="en-US" sz="1400" b="1" dirty="0">
                <a:solidFill>
                  <a:srgbClr val="0E2747"/>
                </a:solidFill>
                <a:latin typeface="Trebuchet MS" pitchFamily="34" charset="0"/>
                <a:ea typeface="Trebuchet MS" pitchFamily="34" charset="-122"/>
                <a:cs typeface="Trebuchet MS" pitchFamily="34" charset="-120"/>
              </a:rPr>
              <a:t>Power Reduction</a:t>
            </a:r>
            <a:endParaRPr lang="en-US" sz="1400" dirty="0"/>
          </a:p>
        </p:txBody>
      </p:sp>
      <p:sp>
        <p:nvSpPr>
          <p:cNvPr id="38" name="Text 36"/>
          <p:cNvSpPr/>
          <p:nvPr/>
        </p:nvSpPr>
        <p:spPr>
          <a:xfrm>
            <a:off x="7772400" y="3310128"/>
            <a:ext cx="3749040" cy="310896"/>
          </a:xfrm>
          <a:prstGeom prst="rect">
            <a:avLst/>
          </a:prstGeom>
          <a:noFill/>
          <a:ln/>
        </p:spPr>
        <p:txBody>
          <a:bodyPr wrap="square" rtlCol="0" anchor="ctr"/>
          <a:lstStyle/>
          <a:p>
            <a:pPr marL="0" indent="0">
              <a:buNone/>
            </a:pPr>
            <a:r>
              <a:rPr lang="en-US" sz="1200" dirty="0">
                <a:solidFill>
                  <a:srgbClr val="33415C"/>
                </a:solidFill>
                <a:latin typeface="Calibri" pitchFamily="34" charset="0"/>
                <a:ea typeface="Calibri" pitchFamily="34" charset="-122"/>
                <a:cs typeface="Calibri" pitchFamily="34" charset="-120"/>
              </a:rPr>
              <a:t>Less switching activity</a:t>
            </a:r>
            <a:endParaRPr lang="en-US" sz="1200" dirty="0"/>
          </a:p>
        </p:txBody>
      </p:sp>
      <p:sp>
        <p:nvSpPr>
          <p:cNvPr id="39" name="Shape 37"/>
          <p:cNvSpPr/>
          <p:nvPr/>
        </p:nvSpPr>
        <p:spPr>
          <a:xfrm>
            <a:off x="7543800" y="3822192"/>
            <a:ext cx="4160520" cy="768096"/>
          </a:xfrm>
          <a:prstGeom prst="rect">
            <a:avLst/>
          </a:prstGeom>
          <a:solidFill>
            <a:srgbClr val="F4F7FC"/>
          </a:solidFill>
          <a:ln w="12700">
            <a:solidFill>
              <a:srgbClr val="D5E0F0"/>
            </a:solidFill>
            <a:prstDash val="solid"/>
          </a:ln>
        </p:spPr>
        <p:txBody>
          <a:bodyPr/>
          <a:lstStyle/>
          <a:p>
            <a:endParaRPr lang="en-DE"/>
          </a:p>
        </p:txBody>
      </p:sp>
      <p:sp>
        <p:nvSpPr>
          <p:cNvPr id="40" name="Shape 38"/>
          <p:cNvSpPr/>
          <p:nvPr/>
        </p:nvSpPr>
        <p:spPr>
          <a:xfrm>
            <a:off x="7543800" y="3822192"/>
            <a:ext cx="91440" cy="768096"/>
          </a:xfrm>
          <a:prstGeom prst="rect">
            <a:avLst/>
          </a:prstGeom>
          <a:solidFill>
            <a:srgbClr val="2E9E5B"/>
          </a:solidFill>
          <a:ln/>
        </p:spPr>
        <p:txBody>
          <a:bodyPr/>
          <a:lstStyle/>
          <a:p>
            <a:endParaRPr lang="en-DE"/>
          </a:p>
        </p:txBody>
      </p:sp>
      <p:sp>
        <p:nvSpPr>
          <p:cNvPr id="41" name="Text 39"/>
          <p:cNvSpPr/>
          <p:nvPr/>
        </p:nvSpPr>
        <p:spPr>
          <a:xfrm>
            <a:off x="7772400" y="3913632"/>
            <a:ext cx="3749040" cy="310896"/>
          </a:xfrm>
          <a:prstGeom prst="rect">
            <a:avLst/>
          </a:prstGeom>
          <a:noFill/>
          <a:ln/>
        </p:spPr>
        <p:txBody>
          <a:bodyPr wrap="square" rtlCol="0" anchor="ctr"/>
          <a:lstStyle/>
          <a:p>
            <a:pPr marL="0" indent="0">
              <a:buNone/>
            </a:pPr>
            <a:r>
              <a:rPr lang="en-US" sz="1400" b="1" dirty="0">
                <a:solidFill>
                  <a:srgbClr val="0E2747"/>
                </a:solidFill>
                <a:latin typeface="Trebuchet MS" pitchFamily="34" charset="0"/>
                <a:ea typeface="Trebuchet MS" pitchFamily="34" charset="-122"/>
                <a:cs typeface="Trebuchet MS" pitchFamily="34" charset="-120"/>
              </a:rPr>
              <a:t>Cost Reduction</a:t>
            </a:r>
            <a:endParaRPr lang="en-US" sz="1400" dirty="0"/>
          </a:p>
        </p:txBody>
      </p:sp>
      <p:sp>
        <p:nvSpPr>
          <p:cNvPr id="42" name="Text 40"/>
          <p:cNvSpPr/>
          <p:nvPr/>
        </p:nvSpPr>
        <p:spPr>
          <a:xfrm>
            <a:off x="7772400" y="4224528"/>
            <a:ext cx="3749040" cy="310896"/>
          </a:xfrm>
          <a:prstGeom prst="rect">
            <a:avLst/>
          </a:prstGeom>
          <a:noFill/>
          <a:ln/>
        </p:spPr>
        <p:txBody>
          <a:bodyPr wrap="square" rtlCol="0" anchor="ctr"/>
          <a:lstStyle/>
          <a:p>
            <a:pPr marL="0" indent="0">
              <a:buNone/>
            </a:pPr>
            <a:r>
              <a:rPr lang="en-US" sz="1200" dirty="0">
                <a:solidFill>
                  <a:srgbClr val="33415C"/>
                </a:solidFill>
                <a:latin typeface="Calibri" pitchFamily="34" charset="0"/>
                <a:ea typeface="Calibri" pitchFamily="34" charset="-122"/>
                <a:cs typeface="Calibri" pitchFamily="34" charset="-120"/>
              </a:rPr>
              <a:t>Smaller FPGA / ASIC implementation</a:t>
            </a:r>
            <a:endParaRPr lang="en-US" sz="1200" dirty="0"/>
          </a:p>
        </p:txBody>
      </p:sp>
      <p:pic>
        <p:nvPicPr>
          <p:cNvPr id="43" name="Image 0" descr="/agent/turn1/workspace/images/image-04461fb3e83dbc7950380403513e0e75.jpg"/>
          <p:cNvPicPr>
            <a:picLocks noChangeAspect="1"/>
          </p:cNvPicPr>
          <p:nvPr/>
        </p:nvPicPr>
        <p:blipFill>
          <a:blip r:embed="rId3"/>
          <a:srcRect t="29223" b="29223"/>
          <a:stretch/>
        </p:blipFill>
        <p:spPr>
          <a:xfrm>
            <a:off x="502920" y="4069080"/>
            <a:ext cx="6766560" cy="1874520"/>
          </a:xfrm>
          <a:prstGeom prst="rect">
            <a:avLst/>
          </a:prstGeom>
        </p:spPr>
      </p:pic>
      <p:sp>
        <p:nvSpPr>
          <p:cNvPr id="44" name="Shape 41"/>
          <p:cNvSpPr/>
          <p:nvPr/>
        </p:nvSpPr>
        <p:spPr>
          <a:xfrm>
            <a:off x="502920" y="4069080"/>
            <a:ext cx="6766560" cy="1874520"/>
          </a:xfrm>
          <a:prstGeom prst="rect">
            <a:avLst/>
          </a:prstGeom>
          <a:ln w="12700">
            <a:solidFill>
              <a:srgbClr val="D5E0F0"/>
            </a:solidFill>
            <a:prstDash val="solid"/>
          </a:ln>
        </p:spPr>
        <p:txBody>
          <a:bodyPr/>
          <a:lstStyle/>
          <a:p>
            <a:endParaRPr lang="en-DE"/>
          </a:p>
        </p:txBody>
      </p:sp>
      <p:sp>
        <p:nvSpPr>
          <p:cNvPr id="45" name="Text 42"/>
          <p:cNvSpPr/>
          <p:nvPr/>
        </p:nvSpPr>
        <p:spPr>
          <a:xfrm>
            <a:off x="502920" y="5971032"/>
            <a:ext cx="6766560" cy="237744"/>
          </a:xfrm>
          <a:prstGeom prst="rect">
            <a:avLst/>
          </a:prstGeom>
          <a:noFill/>
          <a:ln/>
        </p:spPr>
        <p:txBody>
          <a:bodyPr wrap="square" rtlCol="0" anchor="ctr"/>
          <a:lstStyle/>
          <a:p>
            <a:pPr marL="0" indent="0" algn="l">
              <a:buNone/>
            </a:pPr>
            <a:r>
              <a:rPr lang="en-US" sz="800" i="1" dirty="0">
                <a:solidFill>
                  <a:srgbClr val="64748B"/>
                </a:solidFill>
                <a:latin typeface="Calibri" pitchFamily="34" charset="0"/>
                <a:ea typeface="Calibri" pitchFamily="34" charset="-122"/>
                <a:cs typeface="Calibri" pitchFamily="34" charset="-120"/>
              </a:rPr>
              <a:t>Fig. 3. Shared functional blocks (ALU / RAM) in an integrated circuit, illustrative [I3].</a:t>
            </a:r>
            <a:endParaRPr lang="en-US" sz="800" dirty="0"/>
          </a:p>
        </p:txBody>
      </p:sp>
      <p:sp>
        <p:nvSpPr>
          <p:cNvPr id="46" name="Text 43"/>
          <p:cNvSpPr/>
          <p:nvPr/>
        </p:nvSpPr>
        <p:spPr>
          <a:xfrm>
            <a:off x="502920" y="6473952"/>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Sharing  and Binding within High-Level Synthesis</a:t>
            </a:r>
            <a:endParaRPr lang="en-US" sz="900" dirty="0"/>
          </a:p>
        </p:txBody>
      </p:sp>
      <p:sp>
        <p:nvSpPr>
          <p:cNvPr id="47" name="Text 44"/>
          <p:cNvSpPr/>
          <p:nvPr/>
        </p:nvSpPr>
        <p:spPr>
          <a:xfrm>
            <a:off x="8229600" y="6473952"/>
            <a:ext cx="2743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HSHL  •  Seminar Presentation</a:t>
            </a:r>
            <a:endParaRPr lang="en-US" sz="900" dirty="0"/>
          </a:p>
        </p:txBody>
      </p:sp>
      <p:sp>
        <p:nvSpPr>
          <p:cNvPr id="48" name="Text 45"/>
          <p:cNvSpPr/>
          <p:nvPr/>
        </p:nvSpPr>
        <p:spPr>
          <a:xfrm>
            <a:off x="11155680" y="6473952"/>
            <a:ext cx="548640" cy="274320"/>
          </a:xfrm>
          <a:prstGeom prst="rect">
            <a:avLst/>
          </a:prstGeom>
          <a:noFill/>
          <a:ln/>
        </p:spPr>
        <p:txBody>
          <a:bodyPr wrap="square" rtlCol="0" anchor="ctr"/>
          <a:lstStyle/>
          <a:p>
            <a:pPr marL="0" indent="0" algn="r">
              <a:buNone/>
            </a:pPr>
            <a:r>
              <a:rPr lang="en-US" sz="1000" b="1" dirty="0">
                <a:solidFill>
                  <a:srgbClr val="1A4FA0"/>
                </a:solidFill>
                <a:latin typeface="Trebuchet MS" pitchFamily="34" charset="0"/>
                <a:ea typeface="Trebuchet MS" pitchFamily="34" charset="-122"/>
                <a:cs typeface="Trebuchet MS"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FFFFFF"/>
          </a:solidFill>
          <a:ln/>
        </p:spPr>
        <p:txBody>
          <a:bodyPr/>
          <a:lstStyle/>
          <a:p>
            <a:endParaRPr lang="en-DE"/>
          </a:p>
        </p:txBody>
      </p:sp>
      <p:sp>
        <p:nvSpPr>
          <p:cNvPr id="3" name="Shape 1"/>
          <p:cNvSpPr/>
          <p:nvPr/>
        </p:nvSpPr>
        <p:spPr>
          <a:xfrm>
            <a:off x="0" y="0"/>
            <a:ext cx="201168" cy="1078992"/>
          </a:xfrm>
          <a:prstGeom prst="rect">
            <a:avLst/>
          </a:prstGeom>
          <a:solidFill>
            <a:srgbClr val="1A4FA0"/>
          </a:solidFill>
          <a:ln/>
        </p:spPr>
        <p:txBody>
          <a:bodyPr/>
          <a:lstStyle/>
          <a:p>
            <a:endParaRPr lang="en-DE"/>
          </a:p>
        </p:txBody>
      </p:sp>
      <p:sp>
        <p:nvSpPr>
          <p:cNvPr id="4" name="Text 2"/>
          <p:cNvSpPr/>
          <p:nvPr/>
        </p:nvSpPr>
        <p:spPr>
          <a:xfrm>
            <a:off x="502920" y="182880"/>
            <a:ext cx="10515600" cy="274320"/>
          </a:xfrm>
          <a:prstGeom prst="rect">
            <a:avLst/>
          </a:prstGeom>
          <a:noFill/>
          <a:ln/>
        </p:spPr>
        <p:txBody>
          <a:bodyPr wrap="square" rtlCol="0" anchor="ctr"/>
          <a:lstStyle/>
          <a:p>
            <a:pPr marL="0" indent="0">
              <a:buNone/>
            </a:pPr>
            <a:r>
              <a:rPr lang="en-US" sz="1200" b="1" kern="0" spc="200" dirty="0">
                <a:solidFill>
                  <a:srgbClr val="0E8FD0"/>
                </a:solidFill>
                <a:latin typeface="Trebuchet MS" pitchFamily="34" charset="0"/>
                <a:ea typeface="Trebuchet MS" pitchFamily="34" charset="-122"/>
                <a:cs typeface="Trebuchet MS" pitchFamily="34" charset="-120"/>
              </a:rPr>
              <a:t>TAXONOMY</a:t>
            </a:r>
            <a:endParaRPr lang="en-US" sz="1200" dirty="0"/>
          </a:p>
        </p:txBody>
      </p:sp>
      <p:sp>
        <p:nvSpPr>
          <p:cNvPr id="5" name="Text 3"/>
          <p:cNvSpPr/>
          <p:nvPr/>
        </p:nvSpPr>
        <p:spPr>
          <a:xfrm>
            <a:off x="475488" y="420624"/>
            <a:ext cx="11247120" cy="566928"/>
          </a:xfrm>
          <a:prstGeom prst="rect">
            <a:avLst/>
          </a:prstGeom>
          <a:noFill/>
          <a:ln/>
        </p:spPr>
        <p:txBody>
          <a:bodyPr wrap="square" rtlCol="0" anchor="ctr"/>
          <a:lstStyle/>
          <a:p>
            <a:pPr marL="0" indent="0">
              <a:buNone/>
            </a:pPr>
            <a:r>
              <a:rPr lang="en-US" sz="2700" b="1" dirty="0">
                <a:solidFill>
                  <a:srgbClr val="0E2747"/>
                </a:solidFill>
                <a:latin typeface="Trebuchet MS" pitchFamily="34" charset="0"/>
                <a:ea typeface="Trebuchet MS" pitchFamily="34" charset="-122"/>
                <a:cs typeface="Trebuchet MS" pitchFamily="34" charset="-120"/>
              </a:rPr>
              <a:t>Types of Resource Sharing</a:t>
            </a:r>
            <a:endParaRPr lang="en-US" sz="2700" dirty="0"/>
          </a:p>
        </p:txBody>
      </p:sp>
      <p:sp>
        <p:nvSpPr>
          <p:cNvPr id="6" name="Shape 4"/>
          <p:cNvSpPr/>
          <p:nvPr/>
        </p:nvSpPr>
        <p:spPr>
          <a:xfrm>
            <a:off x="502920" y="1060704"/>
            <a:ext cx="11185855" cy="16459"/>
          </a:xfrm>
          <a:prstGeom prst="rect">
            <a:avLst/>
          </a:prstGeom>
          <a:solidFill>
            <a:srgbClr val="D5E0F0"/>
          </a:solidFill>
          <a:ln/>
        </p:spPr>
        <p:txBody>
          <a:bodyPr/>
          <a:lstStyle/>
          <a:p>
            <a:endParaRPr lang="en-DE"/>
          </a:p>
        </p:txBody>
      </p:sp>
      <p:sp>
        <p:nvSpPr>
          <p:cNvPr id="7" name="Shape 5"/>
          <p:cNvSpPr/>
          <p:nvPr/>
        </p:nvSpPr>
        <p:spPr>
          <a:xfrm>
            <a:off x="502920" y="1280160"/>
            <a:ext cx="2761488" cy="214884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8" name="Shape 6"/>
          <p:cNvSpPr/>
          <p:nvPr/>
        </p:nvSpPr>
        <p:spPr>
          <a:xfrm>
            <a:off x="502920" y="1280160"/>
            <a:ext cx="2761488" cy="109728"/>
          </a:xfrm>
          <a:prstGeom prst="rect">
            <a:avLst/>
          </a:prstGeom>
          <a:solidFill>
            <a:srgbClr val="1A4FA0"/>
          </a:solidFill>
          <a:ln/>
        </p:spPr>
        <p:txBody>
          <a:bodyPr/>
          <a:lstStyle/>
          <a:p>
            <a:endParaRPr lang="en-DE"/>
          </a:p>
        </p:txBody>
      </p:sp>
      <p:sp>
        <p:nvSpPr>
          <p:cNvPr id="9" name="Shape 7"/>
          <p:cNvSpPr/>
          <p:nvPr/>
        </p:nvSpPr>
        <p:spPr>
          <a:xfrm>
            <a:off x="731520" y="1572768"/>
            <a:ext cx="502920" cy="502920"/>
          </a:xfrm>
          <a:prstGeom prst="ellipse">
            <a:avLst/>
          </a:prstGeom>
          <a:solidFill>
            <a:srgbClr val="1A4FA0"/>
          </a:solidFill>
          <a:ln/>
        </p:spPr>
        <p:txBody>
          <a:bodyPr/>
          <a:lstStyle/>
          <a:p>
            <a:endParaRPr lang="en-DE"/>
          </a:p>
        </p:txBody>
      </p:sp>
      <p:sp>
        <p:nvSpPr>
          <p:cNvPr id="10" name="Text 8"/>
          <p:cNvSpPr/>
          <p:nvPr/>
        </p:nvSpPr>
        <p:spPr>
          <a:xfrm>
            <a:off x="731520" y="1572768"/>
            <a:ext cx="502920" cy="50292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11" name="Text 9"/>
          <p:cNvSpPr/>
          <p:nvPr/>
        </p:nvSpPr>
        <p:spPr>
          <a:xfrm>
            <a:off x="704088" y="2286000"/>
            <a:ext cx="2359152" cy="640080"/>
          </a:xfrm>
          <a:prstGeom prst="rect">
            <a:avLst/>
          </a:prstGeom>
          <a:noFill/>
          <a:ln/>
        </p:spPr>
        <p:txBody>
          <a:bodyPr wrap="square" rtlCol="0" anchor="t"/>
          <a:lstStyle/>
          <a:p>
            <a:pPr marL="0" indent="0">
              <a:buNone/>
            </a:pPr>
            <a:r>
              <a:rPr lang="en-US" sz="1500" b="1" dirty="0">
                <a:solidFill>
                  <a:srgbClr val="0E2747"/>
                </a:solidFill>
                <a:latin typeface="Trebuchet MS" pitchFamily="34" charset="0"/>
                <a:ea typeface="Trebuchet MS" pitchFamily="34" charset="-122"/>
                <a:cs typeface="Trebuchet MS" pitchFamily="34" charset="-120"/>
              </a:rPr>
              <a:t>Functional Unit Sharing</a:t>
            </a:r>
            <a:endParaRPr lang="en-US" sz="1500" dirty="0"/>
          </a:p>
        </p:txBody>
      </p:sp>
      <p:sp>
        <p:nvSpPr>
          <p:cNvPr id="12" name="Text 10"/>
          <p:cNvSpPr/>
          <p:nvPr/>
        </p:nvSpPr>
        <p:spPr>
          <a:xfrm>
            <a:off x="704088" y="2852928"/>
            <a:ext cx="2359152" cy="502920"/>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One multiplier or ALU used by multiple operations</a:t>
            </a:r>
            <a:endParaRPr lang="en-US" sz="1250" dirty="0"/>
          </a:p>
        </p:txBody>
      </p:sp>
      <p:sp>
        <p:nvSpPr>
          <p:cNvPr id="13" name="Shape 11"/>
          <p:cNvSpPr/>
          <p:nvPr/>
        </p:nvSpPr>
        <p:spPr>
          <a:xfrm>
            <a:off x="3429000" y="1280160"/>
            <a:ext cx="2761488" cy="214884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4" name="Shape 12"/>
          <p:cNvSpPr/>
          <p:nvPr/>
        </p:nvSpPr>
        <p:spPr>
          <a:xfrm>
            <a:off x="3429000" y="1280160"/>
            <a:ext cx="2761488" cy="109728"/>
          </a:xfrm>
          <a:prstGeom prst="rect">
            <a:avLst/>
          </a:prstGeom>
          <a:solidFill>
            <a:srgbClr val="0E8FD0"/>
          </a:solidFill>
          <a:ln/>
        </p:spPr>
        <p:txBody>
          <a:bodyPr/>
          <a:lstStyle/>
          <a:p>
            <a:endParaRPr lang="en-DE"/>
          </a:p>
        </p:txBody>
      </p:sp>
      <p:sp>
        <p:nvSpPr>
          <p:cNvPr id="15" name="Shape 13"/>
          <p:cNvSpPr/>
          <p:nvPr/>
        </p:nvSpPr>
        <p:spPr>
          <a:xfrm>
            <a:off x="3657600" y="1572768"/>
            <a:ext cx="502920" cy="502920"/>
          </a:xfrm>
          <a:prstGeom prst="ellipse">
            <a:avLst/>
          </a:prstGeom>
          <a:solidFill>
            <a:srgbClr val="0E8FD0"/>
          </a:solidFill>
          <a:ln/>
        </p:spPr>
        <p:txBody>
          <a:bodyPr/>
          <a:lstStyle/>
          <a:p>
            <a:endParaRPr lang="en-DE"/>
          </a:p>
        </p:txBody>
      </p:sp>
      <p:sp>
        <p:nvSpPr>
          <p:cNvPr id="16" name="Text 14"/>
          <p:cNvSpPr/>
          <p:nvPr/>
        </p:nvSpPr>
        <p:spPr>
          <a:xfrm>
            <a:off x="3657600" y="1572768"/>
            <a:ext cx="502920" cy="50292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17" name="Text 15"/>
          <p:cNvSpPr/>
          <p:nvPr/>
        </p:nvSpPr>
        <p:spPr>
          <a:xfrm>
            <a:off x="3630168" y="2286000"/>
            <a:ext cx="2359152" cy="640080"/>
          </a:xfrm>
          <a:prstGeom prst="rect">
            <a:avLst/>
          </a:prstGeom>
          <a:noFill/>
          <a:ln/>
        </p:spPr>
        <p:txBody>
          <a:bodyPr wrap="square" rtlCol="0" anchor="t"/>
          <a:lstStyle/>
          <a:p>
            <a:pPr marL="0" indent="0">
              <a:buNone/>
            </a:pPr>
            <a:r>
              <a:rPr lang="en-US" sz="1500" b="1" dirty="0">
                <a:solidFill>
                  <a:srgbClr val="0E2747"/>
                </a:solidFill>
                <a:latin typeface="Trebuchet MS" pitchFamily="34" charset="0"/>
                <a:ea typeface="Trebuchet MS" pitchFamily="34" charset="-122"/>
                <a:cs typeface="Trebuchet MS" pitchFamily="34" charset="-120"/>
              </a:rPr>
              <a:t>Register Sharing</a:t>
            </a:r>
            <a:endParaRPr lang="en-US" sz="1500" dirty="0"/>
          </a:p>
        </p:txBody>
      </p:sp>
      <p:sp>
        <p:nvSpPr>
          <p:cNvPr id="18" name="Text 16"/>
          <p:cNvSpPr/>
          <p:nvPr/>
        </p:nvSpPr>
        <p:spPr>
          <a:xfrm>
            <a:off x="3630168" y="2852928"/>
            <a:ext cx="2359152" cy="502920"/>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Multiple variables stored in the same register</a:t>
            </a:r>
            <a:endParaRPr lang="en-US" sz="1250" dirty="0"/>
          </a:p>
        </p:txBody>
      </p:sp>
      <p:sp>
        <p:nvSpPr>
          <p:cNvPr id="19" name="Shape 17"/>
          <p:cNvSpPr/>
          <p:nvPr/>
        </p:nvSpPr>
        <p:spPr>
          <a:xfrm>
            <a:off x="6355080" y="1280160"/>
            <a:ext cx="2761488" cy="214884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0" name="Shape 18"/>
          <p:cNvSpPr/>
          <p:nvPr/>
        </p:nvSpPr>
        <p:spPr>
          <a:xfrm>
            <a:off x="6355080" y="1280160"/>
            <a:ext cx="2761488" cy="109728"/>
          </a:xfrm>
          <a:prstGeom prst="rect">
            <a:avLst/>
          </a:prstGeom>
          <a:solidFill>
            <a:srgbClr val="D98A1E"/>
          </a:solidFill>
          <a:ln/>
        </p:spPr>
        <p:txBody>
          <a:bodyPr/>
          <a:lstStyle/>
          <a:p>
            <a:endParaRPr lang="en-DE"/>
          </a:p>
        </p:txBody>
      </p:sp>
      <p:sp>
        <p:nvSpPr>
          <p:cNvPr id="21" name="Shape 19"/>
          <p:cNvSpPr/>
          <p:nvPr/>
        </p:nvSpPr>
        <p:spPr>
          <a:xfrm>
            <a:off x="6583680" y="1572768"/>
            <a:ext cx="502920" cy="502920"/>
          </a:xfrm>
          <a:prstGeom prst="ellipse">
            <a:avLst/>
          </a:prstGeom>
          <a:solidFill>
            <a:srgbClr val="D98A1E"/>
          </a:solidFill>
          <a:ln/>
        </p:spPr>
        <p:txBody>
          <a:bodyPr/>
          <a:lstStyle/>
          <a:p>
            <a:endParaRPr lang="en-DE"/>
          </a:p>
        </p:txBody>
      </p:sp>
      <p:sp>
        <p:nvSpPr>
          <p:cNvPr id="22" name="Text 20"/>
          <p:cNvSpPr/>
          <p:nvPr/>
        </p:nvSpPr>
        <p:spPr>
          <a:xfrm>
            <a:off x="6583680" y="1572768"/>
            <a:ext cx="502920" cy="50292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23" name="Text 21"/>
          <p:cNvSpPr/>
          <p:nvPr/>
        </p:nvSpPr>
        <p:spPr>
          <a:xfrm>
            <a:off x="6556248" y="2286000"/>
            <a:ext cx="2359152" cy="640080"/>
          </a:xfrm>
          <a:prstGeom prst="rect">
            <a:avLst/>
          </a:prstGeom>
          <a:noFill/>
          <a:ln/>
        </p:spPr>
        <p:txBody>
          <a:bodyPr wrap="square" rtlCol="0" anchor="t"/>
          <a:lstStyle/>
          <a:p>
            <a:pPr marL="0" indent="0">
              <a:buNone/>
            </a:pPr>
            <a:r>
              <a:rPr lang="en-US" sz="1500" b="1" dirty="0">
                <a:solidFill>
                  <a:srgbClr val="0E2747"/>
                </a:solidFill>
                <a:latin typeface="Trebuchet MS" pitchFamily="34" charset="0"/>
                <a:ea typeface="Trebuchet MS" pitchFamily="34" charset="-122"/>
                <a:cs typeface="Trebuchet MS" pitchFamily="34" charset="-120"/>
              </a:rPr>
              <a:t>Memory Sharing</a:t>
            </a:r>
            <a:endParaRPr lang="en-US" sz="1500" dirty="0"/>
          </a:p>
        </p:txBody>
      </p:sp>
      <p:sp>
        <p:nvSpPr>
          <p:cNvPr id="24" name="Text 22"/>
          <p:cNvSpPr/>
          <p:nvPr/>
        </p:nvSpPr>
        <p:spPr>
          <a:xfrm>
            <a:off x="6556248" y="2852928"/>
            <a:ext cx="2359152" cy="502920"/>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Common RAM / BRAM block for several arrays</a:t>
            </a:r>
            <a:r>
              <a:rPr lang="en-US" sz="1250">
                <a:solidFill>
                  <a:srgbClr val="33415C"/>
                </a:solidFill>
                <a:latin typeface="Calibri" pitchFamily="34" charset="0"/>
                <a:ea typeface="Calibri" pitchFamily="34" charset="-122"/>
                <a:cs typeface="Calibri" pitchFamily="34" charset="-120"/>
              </a:rPr>
              <a:t> [4]</a:t>
            </a:r>
            <a:endParaRPr lang="en-US" sz="1250" dirty="0"/>
          </a:p>
        </p:txBody>
      </p:sp>
      <p:sp>
        <p:nvSpPr>
          <p:cNvPr id="25" name="Shape 23"/>
          <p:cNvSpPr/>
          <p:nvPr/>
        </p:nvSpPr>
        <p:spPr>
          <a:xfrm>
            <a:off x="9281160" y="1280160"/>
            <a:ext cx="2761488" cy="214884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6" name="Shape 24"/>
          <p:cNvSpPr/>
          <p:nvPr/>
        </p:nvSpPr>
        <p:spPr>
          <a:xfrm>
            <a:off x="9281160" y="1280160"/>
            <a:ext cx="2761488" cy="109728"/>
          </a:xfrm>
          <a:prstGeom prst="rect">
            <a:avLst/>
          </a:prstGeom>
          <a:solidFill>
            <a:srgbClr val="2E9E5B"/>
          </a:solidFill>
          <a:ln/>
        </p:spPr>
        <p:txBody>
          <a:bodyPr/>
          <a:lstStyle/>
          <a:p>
            <a:endParaRPr lang="en-DE"/>
          </a:p>
        </p:txBody>
      </p:sp>
      <p:sp>
        <p:nvSpPr>
          <p:cNvPr id="27" name="Shape 25"/>
          <p:cNvSpPr/>
          <p:nvPr/>
        </p:nvSpPr>
        <p:spPr>
          <a:xfrm>
            <a:off x="9509760" y="1572768"/>
            <a:ext cx="502920" cy="502920"/>
          </a:xfrm>
          <a:prstGeom prst="ellipse">
            <a:avLst/>
          </a:prstGeom>
          <a:solidFill>
            <a:srgbClr val="2E9E5B"/>
          </a:solidFill>
          <a:ln/>
        </p:spPr>
        <p:txBody>
          <a:bodyPr/>
          <a:lstStyle/>
          <a:p>
            <a:endParaRPr lang="en-DE"/>
          </a:p>
        </p:txBody>
      </p:sp>
      <p:sp>
        <p:nvSpPr>
          <p:cNvPr id="28" name="Text 26"/>
          <p:cNvSpPr/>
          <p:nvPr/>
        </p:nvSpPr>
        <p:spPr>
          <a:xfrm>
            <a:off x="9509760" y="1572768"/>
            <a:ext cx="502920" cy="50292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29" name="Text 27"/>
          <p:cNvSpPr/>
          <p:nvPr/>
        </p:nvSpPr>
        <p:spPr>
          <a:xfrm>
            <a:off x="9482328" y="2286000"/>
            <a:ext cx="2359152" cy="640080"/>
          </a:xfrm>
          <a:prstGeom prst="rect">
            <a:avLst/>
          </a:prstGeom>
          <a:noFill/>
          <a:ln/>
        </p:spPr>
        <p:txBody>
          <a:bodyPr wrap="square" rtlCol="0" anchor="t"/>
          <a:lstStyle/>
          <a:p>
            <a:pPr marL="0" indent="0">
              <a:buNone/>
            </a:pPr>
            <a:r>
              <a:rPr lang="en-US" sz="1500" b="1" dirty="0">
                <a:solidFill>
                  <a:srgbClr val="0E2747"/>
                </a:solidFill>
                <a:latin typeface="Trebuchet MS" pitchFamily="34" charset="0"/>
                <a:ea typeface="Trebuchet MS" pitchFamily="34" charset="-122"/>
                <a:cs typeface="Trebuchet MS" pitchFamily="34" charset="-120"/>
              </a:rPr>
              <a:t>Bus Sharing</a:t>
            </a:r>
            <a:endParaRPr lang="en-US" sz="1500" dirty="0"/>
          </a:p>
        </p:txBody>
      </p:sp>
      <p:sp>
        <p:nvSpPr>
          <p:cNvPr id="30" name="Text 28"/>
          <p:cNvSpPr/>
          <p:nvPr/>
        </p:nvSpPr>
        <p:spPr>
          <a:xfrm>
            <a:off x="9482328" y="2852928"/>
            <a:ext cx="2359152" cy="502920"/>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Shared communication / interconnect channel</a:t>
            </a:r>
            <a:endParaRPr lang="en-US" sz="1250" dirty="0"/>
          </a:p>
        </p:txBody>
      </p:sp>
      <p:sp>
        <p:nvSpPr>
          <p:cNvPr id="31" name="Text 29"/>
          <p:cNvSpPr/>
          <p:nvPr/>
        </p:nvSpPr>
        <p:spPr>
          <a:xfrm>
            <a:off x="502920" y="3703320"/>
            <a:ext cx="7315200" cy="365760"/>
          </a:xfrm>
          <a:prstGeom prst="rect">
            <a:avLst/>
          </a:prstGeom>
          <a:noFill/>
          <a:ln/>
        </p:spPr>
        <p:txBody>
          <a:bodyPr wrap="square" rtlCol="0" anchor="ctr"/>
          <a:lstStyle/>
          <a:p>
            <a:pPr marL="0" indent="0">
              <a:buNone/>
            </a:pPr>
            <a:r>
              <a:rPr lang="en-US" sz="1600" b="1" dirty="0">
                <a:solidFill>
                  <a:srgbClr val="1A4FA0"/>
                </a:solidFill>
                <a:latin typeface="Trebuchet MS" pitchFamily="34" charset="0"/>
                <a:ea typeface="Trebuchet MS" pitchFamily="34" charset="-122"/>
                <a:cs typeface="Trebuchet MS" pitchFamily="34" charset="-120"/>
              </a:rPr>
              <a:t>Hardware Saved by Each Sharing Type</a:t>
            </a:r>
            <a:endParaRPr lang="en-US" sz="1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4114800"/>
          <a:ext cx="11201400" cy="2139696"/>
        </p:xfrm>
        <a:graphic>
          <a:graphicData uri="http://schemas.openxmlformats.org/drawingml/2006/table">
            <a:tbl>
              <a:tblPr/>
              <a:tblGrid>
                <a:gridCol w="2743200">
                  <a:extLst>
                    <a:ext uri="{9D8B030D-6E8A-4147-A177-3AD203B41FA5}">
                      <a16:colId xmlns:a16="http://schemas.microsoft.com/office/drawing/2014/main" val="20000"/>
                    </a:ext>
                  </a:extLst>
                </a:gridCol>
                <a:gridCol w="8458200">
                  <a:extLst>
                    <a:ext uri="{9D8B030D-6E8A-4147-A177-3AD203B41FA5}">
                      <a16:colId xmlns:a16="http://schemas.microsoft.com/office/drawing/2014/main" val="20001"/>
                    </a:ext>
                  </a:extLst>
                </a:gridCol>
              </a:tblGrid>
              <a:tr h="457200">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Sharing Type</a:t>
                      </a:r>
                      <a:endParaRPr lang="en-US" sz="1300" dirty="0">
                        <a:latin typeface="Trebuchet MS" charset="0"/>
                        <a:ea typeface="Trebuchet MS" charset="0"/>
                        <a:cs typeface="Trebuchet MS"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1A4FA0"/>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Hardware Resource Saved</a:t>
                      </a:r>
                      <a:endParaRPr lang="en-US" sz="1300" dirty="0">
                        <a:latin typeface="Trebuchet MS" charset="0"/>
                        <a:ea typeface="Trebuchet MS" charset="0"/>
                        <a:cs typeface="Trebuchet MS"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1A4FA0"/>
                    </a:solidFill>
                  </a:tcPr>
                </a:tc>
                <a:extLst>
                  <a:ext uri="{0D108BD9-81ED-4DB2-BD59-A6C34878D82A}">
                    <a16:rowId xmlns:a16="http://schemas.microsoft.com/office/drawing/2014/main" val="10000"/>
                  </a:ext>
                </a:extLst>
              </a:tr>
              <a:tr h="420624">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Functional Units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Multipliers, ALUs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Registers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Flip-flops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extLst>
                  <a:ext uri="{0D108BD9-81ED-4DB2-BD59-A6C34878D82A}">
                    <a16:rowId xmlns:a16="http://schemas.microsoft.com/office/drawing/2014/main" val="10002"/>
                  </a:ext>
                </a:extLst>
              </a:tr>
              <a:tr h="420624">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Memory</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Block RAM (BRAM)</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Buses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Interconnects / wiring</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extLst>
                  <a:ext uri="{0D108BD9-81ED-4DB2-BD59-A6C34878D82A}">
                    <a16:rowId xmlns:a16="http://schemas.microsoft.com/office/drawing/2014/main" val="10004"/>
                  </a:ext>
                </a:extLst>
              </a:tr>
            </a:tbl>
          </a:graphicData>
        </a:graphic>
      </p:graphicFrame>
      <p:sp>
        <p:nvSpPr>
          <p:cNvPr id="33" name="Text 30"/>
          <p:cNvSpPr/>
          <p:nvPr/>
        </p:nvSpPr>
        <p:spPr>
          <a:xfrm>
            <a:off x="502920" y="6473952"/>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Sharing and Binding within High-Level Synthesis</a:t>
            </a:r>
            <a:endParaRPr lang="en-US" sz="900" dirty="0"/>
          </a:p>
        </p:txBody>
      </p:sp>
      <p:sp>
        <p:nvSpPr>
          <p:cNvPr id="34" name="Text 31"/>
          <p:cNvSpPr/>
          <p:nvPr/>
        </p:nvSpPr>
        <p:spPr>
          <a:xfrm>
            <a:off x="8229600" y="6473952"/>
            <a:ext cx="2743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HSHL  •  Seminar Presentation</a:t>
            </a:r>
            <a:endParaRPr lang="en-US" sz="900" dirty="0"/>
          </a:p>
        </p:txBody>
      </p:sp>
      <p:sp>
        <p:nvSpPr>
          <p:cNvPr id="35" name="Text 32"/>
          <p:cNvSpPr/>
          <p:nvPr/>
        </p:nvSpPr>
        <p:spPr>
          <a:xfrm>
            <a:off x="11155680" y="6473952"/>
            <a:ext cx="548640" cy="274320"/>
          </a:xfrm>
          <a:prstGeom prst="rect">
            <a:avLst/>
          </a:prstGeom>
          <a:noFill/>
          <a:ln/>
        </p:spPr>
        <p:txBody>
          <a:bodyPr wrap="square" rtlCol="0" anchor="ctr"/>
          <a:lstStyle/>
          <a:p>
            <a:pPr marL="0" indent="0" algn="r">
              <a:buNone/>
            </a:pPr>
            <a:r>
              <a:rPr lang="en-US" sz="1000" b="1" dirty="0">
                <a:solidFill>
                  <a:srgbClr val="1A4FA0"/>
                </a:solidFill>
                <a:latin typeface="Trebuchet MS" pitchFamily="34" charset="0"/>
                <a:ea typeface="Trebuchet MS" pitchFamily="34" charset="-122"/>
                <a:cs typeface="Trebuchet MS"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FFFFFF"/>
          </a:solidFill>
          <a:ln/>
        </p:spPr>
        <p:txBody>
          <a:bodyPr/>
          <a:lstStyle/>
          <a:p>
            <a:endParaRPr lang="en-DE"/>
          </a:p>
        </p:txBody>
      </p:sp>
      <p:sp>
        <p:nvSpPr>
          <p:cNvPr id="3" name="Shape 1"/>
          <p:cNvSpPr/>
          <p:nvPr/>
        </p:nvSpPr>
        <p:spPr>
          <a:xfrm>
            <a:off x="0" y="0"/>
            <a:ext cx="201168" cy="1078992"/>
          </a:xfrm>
          <a:prstGeom prst="rect">
            <a:avLst/>
          </a:prstGeom>
          <a:solidFill>
            <a:srgbClr val="1A4FA0"/>
          </a:solidFill>
          <a:ln/>
        </p:spPr>
        <p:txBody>
          <a:bodyPr/>
          <a:lstStyle/>
          <a:p>
            <a:endParaRPr lang="en-DE"/>
          </a:p>
        </p:txBody>
      </p:sp>
      <p:sp>
        <p:nvSpPr>
          <p:cNvPr id="4" name="Text 2"/>
          <p:cNvSpPr/>
          <p:nvPr/>
        </p:nvSpPr>
        <p:spPr>
          <a:xfrm>
            <a:off x="502920" y="182880"/>
            <a:ext cx="10515600" cy="274320"/>
          </a:xfrm>
          <a:prstGeom prst="rect">
            <a:avLst/>
          </a:prstGeom>
          <a:noFill/>
          <a:ln/>
        </p:spPr>
        <p:txBody>
          <a:bodyPr wrap="square" rtlCol="0" anchor="ctr"/>
          <a:lstStyle/>
          <a:p>
            <a:pPr marL="0" indent="0">
              <a:buNone/>
            </a:pPr>
            <a:r>
              <a:rPr lang="en-US" sz="1200" b="1" kern="0" spc="200" dirty="0">
                <a:solidFill>
                  <a:srgbClr val="0E8FD0"/>
                </a:solidFill>
                <a:latin typeface="Trebuchet MS" pitchFamily="34" charset="0"/>
                <a:ea typeface="Trebuchet MS" pitchFamily="34" charset="-122"/>
                <a:cs typeface="Trebuchet MS" pitchFamily="34" charset="-120"/>
              </a:rPr>
              <a:t>BINDING</a:t>
            </a:r>
            <a:endParaRPr lang="en-US" sz="1200" dirty="0"/>
          </a:p>
        </p:txBody>
      </p:sp>
      <p:sp>
        <p:nvSpPr>
          <p:cNvPr id="5" name="Text 3"/>
          <p:cNvSpPr/>
          <p:nvPr/>
        </p:nvSpPr>
        <p:spPr>
          <a:xfrm>
            <a:off x="475488" y="420624"/>
            <a:ext cx="11247120" cy="566928"/>
          </a:xfrm>
          <a:prstGeom prst="rect">
            <a:avLst/>
          </a:prstGeom>
          <a:noFill/>
          <a:ln/>
        </p:spPr>
        <p:txBody>
          <a:bodyPr wrap="square" rtlCol="0" anchor="ctr"/>
          <a:lstStyle/>
          <a:p>
            <a:pPr marL="0" indent="0">
              <a:buNone/>
            </a:pPr>
            <a:r>
              <a:rPr lang="en-US" sz="2700" b="1" dirty="0">
                <a:solidFill>
                  <a:srgbClr val="0E2747"/>
                </a:solidFill>
                <a:latin typeface="Trebuchet MS" pitchFamily="34" charset="0"/>
                <a:ea typeface="Trebuchet MS" pitchFamily="34" charset="-122"/>
                <a:cs typeface="Trebuchet MS" pitchFamily="34" charset="-120"/>
              </a:rPr>
              <a:t>Binding in High-Level Synthesis</a:t>
            </a:r>
            <a:endParaRPr lang="en-US" sz="2700" dirty="0"/>
          </a:p>
        </p:txBody>
      </p:sp>
      <p:sp>
        <p:nvSpPr>
          <p:cNvPr id="6" name="Shape 4"/>
          <p:cNvSpPr/>
          <p:nvPr/>
        </p:nvSpPr>
        <p:spPr>
          <a:xfrm>
            <a:off x="502920" y="1060704"/>
            <a:ext cx="11185855" cy="16459"/>
          </a:xfrm>
          <a:prstGeom prst="rect">
            <a:avLst/>
          </a:prstGeom>
          <a:solidFill>
            <a:srgbClr val="D5E0F0"/>
          </a:solidFill>
          <a:ln/>
        </p:spPr>
        <p:txBody>
          <a:bodyPr/>
          <a:lstStyle/>
          <a:p>
            <a:endParaRPr lang="en-DE"/>
          </a:p>
        </p:txBody>
      </p:sp>
      <p:sp>
        <p:nvSpPr>
          <p:cNvPr id="7" name="Shape 5"/>
          <p:cNvSpPr/>
          <p:nvPr/>
        </p:nvSpPr>
        <p:spPr>
          <a:xfrm>
            <a:off x="502920" y="1234440"/>
            <a:ext cx="11201400" cy="640080"/>
          </a:xfrm>
          <a:prstGeom prst="rect">
            <a:avLst/>
          </a:prstGeom>
          <a:solidFill>
            <a:srgbClr val="F4F7FC"/>
          </a:solidFill>
          <a:ln w="12700">
            <a:solidFill>
              <a:srgbClr val="D5E0F0"/>
            </a:solidFill>
            <a:prstDash val="solid"/>
          </a:ln>
        </p:spPr>
        <p:txBody>
          <a:bodyPr/>
          <a:lstStyle/>
          <a:p>
            <a:endParaRPr lang="en-DE"/>
          </a:p>
        </p:txBody>
      </p:sp>
      <p:sp>
        <p:nvSpPr>
          <p:cNvPr id="8" name="Shape 6"/>
          <p:cNvSpPr/>
          <p:nvPr/>
        </p:nvSpPr>
        <p:spPr>
          <a:xfrm>
            <a:off x="502920" y="1234440"/>
            <a:ext cx="91440" cy="640080"/>
          </a:xfrm>
          <a:prstGeom prst="rect">
            <a:avLst/>
          </a:prstGeom>
          <a:solidFill>
            <a:srgbClr val="0E8FD0"/>
          </a:solidFill>
          <a:ln/>
        </p:spPr>
        <p:txBody>
          <a:bodyPr/>
          <a:lstStyle/>
          <a:p>
            <a:endParaRPr lang="en-DE"/>
          </a:p>
        </p:txBody>
      </p:sp>
      <p:sp>
        <p:nvSpPr>
          <p:cNvPr id="9" name="Text 7"/>
          <p:cNvSpPr/>
          <p:nvPr/>
        </p:nvSpPr>
        <p:spPr>
          <a:xfrm>
            <a:off x="777240" y="1234440"/>
            <a:ext cx="10698480" cy="640080"/>
          </a:xfrm>
          <a:prstGeom prst="rect">
            <a:avLst/>
          </a:prstGeom>
          <a:noFill/>
          <a:ln/>
        </p:spPr>
        <p:txBody>
          <a:bodyPr wrap="square" rtlCol="0" anchor="ctr"/>
          <a:lstStyle/>
          <a:p>
            <a:pPr marL="0" indent="0">
              <a:buNone/>
            </a:pPr>
            <a:r>
              <a:rPr lang="en-US" sz="1400" b="1" dirty="0">
                <a:solidFill>
                  <a:srgbClr val="0E2747"/>
                </a:solidFill>
                <a:latin typeface="Calibri" pitchFamily="34" charset="0"/>
                <a:ea typeface="Calibri" pitchFamily="34" charset="-122"/>
                <a:cs typeface="Calibri" pitchFamily="34" charset="-120"/>
              </a:rPr>
              <a:t>Definition.  </a:t>
            </a:r>
            <a:r>
              <a:rPr lang="en-US" sz="1400" dirty="0">
                <a:solidFill>
                  <a:srgbClr val="33415C"/>
                </a:solidFill>
                <a:latin typeface="Calibri" pitchFamily="34" charset="0"/>
                <a:ea typeface="Calibri" pitchFamily="34" charset="-122"/>
                <a:cs typeface="Calibri" pitchFamily="34" charset="-120"/>
              </a:rPr>
              <a:t>Binding maps scheduled operations and variables onto specific physical hardware resources.</a:t>
            </a:r>
            <a:endParaRPr lang="en-US" sz="1400" dirty="0"/>
          </a:p>
        </p:txBody>
      </p:sp>
      <p:sp>
        <p:nvSpPr>
          <p:cNvPr id="10" name="Shape 8"/>
          <p:cNvSpPr/>
          <p:nvPr/>
        </p:nvSpPr>
        <p:spPr>
          <a:xfrm>
            <a:off x="502920" y="2148840"/>
            <a:ext cx="3566160" cy="155448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1" name="Text 9"/>
          <p:cNvSpPr/>
          <p:nvPr/>
        </p:nvSpPr>
        <p:spPr>
          <a:xfrm>
            <a:off x="685800" y="2331720"/>
            <a:ext cx="3200400" cy="274320"/>
          </a:xfrm>
          <a:prstGeom prst="rect">
            <a:avLst/>
          </a:prstGeom>
          <a:noFill/>
          <a:ln/>
        </p:spPr>
        <p:txBody>
          <a:bodyPr wrap="square" rtlCol="0" anchor="ctr"/>
          <a:lstStyle/>
          <a:p>
            <a:pPr marL="0" indent="0">
              <a:buNone/>
            </a:pPr>
            <a:r>
              <a:rPr lang="en-US" sz="1200" b="1" kern="0" spc="100" dirty="0">
                <a:solidFill>
                  <a:srgbClr val="64748B"/>
                </a:solidFill>
                <a:latin typeface="Trebuchet MS" pitchFamily="34" charset="0"/>
                <a:ea typeface="Trebuchet MS" pitchFamily="34" charset="-122"/>
                <a:cs typeface="Trebuchet MS" pitchFamily="34" charset="-120"/>
              </a:rPr>
              <a:t>SCHEDULING ANSWERS</a:t>
            </a:r>
            <a:endParaRPr lang="en-US" sz="1200" dirty="0"/>
          </a:p>
        </p:txBody>
      </p:sp>
      <p:sp>
        <p:nvSpPr>
          <p:cNvPr id="12" name="Text 10"/>
          <p:cNvSpPr/>
          <p:nvPr/>
        </p:nvSpPr>
        <p:spPr>
          <a:xfrm>
            <a:off x="685800" y="2606040"/>
            <a:ext cx="3200400" cy="822960"/>
          </a:xfrm>
          <a:prstGeom prst="rect">
            <a:avLst/>
          </a:prstGeom>
          <a:noFill/>
          <a:ln/>
        </p:spPr>
        <p:txBody>
          <a:bodyPr wrap="square" rtlCol="0" anchor="ctr"/>
          <a:lstStyle/>
          <a:p>
            <a:pPr marL="0" indent="0">
              <a:buNone/>
            </a:pPr>
            <a:r>
              <a:rPr lang="en-US" sz="4400" b="1" dirty="0">
                <a:solidFill>
                  <a:srgbClr val="1A4FA0"/>
                </a:solidFill>
                <a:latin typeface="Trebuchet MS" pitchFamily="34" charset="0"/>
                <a:ea typeface="Trebuchet MS" pitchFamily="34" charset="-122"/>
                <a:cs typeface="Trebuchet MS" pitchFamily="34" charset="-120"/>
              </a:rPr>
              <a:t>WHEN?</a:t>
            </a:r>
            <a:endParaRPr lang="en-US" sz="4400" dirty="0"/>
          </a:p>
        </p:txBody>
      </p:sp>
      <p:sp>
        <p:nvSpPr>
          <p:cNvPr id="13" name="Shape 11"/>
          <p:cNvSpPr/>
          <p:nvPr/>
        </p:nvSpPr>
        <p:spPr>
          <a:xfrm>
            <a:off x="4251960" y="2148840"/>
            <a:ext cx="3566160" cy="1554480"/>
          </a:xfrm>
          <a:prstGeom prst="rect">
            <a:avLst/>
          </a:prstGeom>
          <a:solidFill>
            <a:srgbClr val="0E2747"/>
          </a:solidFill>
          <a:ln w="12700">
            <a:solidFill>
              <a:srgbClr val="0E2747"/>
            </a:solidFill>
            <a:prstDash val="solid"/>
          </a:ln>
          <a:effectLst>
            <a:outerShdw blurRad="88900" dist="25400" dir="5400000" algn="bl" rotWithShape="0">
              <a:srgbClr val="8AA0C0">
                <a:alpha val="28000"/>
              </a:srgbClr>
            </a:outerShdw>
          </a:effectLst>
        </p:spPr>
        <p:txBody>
          <a:bodyPr/>
          <a:lstStyle/>
          <a:p>
            <a:endParaRPr lang="en-DE"/>
          </a:p>
        </p:txBody>
      </p:sp>
      <p:sp>
        <p:nvSpPr>
          <p:cNvPr id="14" name="Text 12"/>
          <p:cNvSpPr/>
          <p:nvPr/>
        </p:nvSpPr>
        <p:spPr>
          <a:xfrm>
            <a:off x="4434840" y="2331720"/>
            <a:ext cx="3200400" cy="274320"/>
          </a:xfrm>
          <a:prstGeom prst="rect">
            <a:avLst/>
          </a:prstGeom>
          <a:noFill/>
          <a:ln/>
        </p:spPr>
        <p:txBody>
          <a:bodyPr wrap="square" rtlCol="0" anchor="ctr"/>
          <a:lstStyle/>
          <a:p>
            <a:pPr marL="0" indent="0">
              <a:buNone/>
            </a:pPr>
            <a:r>
              <a:rPr lang="en-US" sz="1200" b="1" kern="0" spc="100" dirty="0">
                <a:solidFill>
                  <a:srgbClr val="9DC2F0"/>
                </a:solidFill>
                <a:latin typeface="Trebuchet MS" pitchFamily="34" charset="0"/>
                <a:ea typeface="Trebuchet MS" pitchFamily="34" charset="-122"/>
                <a:cs typeface="Trebuchet MS" pitchFamily="34" charset="-120"/>
              </a:rPr>
              <a:t>BINDING ANSWERS</a:t>
            </a:r>
            <a:endParaRPr lang="en-US" sz="1200" dirty="0"/>
          </a:p>
        </p:txBody>
      </p:sp>
      <p:sp>
        <p:nvSpPr>
          <p:cNvPr id="15" name="Text 13"/>
          <p:cNvSpPr/>
          <p:nvPr/>
        </p:nvSpPr>
        <p:spPr>
          <a:xfrm>
            <a:off x="4434840" y="2606040"/>
            <a:ext cx="3200400" cy="822960"/>
          </a:xfrm>
          <a:prstGeom prst="rect">
            <a:avLst/>
          </a:prstGeom>
          <a:noFill/>
          <a:ln/>
        </p:spPr>
        <p:txBody>
          <a:bodyPr wrap="square" rtlCol="0" anchor="ctr"/>
          <a:lstStyle/>
          <a:p>
            <a:pPr marL="0" indent="0">
              <a:buNone/>
            </a:pPr>
            <a:r>
              <a:rPr lang="en-US" sz="4400" b="1" dirty="0">
                <a:solidFill>
                  <a:srgbClr val="0E8FD0"/>
                </a:solidFill>
                <a:latin typeface="Trebuchet MS" pitchFamily="34" charset="0"/>
                <a:ea typeface="Trebuchet MS" pitchFamily="34" charset="-122"/>
                <a:cs typeface="Trebuchet MS" pitchFamily="34" charset="-120"/>
              </a:rPr>
              <a:t>WHERE?</a:t>
            </a:r>
            <a:endParaRPr lang="en-US" sz="4400" dirty="0"/>
          </a:p>
        </p:txBody>
      </p:sp>
      <p:sp>
        <p:nvSpPr>
          <p:cNvPr id="16" name="Shape 14"/>
          <p:cNvSpPr/>
          <p:nvPr/>
        </p:nvSpPr>
        <p:spPr>
          <a:xfrm>
            <a:off x="502920" y="3977640"/>
            <a:ext cx="7315200" cy="2103120"/>
          </a:xfrm>
          <a:prstGeom prst="rect">
            <a:avLst/>
          </a:prstGeom>
          <a:solidFill>
            <a:srgbClr val="F4F7FC"/>
          </a:solidFill>
          <a:ln w="12700">
            <a:solidFill>
              <a:srgbClr val="D5E0F0"/>
            </a:solidFill>
            <a:prstDash val="solid"/>
          </a:ln>
        </p:spPr>
        <p:txBody>
          <a:bodyPr/>
          <a:lstStyle/>
          <a:p>
            <a:endParaRPr lang="en-DE"/>
          </a:p>
        </p:txBody>
      </p:sp>
      <p:sp>
        <p:nvSpPr>
          <p:cNvPr id="17" name="Text 15"/>
          <p:cNvSpPr/>
          <p:nvPr/>
        </p:nvSpPr>
        <p:spPr>
          <a:xfrm>
            <a:off x="685800" y="4114800"/>
            <a:ext cx="6949440" cy="365760"/>
          </a:xfrm>
          <a:prstGeom prst="rect">
            <a:avLst/>
          </a:prstGeom>
          <a:noFill/>
          <a:ln/>
        </p:spPr>
        <p:txBody>
          <a:bodyPr wrap="square" rtlCol="0" anchor="ctr"/>
          <a:lstStyle/>
          <a:p>
            <a:pPr marL="0" indent="0">
              <a:buNone/>
            </a:pPr>
            <a:r>
              <a:rPr lang="en-US" sz="1500" b="1" dirty="0">
                <a:solidFill>
                  <a:srgbClr val="1A4FA0"/>
                </a:solidFill>
                <a:latin typeface="Trebuchet MS" pitchFamily="34" charset="0"/>
                <a:ea typeface="Trebuchet MS" pitchFamily="34" charset="-122"/>
                <a:cs typeface="Trebuchet MS" pitchFamily="34" charset="-120"/>
              </a:rPr>
              <a:t>Example — Mapping Operations to a Resource</a:t>
            </a:r>
            <a:endParaRPr lang="en-US" sz="1500" dirty="0"/>
          </a:p>
        </p:txBody>
      </p:sp>
      <p:sp>
        <p:nvSpPr>
          <p:cNvPr id="18" name="Shape 16"/>
          <p:cNvSpPr/>
          <p:nvPr/>
        </p:nvSpPr>
        <p:spPr>
          <a:xfrm>
            <a:off x="731520" y="4617720"/>
            <a:ext cx="1828800" cy="457200"/>
          </a:xfrm>
          <a:prstGeom prst="roundRect">
            <a:avLst>
              <a:gd name="adj" fmla="val 14000"/>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9" name="Text 17"/>
          <p:cNvSpPr/>
          <p:nvPr/>
        </p:nvSpPr>
        <p:spPr>
          <a:xfrm>
            <a:off x="777240" y="4617720"/>
            <a:ext cx="1737360" cy="457200"/>
          </a:xfrm>
          <a:prstGeom prst="rect">
            <a:avLst/>
          </a:prstGeom>
          <a:noFill/>
          <a:ln/>
        </p:spPr>
        <p:txBody>
          <a:bodyPr wrap="square" rtlCol="0" anchor="ctr"/>
          <a:lstStyle/>
          <a:p>
            <a:pPr marL="0" indent="0" algn="ctr">
              <a:buNone/>
            </a:pPr>
            <a:r>
              <a:rPr lang="en-US" sz="1300" b="1" dirty="0">
                <a:solidFill>
                  <a:srgbClr val="0E2747"/>
                </a:solidFill>
                <a:latin typeface="Trebuchet MS" pitchFamily="34" charset="0"/>
                <a:ea typeface="Trebuchet MS" pitchFamily="34" charset="-122"/>
                <a:cs typeface="Trebuchet MS" pitchFamily="34" charset="-120"/>
              </a:rPr>
              <a:t>O1 = a · b</a:t>
            </a:r>
            <a:endParaRPr lang="en-US" sz="1300" dirty="0"/>
          </a:p>
        </p:txBody>
      </p:sp>
      <p:sp>
        <p:nvSpPr>
          <p:cNvPr id="20" name="Shape 18"/>
          <p:cNvSpPr/>
          <p:nvPr/>
        </p:nvSpPr>
        <p:spPr>
          <a:xfrm>
            <a:off x="731520" y="5212080"/>
            <a:ext cx="1828800" cy="457200"/>
          </a:xfrm>
          <a:prstGeom prst="roundRect">
            <a:avLst>
              <a:gd name="adj" fmla="val 14000"/>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1" name="Text 19"/>
          <p:cNvSpPr/>
          <p:nvPr/>
        </p:nvSpPr>
        <p:spPr>
          <a:xfrm>
            <a:off x="777240" y="5212080"/>
            <a:ext cx="1737360" cy="457200"/>
          </a:xfrm>
          <a:prstGeom prst="rect">
            <a:avLst/>
          </a:prstGeom>
          <a:noFill/>
          <a:ln/>
        </p:spPr>
        <p:txBody>
          <a:bodyPr wrap="square" rtlCol="0" anchor="ctr"/>
          <a:lstStyle/>
          <a:p>
            <a:pPr marL="0" indent="0" algn="ctr">
              <a:buNone/>
            </a:pPr>
            <a:r>
              <a:rPr lang="en-US" sz="1300" b="1" dirty="0">
                <a:solidFill>
                  <a:srgbClr val="0E2747"/>
                </a:solidFill>
                <a:latin typeface="Trebuchet MS" pitchFamily="34" charset="0"/>
                <a:ea typeface="Trebuchet MS" pitchFamily="34" charset="-122"/>
                <a:cs typeface="Trebuchet MS" pitchFamily="34" charset="-120"/>
              </a:rPr>
              <a:t>O2 = c · d</a:t>
            </a:r>
            <a:endParaRPr lang="en-US" sz="1300" dirty="0"/>
          </a:p>
        </p:txBody>
      </p:sp>
      <p:sp>
        <p:nvSpPr>
          <p:cNvPr id="22" name="Text 20"/>
          <p:cNvSpPr/>
          <p:nvPr/>
        </p:nvSpPr>
        <p:spPr>
          <a:xfrm>
            <a:off x="2697480" y="4617720"/>
            <a:ext cx="365760" cy="457200"/>
          </a:xfrm>
          <a:prstGeom prst="rect">
            <a:avLst/>
          </a:prstGeom>
          <a:noFill/>
          <a:ln/>
        </p:spPr>
        <p:txBody>
          <a:bodyPr wrap="square" rtlCol="0" anchor="ctr"/>
          <a:lstStyle/>
          <a:p>
            <a:pPr marL="0" indent="0" algn="ctr">
              <a:buNone/>
            </a:pPr>
            <a:r>
              <a:rPr lang="en-US" sz="1400" dirty="0">
                <a:solidFill>
                  <a:srgbClr val="0E8FD0"/>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2697480" y="5212080"/>
            <a:ext cx="365760" cy="457200"/>
          </a:xfrm>
          <a:prstGeom prst="rect">
            <a:avLst/>
          </a:prstGeom>
          <a:noFill/>
          <a:ln/>
        </p:spPr>
        <p:txBody>
          <a:bodyPr wrap="square" rtlCol="0" anchor="ctr"/>
          <a:lstStyle/>
          <a:p>
            <a:pPr marL="0" indent="0" algn="ctr">
              <a:buNone/>
            </a:pPr>
            <a:r>
              <a:rPr lang="en-US" sz="1400" dirty="0">
                <a:solidFill>
                  <a:srgbClr val="0E8FD0"/>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3200400" y="4892040"/>
            <a:ext cx="2011680" cy="548640"/>
          </a:xfrm>
          <a:prstGeom prst="roundRect">
            <a:avLst>
              <a:gd name="adj" fmla="val 11667"/>
            </a:avLst>
          </a:prstGeom>
          <a:solidFill>
            <a:srgbClr val="1A4FA0"/>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5" name="Text 23"/>
          <p:cNvSpPr/>
          <p:nvPr/>
        </p:nvSpPr>
        <p:spPr>
          <a:xfrm>
            <a:off x="3246120" y="4892040"/>
            <a:ext cx="1920240" cy="548640"/>
          </a:xfrm>
          <a:prstGeom prst="rect">
            <a:avLst/>
          </a:prstGeom>
          <a:noFill/>
          <a:ln/>
        </p:spPr>
        <p:txBody>
          <a:bodyPr wrap="square"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Multiplier M1</a:t>
            </a:r>
            <a:endParaRPr lang="en-US" sz="1300" dirty="0"/>
          </a:p>
        </p:txBody>
      </p:sp>
      <p:sp>
        <p:nvSpPr>
          <p:cNvPr id="26" name="Text 24"/>
          <p:cNvSpPr/>
          <p:nvPr/>
        </p:nvSpPr>
        <p:spPr>
          <a:xfrm>
            <a:off x="5440680" y="4617720"/>
            <a:ext cx="2194560" cy="1325880"/>
          </a:xfrm>
          <a:prstGeom prst="rect">
            <a:avLst/>
          </a:prstGeom>
          <a:noFill/>
          <a:ln/>
        </p:spPr>
        <p:txBody>
          <a:bodyPr wrap="square" rtlCol="0" anchor="ctr"/>
          <a:lstStyle/>
          <a:p>
            <a:pPr marL="0" indent="0">
              <a:buNone/>
            </a:pPr>
            <a:r>
              <a:rPr lang="en-US" sz="1250" dirty="0">
                <a:solidFill>
                  <a:srgbClr val="33415C"/>
                </a:solidFill>
                <a:latin typeface="Calibri" pitchFamily="34" charset="0"/>
                <a:ea typeface="Calibri" pitchFamily="34" charset="-122"/>
                <a:cs typeface="Calibri" pitchFamily="34" charset="-120"/>
              </a:rPr>
              <a:t>Both operations are bound to the same multiplier M1, executed at different clock cycles.</a:t>
            </a:r>
            <a:r>
              <a:rPr lang="en-US" sz="1250">
                <a:solidFill>
                  <a:srgbClr val="33415C"/>
                </a:solidFill>
                <a:latin typeface="Calibri" pitchFamily="34" charset="0"/>
                <a:ea typeface="Calibri" pitchFamily="34" charset="-122"/>
                <a:cs typeface="Calibri" pitchFamily="34" charset="-120"/>
              </a:rPr>
              <a:t> [7]</a:t>
            </a:r>
            <a:endParaRPr lang="en-US" sz="1250" dirty="0"/>
          </a:p>
        </p:txBody>
      </p:sp>
      <p:pic>
        <p:nvPicPr>
          <p:cNvPr id="27" name="Image 0" descr="/agent/turn1/workspace/images/image-04461fb3e83dbc7950380403513e0e75.jpg"/>
          <p:cNvPicPr>
            <a:picLocks noChangeAspect="1"/>
          </p:cNvPicPr>
          <p:nvPr/>
        </p:nvPicPr>
        <p:blipFill>
          <a:blip r:embed="rId3"/>
          <a:srcRect l="16667" r="16667"/>
          <a:stretch/>
        </p:blipFill>
        <p:spPr>
          <a:xfrm>
            <a:off x="8001000" y="2148840"/>
            <a:ext cx="3703320" cy="3703320"/>
          </a:xfrm>
          <a:prstGeom prst="rect">
            <a:avLst/>
          </a:prstGeom>
        </p:spPr>
      </p:pic>
      <p:sp>
        <p:nvSpPr>
          <p:cNvPr id="28" name="Shape 25"/>
          <p:cNvSpPr/>
          <p:nvPr/>
        </p:nvSpPr>
        <p:spPr>
          <a:xfrm>
            <a:off x="8001000" y="2148840"/>
            <a:ext cx="3703320" cy="3703320"/>
          </a:xfrm>
          <a:prstGeom prst="rect">
            <a:avLst/>
          </a:prstGeom>
          <a:ln w="12700">
            <a:solidFill>
              <a:srgbClr val="D5E0F0"/>
            </a:solidFill>
            <a:prstDash val="solid"/>
          </a:ln>
        </p:spPr>
        <p:txBody>
          <a:bodyPr/>
          <a:lstStyle/>
          <a:p>
            <a:endParaRPr lang="en-DE"/>
          </a:p>
        </p:txBody>
      </p:sp>
      <p:sp>
        <p:nvSpPr>
          <p:cNvPr id="29" name="Text 26"/>
          <p:cNvSpPr/>
          <p:nvPr/>
        </p:nvSpPr>
        <p:spPr>
          <a:xfrm>
            <a:off x="8001000" y="5870448"/>
            <a:ext cx="3703320" cy="237744"/>
          </a:xfrm>
          <a:prstGeom prst="rect">
            <a:avLst/>
          </a:prstGeom>
          <a:noFill/>
          <a:ln/>
        </p:spPr>
        <p:txBody>
          <a:bodyPr wrap="square" rtlCol="0" anchor="ctr"/>
          <a:lstStyle/>
          <a:p>
            <a:pPr marL="0" indent="0" algn="l">
              <a:buNone/>
            </a:pPr>
            <a:r>
              <a:rPr lang="en-US" sz="800" i="1" dirty="0">
                <a:solidFill>
                  <a:srgbClr val="64748B"/>
                </a:solidFill>
                <a:latin typeface="Calibri" pitchFamily="34" charset="0"/>
                <a:ea typeface="Calibri" pitchFamily="34" charset="-122"/>
                <a:cs typeface="Calibri" pitchFamily="34" charset="-120"/>
              </a:rPr>
              <a:t>Fig. 4. Datapath resources on a chip, illustrative [I3].</a:t>
            </a:r>
            <a:endParaRPr lang="en-US" sz="800" dirty="0"/>
          </a:p>
        </p:txBody>
      </p:sp>
      <p:sp>
        <p:nvSpPr>
          <p:cNvPr id="30" name="Text 27"/>
          <p:cNvSpPr/>
          <p:nvPr/>
        </p:nvSpPr>
        <p:spPr>
          <a:xfrm>
            <a:off x="502920" y="6473952"/>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Sharing and Binding within High-Level Synthesis</a:t>
            </a:r>
            <a:endParaRPr lang="en-US" sz="900" dirty="0"/>
          </a:p>
        </p:txBody>
      </p:sp>
      <p:sp>
        <p:nvSpPr>
          <p:cNvPr id="31" name="Text 28"/>
          <p:cNvSpPr/>
          <p:nvPr/>
        </p:nvSpPr>
        <p:spPr>
          <a:xfrm>
            <a:off x="8229600" y="6473952"/>
            <a:ext cx="2743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HSHL  •  Seminar Presentation</a:t>
            </a:r>
            <a:endParaRPr lang="en-US" sz="900" dirty="0"/>
          </a:p>
        </p:txBody>
      </p:sp>
      <p:sp>
        <p:nvSpPr>
          <p:cNvPr id="32" name="Text 29"/>
          <p:cNvSpPr/>
          <p:nvPr/>
        </p:nvSpPr>
        <p:spPr>
          <a:xfrm>
            <a:off x="11155680" y="6473952"/>
            <a:ext cx="548640" cy="274320"/>
          </a:xfrm>
          <a:prstGeom prst="rect">
            <a:avLst/>
          </a:prstGeom>
          <a:noFill/>
          <a:ln/>
        </p:spPr>
        <p:txBody>
          <a:bodyPr wrap="square" rtlCol="0" anchor="ctr"/>
          <a:lstStyle/>
          <a:p>
            <a:pPr marL="0" indent="0" algn="r">
              <a:buNone/>
            </a:pPr>
            <a:r>
              <a:rPr lang="en-US" sz="1000" b="1" dirty="0">
                <a:solidFill>
                  <a:srgbClr val="1A4FA0"/>
                </a:solidFill>
                <a:latin typeface="Trebuchet MS" pitchFamily="34" charset="0"/>
                <a:ea typeface="Trebuchet MS" pitchFamily="34" charset="-122"/>
                <a:cs typeface="Trebuchet MS"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FFFFFF"/>
          </a:solidFill>
          <a:ln/>
        </p:spPr>
        <p:txBody>
          <a:bodyPr/>
          <a:lstStyle/>
          <a:p>
            <a:endParaRPr lang="en-DE"/>
          </a:p>
        </p:txBody>
      </p:sp>
      <p:sp>
        <p:nvSpPr>
          <p:cNvPr id="3" name="Shape 1"/>
          <p:cNvSpPr/>
          <p:nvPr/>
        </p:nvSpPr>
        <p:spPr>
          <a:xfrm>
            <a:off x="0" y="0"/>
            <a:ext cx="201168" cy="1078992"/>
          </a:xfrm>
          <a:prstGeom prst="rect">
            <a:avLst/>
          </a:prstGeom>
          <a:solidFill>
            <a:srgbClr val="1A4FA0"/>
          </a:solidFill>
          <a:ln/>
        </p:spPr>
        <p:txBody>
          <a:bodyPr/>
          <a:lstStyle/>
          <a:p>
            <a:endParaRPr lang="en-DE"/>
          </a:p>
        </p:txBody>
      </p:sp>
      <p:sp>
        <p:nvSpPr>
          <p:cNvPr id="4" name="Text 2"/>
          <p:cNvSpPr/>
          <p:nvPr/>
        </p:nvSpPr>
        <p:spPr>
          <a:xfrm>
            <a:off x="502920" y="182880"/>
            <a:ext cx="10515600" cy="274320"/>
          </a:xfrm>
          <a:prstGeom prst="rect">
            <a:avLst/>
          </a:prstGeom>
          <a:noFill/>
          <a:ln/>
        </p:spPr>
        <p:txBody>
          <a:bodyPr wrap="square" rtlCol="0" anchor="ctr"/>
          <a:lstStyle/>
          <a:p>
            <a:pPr marL="0" indent="0">
              <a:buNone/>
            </a:pPr>
            <a:r>
              <a:rPr lang="en-US" sz="1200" b="1" kern="0" spc="200" dirty="0">
                <a:solidFill>
                  <a:srgbClr val="0E8FD0"/>
                </a:solidFill>
                <a:latin typeface="Trebuchet MS" pitchFamily="34" charset="0"/>
                <a:ea typeface="Trebuchet MS" pitchFamily="34" charset="-122"/>
                <a:cs typeface="Trebuchet MS" pitchFamily="34" charset="-120"/>
              </a:rPr>
              <a:t>ALGORITHMS</a:t>
            </a:r>
            <a:endParaRPr lang="en-US" sz="1200" dirty="0"/>
          </a:p>
        </p:txBody>
      </p:sp>
      <p:sp>
        <p:nvSpPr>
          <p:cNvPr id="5" name="Text 3"/>
          <p:cNvSpPr/>
          <p:nvPr/>
        </p:nvSpPr>
        <p:spPr>
          <a:xfrm>
            <a:off x="475488" y="420624"/>
            <a:ext cx="11247120" cy="566928"/>
          </a:xfrm>
          <a:prstGeom prst="rect">
            <a:avLst/>
          </a:prstGeom>
          <a:noFill/>
          <a:ln/>
        </p:spPr>
        <p:txBody>
          <a:bodyPr wrap="square" rtlCol="0" anchor="ctr"/>
          <a:lstStyle/>
          <a:p>
            <a:pPr marL="0" indent="0">
              <a:buNone/>
            </a:pPr>
            <a:r>
              <a:rPr lang="en-US" sz="2700" b="1" dirty="0">
                <a:solidFill>
                  <a:srgbClr val="0E2747"/>
                </a:solidFill>
                <a:latin typeface="Trebuchet MS" pitchFamily="34" charset="0"/>
                <a:ea typeface="Trebuchet MS" pitchFamily="34" charset="-122"/>
                <a:cs typeface="Trebuchet MS" pitchFamily="34" charset="-120"/>
              </a:rPr>
              <a:t>Binding Algorithms</a:t>
            </a:r>
            <a:endParaRPr lang="en-US" sz="2700" dirty="0"/>
          </a:p>
        </p:txBody>
      </p:sp>
      <p:sp>
        <p:nvSpPr>
          <p:cNvPr id="6" name="Shape 4"/>
          <p:cNvSpPr/>
          <p:nvPr/>
        </p:nvSpPr>
        <p:spPr>
          <a:xfrm>
            <a:off x="502920" y="1060704"/>
            <a:ext cx="11185855" cy="16459"/>
          </a:xfrm>
          <a:prstGeom prst="rect">
            <a:avLst/>
          </a:prstGeom>
          <a:solidFill>
            <a:srgbClr val="D5E0F0"/>
          </a:solidFill>
          <a:ln/>
        </p:spPr>
        <p:txBody>
          <a:bodyPr/>
          <a:lstStyle/>
          <a:p>
            <a:endParaRPr lang="en-DE"/>
          </a:p>
        </p:txBody>
      </p:sp>
      <p:sp>
        <p:nvSpPr>
          <p:cNvPr id="7" name="Shape 5"/>
          <p:cNvSpPr/>
          <p:nvPr/>
        </p:nvSpPr>
        <p:spPr>
          <a:xfrm>
            <a:off x="502920" y="1280160"/>
            <a:ext cx="5486400" cy="141732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8" name="Shape 6"/>
          <p:cNvSpPr/>
          <p:nvPr/>
        </p:nvSpPr>
        <p:spPr>
          <a:xfrm>
            <a:off x="502920" y="1280160"/>
            <a:ext cx="822960" cy="1417320"/>
          </a:xfrm>
          <a:prstGeom prst="rect">
            <a:avLst/>
          </a:prstGeom>
          <a:solidFill>
            <a:srgbClr val="1A4FA0"/>
          </a:solidFill>
          <a:ln/>
        </p:spPr>
        <p:txBody>
          <a:bodyPr/>
          <a:lstStyle/>
          <a:p>
            <a:endParaRPr lang="en-DE"/>
          </a:p>
        </p:txBody>
      </p:sp>
      <p:sp>
        <p:nvSpPr>
          <p:cNvPr id="9" name="Text 7"/>
          <p:cNvSpPr/>
          <p:nvPr/>
        </p:nvSpPr>
        <p:spPr>
          <a:xfrm>
            <a:off x="502920" y="1280160"/>
            <a:ext cx="822960" cy="14173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1</a:t>
            </a:r>
            <a:endParaRPr lang="en-US" sz="3400" dirty="0"/>
          </a:p>
        </p:txBody>
      </p:sp>
      <p:sp>
        <p:nvSpPr>
          <p:cNvPr id="10" name="Text 8"/>
          <p:cNvSpPr/>
          <p:nvPr/>
        </p:nvSpPr>
        <p:spPr>
          <a:xfrm>
            <a:off x="1508760" y="1444752"/>
            <a:ext cx="4297680" cy="457200"/>
          </a:xfrm>
          <a:prstGeom prst="rect">
            <a:avLst/>
          </a:prstGeom>
          <a:noFill/>
          <a:ln/>
        </p:spPr>
        <p:txBody>
          <a:bodyPr wrap="square" rtlCol="0" anchor="ctr"/>
          <a:lstStyle/>
          <a:p>
            <a:pPr marL="0" indent="0">
              <a:buNone/>
            </a:pPr>
            <a:r>
              <a:rPr lang="en-US" sz="1600" b="1" dirty="0">
                <a:solidFill>
                  <a:srgbClr val="0E2747"/>
                </a:solidFill>
                <a:latin typeface="Trebuchet MS" pitchFamily="34" charset="0"/>
                <a:ea typeface="Trebuchet MS" pitchFamily="34" charset="-122"/>
                <a:cs typeface="Trebuchet MS" pitchFamily="34" charset="-120"/>
              </a:rPr>
              <a:t>Left-Edge Algorithm</a:t>
            </a:r>
            <a:endParaRPr lang="en-US" sz="1600" dirty="0"/>
          </a:p>
        </p:txBody>
      </p:sp>
      <p:sp>
        <p:nvSpPr>
          <p:cNvPr id="11" name="Text 9"/>
          <p:cNvSpPr/>
          <p:nvPr/>
        </p:nvSpPr>
        <p:spPr>
          <a:xfrm>
            <a:off x="1508760" y="1901952"/>
            <a:ext cx="4297680" cy="713232"/>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Commonly used for register binding; packs intervals like a colouring problem.</a:t>
            </a:r>
            <a:endParaRPr lang="en-US" sz="1250" dirty="0"/>
          </a:p>
        </p:txBody>
      </p:sp>
      <p:sp>
        <p:nvSpPr>
          <p:cNvPr id="12" name="Shape 10"/>
          <p:cNvSpPr/>
          <p:nvPr/>
        </p:nvSpPr>
        <p:spPr>
          <a:xfrm>
            <a:off x="6190488" y="1280160"/>
            <a:ext cx="5486400" cy="141732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3" name="Shape 11"/>
          <p:cNvSpPr/>
          <p:nvPr/>
        </p:nvSpPr>
        <p:spPr>
          <a:xfrm>
            <a:off x="6190488" y="1280160"/>
            <a:ext cx="822960" cy="1417320"/>
          </a:xfrm>
          <a:prstGeom prst="rect">
            <a:avLst/>
          </a:prstGeom>
          <a:solidFill>
            <a:srgbClr val="1A4FA0"/>
          </a:solidFill>
          <a:ln/>
        </p:spPr>
        <p:txBody>
          <a:bodyPr/>
          <a:lstStyle/>
          <a:p>
            <a:endParaRPr lang="en-DE"/>
          </a:p>
        </p:txBody>
      </p:sp>
      <p:sp>
        <p:nvSpPr>
          <p:cNvPr id="14" name="Text 12"/>
          <p:cNvSpPr/>
          <p:nvPr/>
        </p:nvSpPr>
        <p:spPr>
          <a:xfrm>
            <a:off x="6190488" y="1280160"/>
            <a:ext cx="822960" cy="14173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2</a:t>
            </a:r>
            <a:endParaRPr lang="en-US" sz="3400" dirty="0"/>
          </a:p>
        </p:txBody>
      </p:sp>
      <p:sp>
        <p:nvSpPr>
          <p:cNvPr id="15" name="Text 13"/>
          <p:cNvSpPr/>
          <p:nvPr/>
        </p:nvSpPr>
        <p:spPr>
          <a:xfrm>
            <a:off x="7196328" y="1444752"/>
            <a:ext cx="4297680" cy="457200"/>
          </a:xfrm>
          <a:prstGeom prst="rect">
            <a:avLst/>
          </a:prstGeom>
          <a:noFill/>
          <a:ln/>
        </p:spPr>
        <p:txBody>
          <a:bodyPr wrap="square" rtlCol="0" anchor="ctr"/>
          <a:lstStyle/>
          <a:p>
            <a:pPr marL="0" indent="0">
              <a:buNone/>
            </a:pPr>
            <a:r>
              <a:rPr lang="en-US" sz="1600" b="1" dirty="0">
                <a:solidFill>
                  <a:srgbClr val="0E2747"/>
                </a:solidFill>
                <a:latin typeface="Trebuchet MS" pitchFamily="34" charset="0"/>
                <a:ea typeface="Trebuchet MS" pitchFamily="34" charset="-122"/>
                <a:cs typeface="Trebuchet MS" pitchFamily="34" charset="-120"/>
              </a:rPr>
              <a:t>Compatibility Graph</a:t>
            </a:r>
            <a:endParaRPr lang="en-US" sz="1600" dirty="0"/>
          </a:p>
        </p:txBody>
      </p:sp>
      <p:sp>
        <p:nvSpPr>
          <p:cNvPr id="16" name="Text 14"/>
          <p:cNvSpPr/>
          <p:nvPr/>
        </p:nvSpPr>
        <p:spPr>
          <a:xfrm>
            <a:off x="7196328" y="1901952"/>
            <a:ext cx="4297680" cy="713232"/>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Operations whose lifetimes never overlap may share the same hardware.</a:t>
            </a:r>
            <a:endParaRPr lang="en-US" sz="1250" dirty="0"/>
          </a:p>
        </p:txBody>
      </p:sp>
      <p:sp>
        <p:nvSpPr>
          <p:cNvPr id="17" name="Shape 15"/>
          <p:cNvSpPr/>
          <p:nvPr/>
        </p:nvSpPr>
        <p:spPr>
          <a:xfrm>
            <a:off x="502920" y="2898648"/>
            <a:ext cx="5486400" cy="141732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8" name="Shape 16"/>
          <p:cNvSpPr/>
          <p:nvPr/>
        </p:nvSpPr>
        <p:spPr>
          <a:xfrm>
            <a:off x="502920" y="2898648"/>
            <a:ext cx="822960" cy="1417320"/>
          </a:xfrm>
          <a:prstGeom prst="rect">
            <a:avLst/>
          </a:prstGeom>
          <a:solidFill>
            <a:srgbClr val="1A4FA0"/>
          </a:solidFill>
          <a:ln/>
        </p:spPr>
        <p:txBody>
          <a:bodyPr/>
          <a:lstStyle/>
          <a:p>
            <a:endParaRPr lang="en-DE"/>
          </a:p>
        </p:txBody>
      </p:sp>
      <p:sp>
        <p:nvSpPr>
          <p:cNvPr id="19" name="Text 17"/>
          <p:cNvSpPr/>
          <p:nvPr/>
        </p:nvSpPr>
        <p:spPr>
          <a:xfrm>
            <a:off x="502920" y="2898648"/>
            <a:ext cx="822960" cy="14173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3</a:t>
            </a:r>
            <a:endParaRPr lang="en-US" sz="3400" dirty="0"/>
          </a:p>
        </p:txBody>
      </p:sp>
      <p:sp>
        <p:nvSpPr>
          <p:cNvPr id="20" name="Text 18"/>
          <p:cNvSpPr/>
          <p:nvPr/>
        </p:nvSpPr>
        <p:spPr>
          <a:xfrm>
            <a:off x="1508760" y="3063240"/>
            <a:ext cx="4297680" cy="457200"/>
          </a:xfrm>
          <a:prstGeom prst="rect">
            <a:avLst/>
          </a:prstGeom>
          <a:noFill/>
          <a:ln/>
        </p:spPr>
        <p:txBody>
          <a:bodyPr wrap="square" rtlCol="0" anchor="ctr"/>
          <a:lstStyle/>
          <a:p>
            <a:pPr marL="0" indent="0">
              <a:buNone/>
            </a:pPr>
            <a:r>
              <a:rPr lang="en-US" sz="1600" b="1" dirty="0">
                <a:solidFill>
                  <a:srgbClr val="0E2747"/>
                </a:solidFill>
                <a:latin typeface="Trebuchet MS" pitchFamily="34" charset="0"/>
                <a:ea typeface="Trebuchet MS" pitchFamily="34" charset="-122"/>
                <a:cs typeface="Trebuchet MS" pitchFamily="34" charset="-120"/>
              </a:rPr>
              <a:t>Clique Partitioning</a:t>
            </a:r>
            <a:endParaRPr lang="en-US" sz="1600" dirty="0"/>
          </a:p>
        </p:txBody>
      </p:sp>
      <p:sp>
        <p:nvSpPr>
          <p:cNvPr id="21" name="Text 19"/>
          <p:cNvSpPr/>
          <p:nvPr/>
        </p:nvSpPr>
        <p:spPr>
          <a:xfrm>
            <a:off x="1508760" y="3520440"/>
            <a:ext cx="4297680" cy="713232"/>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Groups mutually compatible operations into cliques to minimise resources.</a:t>
            </a:r>
            <a:endParaRPr lang="en-US" sz="1250" dirty="0"/>
          </a:p>
        </p:txBody>
      </p:sp>
      <p:sp>
        <p:nvSpPr>
          <p:cNvPr id="22" name="Shape 20"/>
          <p:cNvSpPr/>
          <p:nvPr/>
        </p:nvSpPr>
        <p:spPr>
          <a:xfrm>
            <a:off x="6190488" y="2898648"/>
            <a:ext cx="5486400" cy="141732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3" name="Shape 21"/>
          <p:cNvSpPr/>
          <p:nvPr/>
        </p:nvSpPr>
        <p:spPr>
          <a:xfrm>
            <a:off x="6190488" y="2898648"/>
            <a:ext cx="822960" cy="1417320"/>
          </a:xfrm>
          <a:prstGeom prst="rect">
            <a:avLst/>
          </a:prstGeom>
          <a:solidFill>
            <a:srgbClr val="1A4FA0"/>
          </a:solidFill>
          <a:ln/>
        </p:spPr>
        <p:txBody>
          <a:bodyPr/>
          <a:lstStyle/>
          <a:p>
            <a:endParaRPr lang="en-DE"/>
          </a:p>
        </p:txBody>
      </p:sp>
      <p:sp>
        <p:nvSpPr>
          <p:cNvPr id="24" name="Text 22"/>
          <p:cNvSpPr/>
          <p:nvPr/>
        </p:nvSpPr>
        <p:spPr>
          <a:xfrm>
            <a:off x="6190488" y="2898648"/>
            <a:ext cx="822960" cy="1417320"/>
          </a:xfrm>
          <a:prstGeom prst="rect">
            <a:avLst/>
          </a:prstGeom>
          <a:noFill/>
          <a:ln/>
        </p:spPr>
        <p:txBody>
          <a:bodyPr wrap="square" rtlCol="0" anchor="ctr"/>
          <a:lstStyle/>
          <a:p>
            <a:pPr marL="0" indent="0" algn="ctr">
              <a:buNone/>
            </a:pPr>
            <a:r>
              <a:rPr lang="en-US" sz="3400" b="1" dirty="0">
                <a:solidFill>
                  <a:srgbClr val="FFFFFF"/>
                </a:solidFill>
                <a:latin typeface="Trebuchet MS" pitchFamily="34" charset="0"/>
                <a:ea typeface="Trebuchet MS" pitchFamily="34" charset="-122"/>
                <a:cs typeface="Trebuchet MS" pitchFamily="34" charset="-120"/>
              </a:rPr>
              <a:t>4</a:t>
            </a:r>
            <a:endParaRPr lang="en-US" sz="3400" dirty="0"/>
          </a:p>
        </p:txBody>
      </p:sp>
      <p:sp>
        <p:nvSpPr>
          <p:cNvPr id="25" name="Text 23"/>
          <p:cNvSpPr/>
          <p:nvPr/>
        </p:nvSpPr>
        <p:spPr>
          <a:xfrm>
            <a:off x="7196328" y="3063240"/>
            <a:ext cx="4297680" cy="457200"/>
          </a:xfrm>
          <a:prstGeom prst="rect">
            <a:avLst/>
          </a:prstGeom>
          <a:noFill/>
          <a:ln/>
        </p:spPr>
        <p:txBody>
          <a:bodyPr wrap="square" rtlCol="0" anchor="ctr"/>
          <a:lstStyle/>
          <a:p>
            <a:pPr marL="0" indent="0">
              <a:buNone/>
            </a:pPr>
            <a:r>
              <a:rPr lang="en-US" sz="1600" b="1" dirty="0">
                <a:solidFill>
                  <a:srgbClr val="0E2747"/>
                </a:solidFill>
                <a:latin typeface="Trebuchet MS" pitchFamily="34" charset="0"/>
                <a:ea typeface="Trebuchet MS" pitchFamily="34" charset="-122"/>
                <a:cs typeface="Trebuchet MS" pitchFamily="34" charset="-120"/>
              </a:rPr>
              <a:t>Heuristic Algorithms</a:t>
            </a:r>
            <a:endParaRPr lang="en-US" sz="1600" dirty="0"/>
          </a:p>
        </p:txBody>
      </p:sp>
      <p:sp>
        <p:nvSpPr>
          <p:cNvPr id="26" name="Text 24"/>
          <p:cNvSpPr/>
          <p:nvPr/>
        </p:nvSpPr>
        <p:spPr>
          <a:xfrm>
            <a:off x="7196328" y="3520440"/>
            <a:ext cx="4297680" cy="713232"/>
          </a:xfrm>
          <a:prstGeom prst="rect">
            <a:avLst/>
          </a:prstGeom>
          <a:noFill/>
          <a:ln/>
        </p:spPr>
        <p:txBody>
          <a:bodyPr wrap="square" rtlCol="0" anchor="t"/>
          <a:lstStyle/>
          <a:p>
            <a:pPr marL="0" indent="0">
              <a:buNone/>
            </a:pPr>
            <a:r>
              <a:rPr lang="en-US" sz="1250" dirty="0">
                <a:solidFill>
                  <a:srgbClr val="33415C"/>
                </a:solidFill>
                <a:latin typeface="Calibri" pitchFamily="34" charset="0"/>
                <a:ea typeface="Calibri" pitchFamily="34" charset="-122"/>
                <a:cs typeface="Calibri" pitchFamily="34" charset="-120"/>
              </a:rPr>
              <a:t>Fast approximate methods used by modern industrial HLS tools.</a:t>
            </a:r>
            <a:r>
              <a:rPr lang="en-US" sz="1250">
                <a:solidFill>
                  <a:srgbClr val="33415C"/>
                </a:solidFill>
                <a:latin typeface="Calibri" pitchFamily="34" charset="0"/>
                <a:ea typeface="Calibri" pitchFamily="34" charset="-122"/>
                <a:cs typeface="Calibri" pitchFamily="34" charset="-120"/>
              </a:rPr>
              <a:t> [5], [6]</a:t>
            </a:r>
            <a:endParaRPr lang="en-US" sz="1250" dirty="0"/>
          </a:p>
        </p:txBody>
      </p:sp>
      <p:sp>
        <p:nvSpPr>
          <p:cNvPr id="27" name="Shape 25"/>
          <p:cNvSpPr/>
          <p:nvPr/>
        </p:nvSpPr>
        <p:spPr>
          <a:xfrm>
            <a:off x="502920" y="4526280"/>
            <a:ext cx="11201400" cy="1417320"/>
          </a:xfrm>
          <a:prstGeom prst="rect">
            <a:avLst/>
          </a:prstGeom>
          <a:solidFill>
            <a:srgbClr val="0E2747"/>
          </a:solidFill>
          <a:ln/>
          <a:effectLst>
            <a:outerShdw blurRad="88900" dist="25400" dir="5400000" algn="bl" rotWithShape="0">
              <a:srgbClr val="8AA0C0">
                <a:alpha val="28000"/>
              </a:srgbClr>
            </a:outerShdw>
          </a:effectLst>
        </p:spPr>
        <p:txBody>
          <a:bodyPr/>
          <a:lstStyle/>
          <a:p>
            <a:endParaRPr lang="en-DE"/>
          </a:p>
        </p:txBody>
      </p:sp>
      <p:sp>
        <p:nvSpPr>
          <p:cNvPr id="28" name="Text 26"/>
          <p:cNvSpPr/>
          <p:nvPr/>
        </p:nvSpPr>
        <p:spPr>
          <a:xfrm>
            <a:off x="777240" y="4681728"/>
            <a:ext cx="4572000" cy="292608"/>
          </a:xfrm>
          <a:prstGeom prst="rect">
            <a:avLst/>
          </a:prstGeom>
          <a:noFill/>
          <a:ln/>
        </p:spPr>
        <p:txBody>
          <a:bodyPr wrap="square" rtlCol="0" anchor="ctr"/>
          <a:lstStyle/>
          <a:p>
            <a:pPr marL="0" indent="0">
              <a:buNone/>
            </a:pPr>
            <a:r>
              <a:rPr lang="en-US" sz="1200" b="1" kern="0" spc="150" dirty="0">
                <a:solidFill>
                  <a:srgbClr val="0E8FD0"/>
                </a:solidFill>
                <a:latin typeface="Trebuchet MS" pitchFamily="34" charset="0"/>
                <a:ea typeface="Trebuchet MS" pitchFamily="34" charset="-122"/>
                <a:cs typeface="Trebuchet MS" pitchFamily="34" charset="-120"/>
              </a:rPr>
              <a:t>OPTIMIZATION GOAL</a:t>
            </a:r>
            <a:endParaRPr lang="en-US" sz="1200" dirty="0"/>
          </a:p>
        </p:txBody>
      </p:sp>
      <p:sp>
        <p:nvSpPr>
          <p:cNvPr id="29" name="Text 27"/>
          <p:cNvSpPr/>
          <p:nvPr/>
        </p:nvSpPr>
        <p:spPr>
          <a:xfrm>
            <a:off x="777240" y="4983480"/>
            <a:ext cx="5943600" cy="822960"/>
          </a:xfrm>
          <a:prstGeom prst="rect">
            <a:avLst/>
          </a:prstGeom>
          <a:noFill/>
          <a:ln/>
        </p:spPr>
        <p:txBody>
          <a:bodyPr wrap="square" rtlCol="0" anchor="ctr"/>
          <a:lstStyle/>
          <a:p>
            <a:pPr marL="0" indent="0">
              <a:buNone/>
            </a:pPr>
            <a:r>
              <a:rPr lang="en-US" sz="2000" dirty="0">
                <a:solidFill>
                  <a:srgbClr val="9DC2F0"/>
                </a:solidFill>
                <a:latin typeface="Trebuchet MS" pitchFamily="34" charset="0"/>
                <a:ea typeface="Trebuchet MS" pitchFamily="34" charset="-122"/>
                <a:cs typeface="Trebuchet MS" pitchFamily="34" charset="-120"/>
              </a:rPr>
              <a:t>Minimise  </a:t>
            </a:r>
            <a:r>
              <a:rPr lang="en-US" sz="2000" b="1" dirty="0">
                <a:solidFill>
                  <a:srgbClr val="FFFFFF"/>
                </a:solidFill>
                <a:latin typeface="Trebuchet MS" pitchFamily="34" charset="0"/>
                <a:ea typeface="Trebuchet MS" pitchFamily="34" charset="-122"/>
                <a:cs typeface="Trebuchet MS" pitchFamily="34" charset="-120"/>
              </a:rPr>
              <a:t>the number of hardware resources</a:t>
            </a:r>
            <a:endParaRPr lang="en-US" sz="2000" dirty="0"/>
          </a:p>
        </p:txBody>
      </p:sp>
      <p:sp>
        <p:nvSpPr>
          <p:cNvPr id="30" name="Shape 28"/>
          <p:cNvSpPr/>
          <p:nvPr/>
        </p:nvSpPr>
        <p:spPr>
          <a:xfrm>
            <a:off x="6766560" y="4800600"/>
            <a:ext cx="18288" cy="868680"/>
          </a:xfrm>
          <a:prstGeom prst="rect">
            <a:avLst/>
          </a:prstGeom>
          <a:solidFill>
            <a:srgbClr val="3A5680"/>
          </a:solidFill>
          <a:ln/>
        </p:spPr>
        <p:txBody>
          <a:bodyPr/>
          <a:lstStyle/>
          <a:p>
            <a:endParaRPr lang="en-DE"/>
          </a:p>
        </p:txBody>
      </p:sp>
      <p:sp>
        <p:nvSpPr>
          <p:cNvPr id="31" name="Text 29"/>
          <p:cNvSpPr/>
          <p:nvPr/>
        </p:nvSpPr>
        <p:spPr>
          <a:xfrm>
            <a:off x="7040880" y="4983480"/>
            <a:ext cx="4572000" cy="822960"/>
          </a:xfrm>
          <a:prstGeom prst="rect">
            <a:avLst/>
          </a:prstGeom>
          <a:noFill/>
          <a:ln/>
        </p:spPr>
        <p:txBody>
          <a:bodyPr wrap="square" rtlCol="0" anchor="ctr"/>
          <a:lstStyle/>
          <a:p>
            <a:pPr marL="0" indent="0">
              <a:buNone/>
            </a:pPr>
            <a:r>
              <a:rPr lang="en-US" sz="2000" dirty="0">
                <a:solidFill>
                  <a:srgbClr val="9DC2F0"/>
                </a:solidFill>
                <a:latin typeface="Trebuchet MS" pitchFamily="34" charset="0"/>
                <a:ea typeface="Trebuchet MS" pitchFamily="34" charset="-122"/>
                <a:cs typeface="Trebuchet MS" pitchFamily="34" charset="-120"/>
              </a:rPr>
              <a:t>Subject to  </a:t>
            </a:r>
            <a:r>
              <a:rPr lang="en-US" sz="2000" b="1" dirty="0">
                <a:solidFill>
                  <a:srgbClr val="FFFFFF"/>
                </a:solidFill>
                <a:latin typeface="Trebuchet MS" pitchFamily="34" charset="0"/>
                <a:ea typeface="Trebuchet MS" pitchFamily="34" charset="-122"/>
                <a:cs typeface="Trebuchet MS" pitchFamily="34" charset="-120"/>
              </a:rPr>
              <a:t>no timing conflicts</a:t>
            </a:r>
            <a:endParaRPr lang="en-US" sz="2000" dirty="0"/>
          </a:p>
        </p:txBody>
      </p:sp>
      <p:sp>
        <p:nvSpPr>
          <p:cNvPr id="32" name="Text 30"/>
          <p:cNvSpPr/>
          <p:nvPr/>
        </p:nvSpPr>
        <p:spPr>
          <a:xfrm>
            <a:off x="502920" y="6473952"/>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Sharing and Binding within High-Level Synthesis</a:t>
            </a:r>
            <a:endParaRPr lang="en-US" sz="900" dirty="0"/>
          </a:p>
        </p:txBody>
      </p:sp>
      <p:sp>
        <p:nvSpPr>
          <p:cNvPr id="33" name="Text 31"/>
          <p:cNvSpPr/>
          <p:nvPr/>
        </p:nvSpPr>
        <p:spPr>
          <a:xfrm>
            <a:off x="8229600" y="6473952"/>
            <a:ext cx="2743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HSHL  •  Seminar Presentation</a:t>
            </a:r>
            <a:endParaRPr lang="en-US" sz="900" dirty="0"/>
          </a:p>
        </p:txBody>
      </p:sp>
      <p:sp>
        <p:nvSpPr>
          <p:cNvPr id="34" name="Text 32"/>
          <p:cNvSpPr/>
          <p:nvPr/>
        </p:nvSpPr>
        <p:spPr>
          <a:xfrm>
            <a:off x="11155680" y="6473952"/>
            <a:ext cx="548640" cy="274320"/>
          </a:xfrm>
          <a:prstGeom prst="rect">
            <a:avLst/>
          </a:prstGeom>
          <a:noFill/>
          <a:ln/>
        </p:spPr>
        <p:txBody>
          <a:bodyPr wrap="square" rtlCol="0" anchor="ctr"/>
          <a:lstStyle/>
          <a:p>
            <a:pPr marL="0" indent="0" algn="r">
              <a:buNone/>
            </a:pPr>
            <a:r>
              <a:rPr lang="en-US" sz="1000" b="1" dirty="0">
                <a:solidFill>
                  <a:srgbClr val="1A4FA0"/>
                </a:solidFill>
                <a:latin typeface="Trebuchet MS" pitchFamily="34" charset="0"/>
                <a:ea typeface="Trebuchet MS" pitchFamily="34" charset="-122"/>
                <a:cs typeface="Trebuchet MS"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FFFFFF"/>
          </a:solidFill>
          <a:ln/>
        </p:spPr>
        <p:txBody>
          <a:bodyPr/>
          <a:lstStyle/>
          <a:p>
            <a:endParaRPr lang="en-DE"/>
          </a:p>
        </p:txBody>
      </p:sp>
      <p:sp>
        <p:nvSpPr>
          <p:cNvPr id="3" name="Shape 1"/>
          <p:cNvSpPr/>
          <p:nvPr/>
        </p:nvSpPr>
        <p:spPr>
          <a:xfrm>
            <a:off x="0" y="0"/>
            <a:ext cx="201168" cy="1078992"/>
          </a:xfrm>
          <a:prstGeom prst="rect">
            <a:avLst/>
          </a:prstGeom>
          <a:solidFill>
            <a:srgbClr val="1A4FA0"/>
          </a:solidFill>
          <a:ln/>
        </p:spPr>
        <p:txBody>
          <a:bodyPr/>
          <a:lstStyle/>
          <a:p>
            <a:endParaRPr lang="en-DE"/>
          </a:p>
        </p:txBody>
      </p:sp>
      <p:sp>
        <p:nvSpPr>
          <p:cNvPr id="4" name="Text 2"/>
          <p:cNvSpPr/>
          <p:nvPr/>
        </p:nvSpPr>
        <p:spPr>
          <a:xfrm>
            <a:off x="502920" y="182880"/>
            <a:ext cx="10515600" cy="274320"/>
          </a:xfrm>
          <a:prstGeom prst="rect">
            <a:avLst/>
          </a:prstGeom>
          <a:noFill/>
          <a:ln/>
        </p:spPr>
        <p:txBody>
          <a:bodyPr wrap="square" rtlCol="0" anchor="ctr"/>
          <a:lstStyle/>
          <a:p>
            <a:pPr marL="0" indent="0">
              <a:buNone/>
            </a:pPr>
            <a:r>
              <a:rPr lang="en-US" sz="1200" b="1" kern="0" spc="200" dirty="0">
                <a:solidFill>
                  <a:srgbClr val="0E8FD0"/>
                </a:solidFill>
                <a:latin typeface="Trebuchet MS" pitchFamily="34" charset="0"/>
                <a:ea typeface="Trebuchet MS" pitchFamily="34" charset="-122"/>
                <a:cs typeface="Trebuchet MS" pitchFamily="34" charset="-120"/>
              </a:rPr>
              <a:t>COMPARISON</a:t>
            </a:r>
            <a:endParaRPr lang="en-US" sz="1200" dirty="0"/>
          </a:p>
        </p:txBody>
      </p:sp>
      <p:sp>
        <p:nvSpPr>
          <p:cNvPr id="5" name="Text 3"/>
          <p:cNvSpPr/>
          <p:nvPr/>
        </p:nvSpPr>
        <p:spPr>
          <a:xfrm>
            <a:off x="475488" y="420624"/>
            <a:ext cx="11247120" cy="566928"/>
          </a:xfrm>
          <a:prstGeom prst="rect">
            <a:avLst/>
          </a:prstGeom>
          <a:noFill/>
          <a:ln/>
        </p:spPr>
        <p:txBody>
          <a:bodyPr wrap="square" rtlCol="0" anchor="ctr"/>
          <a:lstStyle/>
          <a:p>
            <a:pPr marL="0" indent="0">
              <a:buNone/>
            </a:pPr>
            <a:r>
              <a:rPr lang="en-US" sz="2700" b="1" dirty="0">
                <a:solidFill>
                  <a:srgbClr val="0E2747"/>
                </a:solidFill>
                <a:latin typeface="Trebuchet MS" pitchFamily="34" charset="0"/>
                <a:ea typeface="Trebuchet MS" pitchFamily="34" charset="-122"/>
                <a:cs typeface="Trebuchet MS" pitchFamily="34" charset="-120"/>
              </a:rPr>
              <a:t>Scheduling vs Binding</a:t>
            </a:r>
            <a:endParaRPr lang="en-US" sz="2700" dirty="0"/>
          </a:p>
        </p:txBody>
      </p:sp>
      <p:sp>
        <p:nvSpPr>
          <p:cNvPr id="6" name="Shape 4"/>
          <p:cNvSpPr/>
          <p:nvPr/>
        </p:nvSpPr>
        <p:spPr>
          <a:xfrm>
            <a:off x="502920" y="1060704"/>
            <a:ext cx="11185855" cy="16459"/>
          </a:xfrm>
          <a:prstGeom prst="rect">
            <a:avLst/>
          </a:prstGeom>
          <a:solidFill>
            <a:srgbClr val="D5E0F0"/>
          </a:solidFill>
          <a:ln/>
        </p:spPr>
        <p:txBody>
          <a:bodyPr/>
          <a:lstStyle/>
          <a:p>
            <a:endParaRPr lang="en-DE"/>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7315200" cy="3291840"/>
        </p:xfrm>
        <a:graphic>
          <a:graphicData uri="http://schemas.openxmlformats.org/drawingml/2006/table">
            <a:tbl>
              <a:tblPr/>
              <a:tblGrid>
                <a:gridCol w="19202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57200">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Feature</a:t>
                      </a:r>
                      <a:endParaRPr lang="en-US" sz="1300" dirty="0">
                        <a:latin typeface="Trebuchet MS" charset="0"/>
                        <a:ea typeface="Trebuchet MS" charset="0"/>
                        <a:cs typeface="Trebuchet MS"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1A4FA0"/>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Scheduling</a:t>
                      </a:r>
                      <a:endParaRPr lang="en-US" sz="1300" dirty="0">
                        <a:latin typeface="Trebuchet MS" charset="0"/>
                        <a:ea typeface="Trebuchet MS" charset="0"/>
                        <a:cs typeface="Trebuchet MS"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1A4FA0"/>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Binding</a:t>
                      </a:r>
                      <a:endParaRPr lang="en-US" sz="1300" dirty="0">
                        <a:latin typeface="Trebuchet MS" charset="0"/>
                        <a:ea typeface="Trebuchet MS" charset="0"/>
                        <a:cs typeface="Trebuchet MS"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0E2747"/>
                    </a:solidFill>
                  </a:tcPr>
                </a:tc>
                <a:extLst>
                  <a:ext uri="{0D108BD9-81ED-4DB2-BD59-A6C34878D82A}">
                    <a16:rowId xmlns:a16="http://schemas.microsoft.com/office/drawing/2014/main" val="10000"/>
                  </a:ext>
                </a:extLst>
              </a:tr>
              <a:tr h="566928">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Main Goal</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Assign execution time</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Assign hardware resource</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Data-flow graph (DFG)</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Scheduled DFG</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extLst>
                  <a:ext uri="{0D108BD9-81ED-4DB2-BD59-A6C34878D82A}">
                    <a16:rowId xmlns:a16="http://schemas.microsoft.com/office/drawing/2014/main" val="10002"/>
                  </a:ext>
                </a:extLst>
              </a:tr>
              <a:tr h="566928">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Control steps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Resource mapping</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Constraints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Data dependencies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Resource conflicts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extLst>
                  <a:ext uri="{0D108BD9-81ED-4DB2-BD59-A6C34878D82A}">
                    <a16:rowId xmlns:a16="http://schemas.microsoft.com/office/drawing/2014/main" val="10004"/>
                  </a:ext>
                </a:extLst>
              </a:tr>
              <a:tr h="566928">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Optimizes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Latency</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Calibri" pitchFamily="34" charset="0"/>
                          <a:ea typeface="Calibri" pitchFamily="34" charset="-122"/>
                          <a:cs typeface="Calibri" pitchFamily="34" charset="-120"/>
                        </a:rPr>
                        <a:t>Area</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5"/>
          <p:cNvSpPr/>
          <p:nvPr/>
        </p:nvSpPr>
        <p:spPr>
          <a:xfrm>
            <a:off x="8092440" y="1280160"/>
            <a:ext cx="3611880" cy="3621024"/>
          </a:xfrm>
          <a:prstGeom prst="rect">
            <a:avLst/>
          </a:prstGeom>
          <a:solidFill>
            <a:srgbClr val="F4F7FC"/>
          </a:solidFill>
          <a:ln w="12700">
            <a:solidFill>
              <a:srgbClr val="D5E0F0"/>
            </a:solidFill>
            <a:prstDash val="solid"/>
          </a:ln>
        </p:spPr>
        <p:txBody>
          <a:bodyPr/>
          <a:lstStyle/>
          <a:p>
            <a:endParaRPr lang="en-DE"/>
          </a:p>
        </p:txBody>
      </p:sp>
      <p:sp>
        <p:nvSpPr>
          <p:cNvPr id="7" name="Text 6"/>
          <p:cNvSpPr/>
          <p:nvPr/>
        </p:nvSpPr>
        <p:spPr>
          <a:xfrm>
            <a:off x="8321040" y="1463040"/>
            <a:ext cx="3200400" cy="365760"/>
          </a:xfrm>
          <a:prstGeom prst="rect">
            <a:avLst/>
          </a:prstGeom>
          <a:noFill/>
          <a:ln/>
        </p:spPr>
        <p:txBody>
          <a:bodyPr wrap="square" rtlCol="0" anchor="ctr"/>
          <a:lstStyle/>
          <a:p>
            <a:pPr marL="0" indent="0">
              <a:buNone/>
            </a:pPr>
            <a:r>
              <a:rPr lang="en-US" sz="1700" b="1" dirty="0">
                <a:solidFill>
                  <a:srgbClr val="1A4FA0"/>
                </a:solidFill>
                <a:latin typeface="Trebuchet MS" pitchFamily="34" charset="0"/>
                <a:ea typeface="Trebuchet MS" pitchFamily="34" charset="-122"/>
                <a:cs typeface="Trebuchet MS" pitchFamily="34" charset="-120"/>
              </a:rPr>
              <a:t>Key Difference</a:t>
            </a:r>
            <a:endParaRPr lang="en-US" sz="1700" dirty="0"/>
          </a:p>
        </p:txBody>
      </p:sp>
      <p:sp>
        <p:nvSpPr>
          <p:cNvPr id="10" name="Shape 7"/>
          <p:cNvSpPr/>
          <p:nvPr/>
        </p:nvSpPr>
        <p:spPr>
          <a:xfrm>
            <a:off x="8321040" y="1965960"/>
            <a:ext cx="3154680" cy="1234440"/>
          </a:xfrm>
          <a:prstGeom prst="rect">
            <a:avLst/>
          </a:prstGeom>
          <a:solidFill>
            <a:srgbClr val="FFFFFF"/>
          </a:solidFill>
          <a:ln w="12700">
            <a:solidFill>
              <a:srgbClr val="D5E0F0"/>
            </a:solidFill>
            <a:prstDash val="solid"/>
          </a:ln>
        </p:spPr>
        <p:txBody>
          <a:bodyPr/>
          <a:lstStyle/>
          <a:p>
            <a:endParaRPr lang="en-DE"/>
          </a:p>
        </p:txBody>
      </p:sp>
      <p:sp>
        <p:nvSpPr>
          <p:cNvPr id="11" name="Text 8"/>
          <p:cNvSpPr/>
          <p:nvPr/>
        </p:nvSpPr>
        <p:spPr>
          <a:xfrm>
            <a:off x="8458200" y="2103120"/>
            <a:ext cx="2834640" cy="274320"/>
          </a:xfrm>
          <a:prstGeom prst="rect">
            <a:avLst/>
          </a:prstGeom>
          <a:noFill/>
          <a:ln/>
        </p:spPr>
        <p:txBody>
          <a:bodyPr wrap="square" rtlCol="0" anchor="ctr"/>
          <a:lstStyle/>
          <a:p>
            <a:pPr marL="0" indent="0">
              <a:buNone/>
            </a:pPr>
            <a:r>
              <a:rPr lang="en-US" sz="1200" b="1" kern="0" spc="100" dirty="0">
                <a:solidFill>
                  <a:srgbClr val="64748B"/>
                </a:solidFill>
                <a:latin typeface="Trebuchet MS" pitchFamily="34" charset="0"/>
                <a:ea typeface="Trebuchet MS" pitchFamily="34" charset="-122"/>
                <a:cs typeface="Trebuchet MS" pitchFamily="34" charset="-120"/>
              </a:rPr>
              <a:t>SCHEDULING</a:t>
            </a:r>
            <a:endParaRPr lang="en-US" sz="1200" dirty="0"/>
          </a:p>
        </p:txBody>
      </p:sp>
      <p:sp>
        <p:nvSpPr>
          <p:cNvPr id="12" name="Text 9"/>
          <p:cNvSpPr/>
          <p:nvPr/>
        </p:nvSpPr>
        <p:spPr>
          <a:xfrm>
            <a:off x="8458200" y="2377440"/>
            <a:ext cx="2834640" cy="731520"/>
          </a:xfrm>
          <a:prstGeom prst="rect">
            <a:avLst/>
          </a:prstGeom>
          <a:noFill/>
          <a:ln/>
        </p:spPr>
        <p:txBody>
          <a:bodyPr wrap="square" rtlCol="0" anchor="ctr"/>
          <a:lstStyle/>
          <a:p>
            <a:pPr marL="0" indent="0">
              <a:buNone/>
            </a:pPr>
            <a:r>
              <a:rPr lang="en-US" sz="3400" b="1" dirty="0">
                <a:solidFill>
                  <a:srgbClr val="1A4FA0"/>
                </a:solidFill>
                <a:latin typeface="Trebuchet MS" pitchFamily="34" charset="0"/>
                <a:ea typeface="Trebuchet MS" pitchFamily="34" charset="-122"/>
                <a:cs typeface="Trebuchet MS" pitchFamily="34" charset="-120"/>
              </a:rPr>
              <a:t>WHEN?</a:t>
            </a:r>
            <a:endParaRPr lang="en-US" sz="3400" dirty="0"/>
          </a:p>
        </p:txBody>
      </p:sp>
      <p:sp>
        <p:nvSpPr>
          <p:cNvPr id="13" name="Shape 10"/>
          <p:cNvSpPr/>
          <p:nvPr/>
        </p:nvSpPr>
        <p:spPr>
          <a:xfrm>
            <a:off x="8321040" y="3337560"/>
            <a:ext cx="3154680" cy="1234440"/>
          </a:xfrm>
          <a:prstGeom prst="rect">
            <a:avLst/>
          </a:prstGeom>
          <a:solidFill>
            <a:srgbClr val="0E2747"/>
          </a:solidFill>
          <a:ln/>
        </p:spPr>
        <p:txBody>
          <a:bodyPr/>
          <a:lstStyle/>
          <a:p>
            <a:endParaRPr lang="en-DE"/>
          </a:p>
        </p:txBody>
      </p:sp>
      <p:sp>
        <p:nvSpPr>
          <p:cNvPr id="14" name="Text 11"/>
          <p:cNvSpPr/>
          <p:nvPr/>
        </p:nvSpPr>
        <p:spPr>
          <a:xfrm>
            <a:off x="8458200" y="3474720"/>
            <a:ext cx="2834640" cy="274320"/>
          </a:xfrm>
          <a:prstGeom prst="rect">
            <a:avLst/>
          </a:prstGeom>
          <a:noFill/>
          <a:ln/>
        </p:spPr>
        <p:txBody>
          <a:bodyPr wrap="square" rtlCol="0" anchor="ctr"/>
          <a:lstStyle/>
          <a:p>
            <a:pPr marL="0" indent="0">
              <a:buNone/>
            </a:pPr>
            <a:r>
              <a:rPr lang="en-US" sz="1200" b="1" kern="0" spc="100" dirty="0">
                <a:solidFill>
                  <a:srgbClr val="9DC2F0"/>
                </a:solidFill>
                <a:latin typeface="Trebuchet MS" pitchFamily="34" charset="0"/>
                <a:ea typeface="Trebuchet MS" pitchFamily="34" charset="-122"/>
                <a:cs typeface="Trebuchet MS" pitchFamily="34" charset="-120"/>
              </a:rPr>
              <a:t>BINDING</a:t>
            </a:r>
            <a:endParaRPr lang="en-US" sz="1200" dirty="0"/>
          </a:p>
        </p:txBody>
      </p:sp>
      <p:sp>
        <p:nvSpPr>
          <p:cNvPr id="15" name="Text 12"/>
          <p:cNvSpPr/>
          <p:nvPr/>
        </p:nvSpPr>
        <p:spPr>
          <a:xfrm>
            <a:off x="8458200" y="3749040"/>
            <a:ext cx="2834640" cy="731520"/>
          </a:xfrm>
          <a:prstGeom prst="rect">
            <a:avLst/>
          </a:prstGeom>
          <a:noFill/>
          <a:ln/>
        </p:spPr>
        <p:txBody>
          <a:bodyPr wrap="square" rtlCol="0" anchor="ctr"/>
          <a:lstStyle/>
          <a:p>
            <a:pPr marL="0" indent="0">
              <a:buNone/>
            </a:pPr>
            <a:r>
              <a:rPr lang="en-US" sz="3400" b="1" dirty="0">
                <a:solidFill>
                  <a:srgbClr val="0E8FD0"/>
                </a:solidFill>
                <a:latin typeface="Trebuchet MS" pitchFamily="34" charset="0"/>
                <a:ea typeface="Trebuchet MS" pitchFamily="34" charset="-122"/>
                <a:cs typeface="Trebuchet MS" pitchFamily="34" charset="-120"/>
              </a:rPr>
              <a:t>WHERE?</a:t>
            </a:r>
            <a:endParaRPr lang="en-US" sz="3400" dirty="0"/>
          </a:p>
        </p:txBody>
      </p:sp>
      <p:sp>
        <p:nvSpPr>
          <p:cNvPr id="16" name="Shape 13"/>
          <p:cNvSpPr/>
          <p:nvPr/>
        </p:nvSpPr>
        <p:spPr>
          <a:xfrm>
            <a:off x="502920" y="5166360"/>
            <a:ext cx="11201400" cy="868680"/>
          </a:xfrm>
          <a:prstGeom prst="rect">
            <a:avLst/>
          </a:prstGeom>
          <a:solidFill>
            <a:srgbClr val="0E2747"/>
          </a:solidFill>
          <a:ln/>
        </p:spPr>
        <p:txBody>
          <a:bodyPr/>
          <a:lstStyle/>
          <a:p>
            <a:endParaRPr lang="en-DE"/>
          </a:p>
        </p:txBody>
      </p:sp>
      <p:sp>
        <p:nvSpPr>
          <p:cNvPr id="17" name="Shape 14"/>
          <p:cNvSpPr/>
          <p:nvPr/>
        </p:nvSpPr>
        <p:spPr>
          <a:xfrm>
            <a:off x="502920" y="5166360"/>
            <a:ext cx="109728" cy="868680"/>
          </a:xfrm>
          <a:prstGeom prst="rect">
            <a:avLst/>
          </a:prstGeom>
          <a:solidFill>
            <a:srgbClr val="0E8FD0"/>
          </a:solidFill>
          <a:ln/>
        </p:spPr>
        <p:txBody>
          <a:bodyPr/>
          <a:lstStyle/>
          <a:p>
            <a:endParaRPr lang="en-DE"/>
          </a:p>
        </p:txBody>
      </p:sp>
      <p:sp>
        <p:nvSpPr>
          <p:cNvPr id="18" name="Text 15"/>
          <p:cNvSpPr/>
          <p:nvPr/>
        </p:nvSpPr>
        <p:spPr>
          <a:xfrm>
            <a:off x="822960" y="5166360"/>
            <a:ext cx="10698480" cy="86868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Scheduling fixes timing while binding fixes hardware assignment — </a:t>
            </a:r>
            <a:r>
              <a:rPr lang="en-US" sz="1450" dirty="0">
                <a:solidFill>
                  <a:srgbClr val="BBD6F2"/>
                </a:solidFill>
                <a:latin typeface="Calibri" pitchFamily="34" charset="0"/>
                <a:ea typeface="Calibri" pitchFamily="34" charset="-122"/>
                <a:cs typeface="Calibri" pitchFamily="34" charset="-120"/>
              </a:rPr>
              <a:t>the two stages cooperate to trade latency against area.</a:t>
            </a:r>
            <a:endParaRPr lang="en-US" sz="1450" dirty="0"/>
          </a:p>
        </p:txBody>
      </p:sp>
      <p:sp>
        <p:nvSpPr>
          <p:cNvPr id="19" name="Text 16"/>
          <p:cNvSpPr/>
          <p:nvPr/>
        </p:nvSpPr>
        <p:spPr>
          <a:xfrm>
            <a:off x="502920" y="6473952"/>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Sharing and Binding within High-Level Synthesis</a:t>
            </a:r>
            <a:endParaRPr lang="en-US" sz="900" dirty="0"/>
          </a:p>
        </p:txBody>
      </p:sp>
      <p:sp>
        <p:nvSpPr>
          <p:cNvPr id="20" name="Text 17"/>
          <p:cNvSpPr/>
          <p:nvPr/>
        </p:nvSpPr>
        <p:spPr>
          <a:xfrm>
            <a:off x="8229600" y="6473952"/>
            <a:ext cx="2743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HSHL  •  Seminar Presentation</a:t>
            </a:r>
            <a:endParaRPr lang="en-US" sz="900" dirty="0"/>
          </a:p>
        </p:txBody>
      </p:sp>
      <p:sp>
        <p:nvSpPr>
          <p:cNvPr id="21" name="Text 18"/>
          <p:cNvSpPr/>
          <p:nvPr/>
        </p:nvSpPr>
        <p:spPr>
          <a:xfrm>
            <a:off x="11155680" y="6473952"/>
            <a:ext cx="548640" cy="274320"/>
          </a:xfrm>
          <a:prstGeom prst="rect">
            <a:avLst/>
          </a:prstGeom>
          <a:noFill/>
          <a:ln/>
        </p:spPr>
        <p:txBody>
          <a:bodyPr wrap="square" rtlCol="0" anchor="ctr"/>
          <a:lstStyle/>
          <a:p>
            <a:pPr marL="0" indent="0" algn="r">
              <a:buNone/>
            </a:pPr>
            <a:r>
              <a:rPr lang="en-US" sz="1000" b="1" dirty="0">
                <a:solidFill>
                  <a:srgbClr val="1A4FA0"/>
                </a:solidFill>
                <a:latin typeface="Trebuchet MS" pitchFamily="34" charset="0"/>
                <a:ea typeface="Trebuchet MS" pitchFamily="34" charset="-122"/>
                <a:cs typeface="Trebuchet MS"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FFFFFF"/>
          </a:solidFill>
          <a:ln/>
        </p:spPr>
        <p:txBody>
          <a:bodyPr/>
          <a:lstStyle/>
          <a:p>
            <a:endParaRPr lang="en-DE"/>
          </a:p>
        </p:txBody>
      </p:sp>
      <p:sp>
        <p:nvSpPr>
          <p:cNvPr id="3" name="Shape 1"/>
          <p:cNvSpPr/>
          <p:nvPr/>
        </p:nvSpPr>
        <p:spPr>
          <a:xfrm>
            <a:off x="0" y="0"/>
            <a:ext cx="201168" cy="1078992"/>
          </a:xfrm>
          <a:prstGeom prst="rect">
            <a:avLst/>
          </a:prstGeom>
          <a:solidFill>
            <a:srgbClr val="1A4FA0"/>
          </a:solidFill>
          <a:ln/>
        </p:spPr>
        <p:txBody>
          <a:bodyPr/>
          <a:lstStyle/>
          <a:p>
            <a:endParaRPr lang="en-DE"/>
          </a:p>
        </p:txBody>
      </p:sp>
      <p:sp>
        <p:nvSpPr>
          <p:cNvPr id="4" name="Text 2"/>
          <p:cNvSpPr/>
          <p:nvPr/>
        </p:nvSpPr>
        <p:spPr>
          <a:xfrm>
            <a:off x="502920" y="182880"/>
            <a:ext cx="10515600" cy="274320"/>
          </a:xfrm>
          <a:prstGeom prst="rect">
            <a:avLst/>
          </a:prstGeom>
          <a:noFill/>
          <a:ln/>
        </p:spPr>
        <p:txBody>
          <a:bodyPr wrap="square" rtlCol="0" anchor="ctr"/>
          <a:lstStyle/>
          <a:p>
            <a:pPr marL="0" indent="0">
              <a:buNone/>
            </a:pPr>
            <a:r>
              <a:rPr lang="en-US" sz="1200" b="1" kern="0" spc="200" dirty="0">
                <a:solidFill>
                  <a:srgbClr val="0E8FD0"/>
                </a:solidFill>
                <a:latin typeface="Trebuchet MS" pitchFamily="34" charset="0"/>
                <a:ea typeface="Trebuchet MS" pitchFamily="34" charset="-122"/>
                <a:cs typeface="Trebuchet MS" pitchFamily="34" charset="-120"/>
              </a:rPr>
              <a:t>WORKED EXAMPLE</a:t>
            </a:r>
            <a:endParaRPr lang="en-US" sz="1200" dirty="0"/>
          </a:p>
        </p:txBody>
      </p:sp>
      <p:sp>
        <p:nvSpPr>
          <p:cNvPr id="5" name="Text 3"/>
          <p:cNvSpPr/>
          <p:nvPr/>
        </p:nvSpPr>
        <p:spPr>
          <a:xfrm>
            <a:off x="475488" y="420624"/>
            <a:ext cx="11247120" cy="566928"/>
          </a:xfrm>
          <a:prstGeom prst="rect">
            <a:avLst/>
          </a:prstGeom>
          <a:noFill/>
          <a:ln/>
        </p:spPr>
        <p:txBody>
          <a:bodyPr wrap="square" rtlCol="0" anchor="ctr"/>
          <a:lstStyle/>
          <a:p>
            <a:pPr marL="0" indent="0">
              <a:buNone/>
            </a:pPr>
            <a:r>
              <a:rPr lang="en-US" sz="2700" b="1" dirty="0">
                <a:solidFill>
                  <a:srgbClr val="0E2747"/>
                </a:solidFill>
                <a:latin typeface="Trebuchet MS" pitchFamily="34" charset="0"/>
                <a:ea typeface="Trebuchet MS" pitchFamily="34" charset="-122"/>
                <a:cs typeface="Trebuchet MS" pitchFamily="34" charset="-120"/>
              </a:rPr>
              <a:t>Practical Example</a:t>
            </a:r>
            <a:endParaRPr lang="en-US" sz="2700" dirty="0"/>
          </a:p>
        </p:txBody>
      </p:sp>
      <p:sp>
        <p:nvSpPr>
          <p:cNvPr id="6" name="Shape 4"/>
          <p:cNvSpPr/>
          <p:nvPr/>
        </p:nvSpPr>
        <p:spPr>
          <a:xfrm>
            <a:off x="502920" y="1060704"/>
            <a:ext cx="11185855" cy="16459"/>
          </a:xfrm>
          <a:prstGeom prst="rect">
            <a:avLst/>
          </a:prstGeom>
          <a:solidFill>
            <a:srgbClr val="D5E0F0"/>
          </a:solidFill>
          <a:ln/>
        </p:spPr>
        <p:txBody>
          <a:bodyPr/>
          <a:lstStyle/>
          <a:p>
            <a:endParaRPr lang="en-DE"/>
          </a:p>
        </p:txBody>
      </p:sp>
      <p:sp>
        <p:nvSpPr>
          <p:cNvPr id="7" name="Text 5"/>
          <p:cNvSpPr/>
          <p:nvPr/>
        </p:nvSpPr>
        <p:spPr>
          <a:xfrm>
            <a:off x="502920" y="1207008"/>
            <a:ext cx="5486400" cy="320040"/>
          </a:xfrm>
          <a:prstGeom prst="rect">
            <a:avLst/>
          </a:prstGeom>
          <a:noFill/>
          <a:ln/>
        </p:spPr>
        <p:txBody>
          <a:bodyPr wrap="square" rtlCol="0" anchor="ctr"/>
          <a:lstStyle/>
          <a:p>
            <a:pPr marL="0" indent="0">
              <a:buNone/>
            </a:pPr>
            <a:r>
              <a:rPr lang="en-US" sz="1400" b="1" dirty="0">
                <a:solidFill>
                  <a:srgbClr val="1A4FA0"/>
                </a:solidFill>
                <a:latin typeface="Trebuchet MS" pitchFamily="34" charset="0"/>
                <a:ea typeface="Trebuchet MS" pitchFamily="34" charset="-122"/>
                <a:cs typeface="Trebuchet MS" pitchFamily="34" charset="-120"/>
              </a:rPr>
              <a:t>Original C Code</a:t>
            </a:r>
            <a:endParaRPr lang="en-US" sz="1400" dirty="0"/>
          </a:p>
        </p:txBody>
      </p:sp>
      <p:sp>
        <p:nvSpPr>
          <p:cNvPr id="8" name="Shape 6"/>
          <p:cNvSpPr/>
          <p:nvPr/>
        </p:nvSpPr>
        <p:spPr>
          <a:xfrm>
            <a:off x="502920" y="1536192"/>
            <a:ext cx="11201400" cy="640080"/>
          </a:xfrm>
          <a:prstGeom prst="rect">
            <a:avLst/>
          </a:prstGeom>
          <a:solidFill>
            <a:srgbClr val="0E2747"/>
          </a:solidFill>
          <a:ln w="12700">
            <a:solidFill>
              <a:srgbClr val="1A4FA0"/>
            </a:solidFill>
            <a:prstDash val="solid"/>
          </a:ln>
        </p:spPr>
        <p:txBody>
          <a:bodyPr/>
          <a:lstStyle/>
          <a:p>
            <a:endParaRPr lang="en-DE"/>
          </a:p>
        </p:txBody>
      </p:sp>
      <p:sp>
        <p:nvSpPr>
          <p:cNvPr id="9" name="Shape 7"/>
          <p:cNvSpPr/>
          <p:nvPr/>
        </p:nvSpPr>
        <p:spPr>
          <a:xfrm>
            <a:off x="502920" y="1536192"/>
            <a:ext cx="73152" cy="640080"/>
          </a:xfrm>
          <a:prstGeom prst="rect">
            <a:avLst/>
          </a:prstGeom>
          <a:solidFill>
            <a:srgbClr val="0E8FD0"/>
          </a:solidFill>
          <a:ln/>
        </p:spPr>
        <p:txBody>
          <a:bodyPr/>
          <a:lstStyle/>
          <a:p>
            <a:endParaRPr lang="en-DE"/>
          </a:p>
        </p:txBody>
      </p:sp>
      <p:sp>
        <p:nvSpPr>
          <p:cNvPr id="10" name="Text 8"/>
          <p:cNvSpPr/>
          <p:nvPr/>
        </p:nvSpPr>
        <p:spPr>
          <a:xfrm>
            <a:off x="685800" y="1536192"/>
            <a:ext cx="10927080" cy="640080"/>
          </a:xfrm>
          <a:prstGeom prst="rect">
            <a:avLst/>
          </a:prstGeom>
          <a:noFill/>
          <a:ln/>
        </p:spPr>
        <p:txBody>
          <a:bodyPr wrap="square" rtlCol="0" anchor="ctr"/>
          <a:lstStyle/>
          <a:p>
            <a:pPr marL="0" indent="0" algn="l">
              <a:buNone/>
            </a:pPr>
            <a:r>
              <a:rPr lang="en-US" sz="1800" b="1" dirty="0">
                <a:solidFill>
                  <a:srgbClr val="FFFFFF"/>
                </a:solidFill>
                <a:latin typeface="Consolas" pitchFamily="34" charset="0"/>
                <a:ea typeface="Consolas" pitchFamily="34" charset="-122"/>
                <a:cs typeface="Consolas" pitchFamily="34" charset="-120"/>
              </a:rPr>
              <a:t>y = a*b + c*d;</a:t>
            </a:r>
            <a:endParaRPr lang="en-US" sz="1800" dirty="0"/>
          </a:p>
        </p:txBody>
      </p:sp>
      <p:sp>
        <p:nvSpPr>
          <p:cNvPr id="11" name="Shape 9"/>
          <p:cNvSpPr/>
          <p:nvPr/>
        </p:nvSpPr>
        <p:spPr>
          <a:xfrm>
            <a:off x="502920" y="2423160"/>
            <a:ext cx="5486400" cy="352044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2" name="Shape 10"/>
          <p:cNvSpPr/>
          <p:nvPr/>
        </p:nvSpPr>
        <p:spPr>
          <a:xfrm>
            <a:off x="502920" y="2423160"/>
            <a:ext cx="5486400" cy="502920"/>
          </a:xfrm>
          <a:prstGeom prst="rect">
            <a:avLst/>
          </a:prstGeom>
          <a:solidFill>
            <a:srgbClr val="C0392B"/>
          </a:solidFill>
          <a:ln/>
        </p:spPr>
        <p:txBody>
          <a:bodyPr/>
          <a:lstStyle/>
          <a:p>
            <a:endParaRPr lang="en-DE"/>
          </a:p>
        </p:txBody>
      </p:sp>
      <p:sp>
        <p:nvSpPr>
          <p:cNvPr id="13" name="Text 11"/>
          <p:cNvSpPr/>
          <p:nvPr/>
        </p:nvSpPr>
        <p:spPr>
          <a:xfrm>
            <a:off x="685800" y="2423160"/>
            <a:ext cx="5120640" cy="502920"/>
          </a:xfrm>
          <a:prstGeom prst="rect">
            <a:avLst/>
          </a:prstGeom>
          <a:noFill/>
          <a:ln/>
        </p:spPr>
        <p:txBody>
          <a:bodyPr wrap="square" rtlCol="0" anchor="ctr"/>
          <a:lstStyle/>
          <a:p>
            <a:pPr marL="0" indent="0">
              <a:buNone/>
            </a:pPr>
            <a:r>
              <a:rPr lang="en-US" sz="1500" b="1" kern="0" spc="100" dirty="0">
                <a:solidFill>
                  <a:srgbClr val="FFFFFF"/>
                </a:solidFill>
                <a:latin typeface="Trebuchet MS" pitchFamily="34" charset="0"/>
                <a:ea typeface="Trebuchet MS" pitchFamily="34" charset="-122"/>
                <a:cs typeface="Trebuchet MS" pitchFamily="34" charset="-120"/>
              </a:rPr>
              <a:t>WITHOUT SHARING</a:t>
            </a:r>
            <a:endParaRPr lang="en-US" sz="1500" dirty="0"/>
          </a:p>
        </p:txBody>
      </p:sp>
      <p:sp>
        <p:nvSpPr>
          <p:cNvPr id="14" name="Text 12"/>
          <p:cNvSpPr/>
          <p:nvPr/>
        </p:nvSpPr>
        <p:spPr>
          <a:xfrm>
            <a:off x="685800" y="3063240"/>
            <a:ext cx="5029200" cy="274320"/>
          </a:xfrm>
          <a:prstGeom prst="rect">
            <a:avLst/>
          </a:prstGeom>
          <a:noFill/>
          <a:ln/>
        </p:spPr>
        <p:txBody>
          <a:bodyPr wrap="square" rtlCol="0" anchor="ctr"/>
          <a:lstStyle/>
          <a:p>
            <a:pPr marL="0" indent="0">
              <a:buNone/>
            </a:pPr>
            <a:r>
              <a:rPr lang="en-US" sz="1300" b="1" dirty="0">
                <a:solidFill>
                  <a:srgbClr val="64748B"/>
                </a:solidFill>
                <a:latin typeface="Trebuchet MS" pitchFamily="34" charset="0"/>
                <a:ea typeface="Trebuchet MS" pitchFamily="34" charset="-122"/>
                <a:cs typeface="Trebuchet MS" pitchFamily="34" charset="-120"/>
              </a:rPr>
              <a:t>Hardware</a:t>
            </a:r>
            <a:endParaRPr lang="en-US" sz="1300" dirty="0"/>
          </a:p>
        </p:txBody>
      </p:sp>
      <p:sp>
        <p:nvSpPr>
          <p:cNvPr id="15" name="Shape 13"/>
          <p:cNvSpPr/>
          <p:nvPr/>
        </p:nvSpPr>
        <p:spPr>
          <a:xfrm>
            <a:off x="685800" y="3383280"/>
            <a:ext cx="1554480" cy="457200"/>
          </a:xfrm>
          <a:prstGeom prst="roundRect">
            <a:avLst>
              <a:gd name="adj" fmla="val 14000"/>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6" name="Text 14"/>
          <p:cNvSpPr/>
          <p:nvPr/>
        </p:nvSpPr>
        <p:spPr>
          <a:xfrm>
            <a:off x="731520" y="3383280"/>
            <a:ext cx="1463040" cy="457200"/>
          </a:xfrm>
          <a:prstGeom prst="rect">
            <a:avLst/>
          </a:prstGeom>
          <a:noFill/>
          <a:ln/>
        </p:spPr>
        <p:txBody>
          <a:bodyPr wrap="square" rtlCol="0" anchor="ctr"/>
          <a:lstStyle/>
          <a:p>
            <a:pPr marL="0" indent="0" algn="ctr">
              <a:buNone/>
            </a:pPr>
            <a:r>
              <a:rPr lang="en-US" sz="1200" b="1" dirty="0">
                <a:solidFill>
                  <a:srgbClr val="1A4FA0"/>
                </a:solidFill>
                <a:latin typeface="Trebuchet MS" pitchFamily="34" charset="0"/>
                <a:ea typeface="Trebuchet MS" pitchFamily="34" charset="-122"/>
                <a:cs typeface="Trebuchet MS" pitchFamily="34" charset="-120"/>
              </a:rPr>
              <a:t>Mult M1</a:t>
            </a:r>
            <a:endParaRPr lang="en-US" sz="1200" dirty="0"/>
          </a:p>
        </p:txBody>
      </p:sp>
      <p:sp>
        <p:nvSpPr>
          <p:cNvPr id="17" name="Shape 15"/>
          <p:cNvSpPr/>
          <p:nvPr/>
        </p:nvSpPr>
        <p:spPr>
          <a:xfrm>
            <a:off x="2331720" y="3383280"/>
            <a:ext cx="1554480" cy="457200"/>
          </a:xfrm>
          <a:prstGeom prst="roundRect">
            <a:avLst>
              <a:gd name="adj" fmla="val 14000"/>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8" name="Text 16"/>
          <p:cNvSpPr/>
          <p:nvPr/>
        </p:nvSpPr>
        <p:spPr>
          <a:xfrm>
            <a:off x="2377440" y="3383280"/>
            <a:ext cx="1463040" cy="457200"/>
          </a:xfrm>
          <a:prstGeom prst="rect">
            <a:avLst/>
          </a:prstGeom>
          <a:noFill/>
          <a:ln/>
        </p:spPr>
        <p:txBody>
          <a:bodyPr wrap="square" rtlCol="0" anchor="ctr"/>
          <a:lstStyle/>
          <a:p>
            <a:pPr marL="0" indent="0" algn="ctr">
              <a:buNone/>
            </a:pPr>
            <a:r>
              <a:rPr lang="en-US" sz="1200" b="1" dirty="0">
                <a:solidFill>
                  <a:srgbClr val="1A4FA0"/>
                </a:solidFill>
                <a:latin typeface="Trebuchet MS" pitchFamily="34" charset="0"/>
                <a:ea typeface="Trebuchet MS" pitchFamily="34" charset="-122"/>
                <a:cs typeface="Trebuchet MS" pitchFamily="34" charset="-120"/>
              </a:rPr>
              <a:t>Mult M2</a:t>
            </a:r>
            <a:endParaRPr lang="en-US" sz="1200" dirty="0"/>
          </a:p>
        </p:txBody>
      </p:sp>
      <p:sp>
        <p:nvSpPr>
          <p:cNvPr id="19" name="Shape 17"/>
          <p:cNvSpPr/>
          <p:nvPr/>
        </p:nvSpPr>
        <p:spPr>
          <a:xfrm>
            <a:off x="3977640" y="3383280"/>
            <a:ext cx="1554480" cy="457200"/>
          </a:xfrm>
          <a:prstGeom prst="roundRect">
            <a:avLst>
              <a:gd name="adj" fmla="val 14000"/>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0" name="Text 18"/>
          <p:cNvSpPr/>
          <p:nvPr/>
        </p:nvSpPr>
        <p:spPr>
          <a:xfrm>
            <a:off x="4023360" y="3383280"/>
            <a:ext cx="1463040" cy="457200"/>
          </a:xfrm>
          <a:prstGeom prst="rect">
            <a:avLst/>
          </a:prstGeom>
          <a:noFill/>
          <a:ln/>
        </p:spPr>
        <p:txBody>
          <a:bodyPr wrap="square" rtlCol="0" anchor="ctr"/>
          <a:lstStyle/>
          <a:p>
            <a:pPr marL="0" indent="0" algn="ctr">
              <a:buNone/>
            </a:pPr>
            <a:r>
              <a:rPr lang="en-US" sz="1200" b="1" dirty="0">
                <a:solidFill>
                  <a:srgbClr val="1A4FA0"/>
                </a:solidFill>
                <a:latin typeface="Trebuchet MS" pitchFamily="34" charset="0"/>
                <a:ea typeface="Trebuchet MS" pitchFamily="34" charset="-122"/>
                <a:cs typeface="Trebuchet MS" pitchFamily="34" charset="-120"/>
              </a:rPr>
              <a:t>Adder A1</a:t>
            </a:r>
            <a:endParaRPr lang="en-US" sz="1200" dirty="0"/>
          </a:p>
        </p:txBody>
      </p:sp>
      <p:sp>
        <p:nvSpPr>
          <p:cNvPr id="21" name="Text 19"/>
          <p:cNvSpPr/>
          <p:nvPr/>
        </p:nvSpPr>
        <p:spPr>
          <a:xfrm>
            <a:off x="685800" y="4023360"/>
            <a:ext cx="5029200" cy="274320"/>
          </a:xfrm>
          <a:prstGeom prst="rect">
            <a:avLst/>
          </a:prstGeom>
          <a:noFill/>
          <a:ln/>
        </p:spPr>
        <p:txBody>
          <a:bodyPr wrap="square" rtlCol="0" anchor="ctr"/>
          <a:lstStyle/>
          <a:p>
            <a:pPr marL="0" indent="0">
              <a:buNone/>
            </a:pPr>
            <a:r>
              <a:rPr lang="en-US" sz="1300" b="1" dirty="0">
                <a:solidFill>
                  <a:srgbClr val="64748B"/>
                </a:solidFill>
                <a:latin typeface="Trebuchet MS" pitchFamily="34" charset="0"/>
                <a:ea typeface="Trebuchet MS" pitchFamily="34" charset="-122"/>
                <a:cs typeface="Trebuchet MS" pitchFamily="34" charset="-120"/>
              </a:rPr>
              <a:t>Resources used</a:t>
            </a:r>
            <a:endParaRPr lang="en-US" sz="1300" dirty="0"/>
          </a:p>
        </p:txBody>
      </p:sp>
      <p:sp>
        <p:nvSpPr>
          <p:cNvPr id="22" name="Text 20"/>
          <p:cNvSpPr/>
          <p:nvPr/>
        </p:nvSpPr>
        <p:spPr>
          <a:xfrm>
            <a:off x="685800" y="4315968"/>
            <a:ext cx="5029200" cy="41148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2 </a:t>
            </a:r>
            <a:r>
              <a:rPr lang="en-US" sz="1600" dirty="0">
                <a:solidFill>
                  <a:srgbClr val="33415C"/>
                </a:solidFill>
                <a:latin typeface="Calibri" pitchFamily="34" charset="0"/>
                <a:ea typeface="Calibri" pitchFamily="34" charset="-122"/>
                <a:cs typeface="Calibri" pitchFamily="34" charset="-120"/>
              </a:rPr>
              <a:t>Multipliers      </a:t>
            </a:r>
            <a:r>
              <a:rPr lang="en-US" sz="1600" b="1" dirty="0">
                <a:solidFill>
                  <a:srgbClr val="C0392B"/>
                </a:solidFill>
                <a:latin typeface="Calibri" pitchFamily="34" charset="0"/>
                <a:ea typeface="Calibri" pitchFamily="34" charset="-122"/>
                <a:cs typeface="Calibri" pitchFamily="34" charset="-120"/>
              </a:rPr>
              <a:t>1 </a:t>
            </a:r>
            <a:r>
              <a:rPr lang="en-US" sz="1600" dirty="0">
                <a:solidFill>
                  <a:srgbClr val="33415C"/>
                </a:solidFill>
                <a:latin typeface="Calibri" pitchFamily="34" charset="0"/>
                <a:ea typeface="Calibri" pitchFamily="34" charset="-122"/>
                <a:cs typeface="Calibri" pitchFamily="34" charset="-120"/>
              </a:rPr>
              <a:t>Adder</a:t>
            </a:r>
            <a:endParaRPr lang="en-US" sz="1600" dirty="0"/>
          </a:p>
        </p:txBody>
      </p:sp>
      <p:sp>
        <p:nvSpPr>
          <p:cNvPr id="23" name="Shape 21"/>
          <p:cNvSpPr/>
          <p:nvPr/>
        </p:nvSpPr>
        <p:spPr>
          <a:xfrm>
            <a:off x="685800" y="4892040"/>
            <a:ext cx="5120640" cy="822960"/>
          </a:xfrm>
          <a:prstGeom prst="rect">
            <a:avLst/>
          </a:prstGeom>
          <a:solidFill>
            <a:srgbClr val="FBEDEC"/>
          </a:solidFill>
          <a:ln w="12700">
            <a:solidFill>
              <a:srgbClr val="EBC9C5"/>
            </a:solidFill>
            <a:prstDash val="solid"/>
          </a:ln>
        </p:spPr>
        <p:txBody>
          <a:bodyPr/>
          <a:lstStyle/>
          <a:p>
            <a:endParaRPr lang="en-DE"/>
          </a:p>
        </p:txBody>
      </p:sp>
      <p:sp>
        <p:nvSpPr>
          <p:cNvPr id="24" name="Text 22"/>
          <p:cNvSpPr/>
          <p:nvPr/>
        </p:nvSpPr>
        <p:spPr>
          <a:xfrm>
            <a:off x="868680" y="4892040"/>
            <a:ext cx="4754880" cy="822960"/>
          </a:xfrm>
          <a:prstGeom prst="rect">
            <a:avLst/>
          </a:prstGeom>
          <a:noFill/>
          <a:ln/>
        </p:spPr>
        <p:txBody>
          <a:bodyPr wrap="square" rtlCol="0" anchor="ctr"/>
          <a:lstStyle/>
          <a:p>
            <a:pPr marL="0" indent="0">
              <a:buNone/>
            </a:pPr>
            <a:r>
              <a:rPr lang="en-US" sz="1250" dirty="0">
                <a:solidFill>
                  <a:srgbClr val="8A3B33"/>
                </a:solidFill>
                <a:latin typeface="Calibri" pitchFamily="34" charset="0"/>
                <a:ea typeface="Calibri" pitchFamily="34" charset="-122"/>
                <a:cs typeface="Calibri" pitchFamily="34" charset="-120"/>
              </a:rPr>
              <a:t>Larger silicon footprint and higher power — every multiply needs its own DSP block.</a:t>
            </a:r>
            <a:endParaRPr lang="en-US" sz="1250" dirty="0"/>
          </a:p>
        </p:txBody>
      </p:sp>
      <p:sp>
        <p:nvSpPr>
          <p:cNvPr id="25" name="Shape 23"/>
          <p:cNvSpPr/>
          <p:nvPr/>
        </p:nvSpPr>
        <p:spPr>
          <a:xfrm>
            <a:off x="6217920" y="2423160"/>
            <a:ext cx="5486400" cy="3520440"/>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6" name="Shape 24"/>
          <p:cNvSpPr/>
          <p:nvPr/>
        </p:nvSpPr>
        <p:spPr>
          <a:xfrm>
            <a:off x="6217920" y="2423160"/>
            <a:ext cx="5486400" cy="502920"/>
          </a:xfrm>
          <a:prstGeom prst="rect">
            <a:avLst/>
          </a:prstGeom>
          <a:solidFill>
            <a:srgbClr val="2E9E5B"/>
          </a:solidFill>
          <a:ln/>
        </p:spPr>
        <p:txBody>
          <a:bodyPr/>
          <a:lstStyle/>
          <a:p>
            <a:endParaRPr lang="en-DE"/>
          </a:p>
        </p:txBody>
      </p:sp>
      <p:sp>
        <p:nvSpPr>
          <p:cNvPr id="27" name="Text 25"/>
          <p:cNvSpPr/>
          <p:nvPr/>
        </p:nvSpPr>
        <p:spPr>
          <a:xfrm>
            <a:off x="6400800" y="2423160"/>
            <a:ext cx="5120640" cy="502920"/>
          </a:xfrm>
          <a:prstGeom prst="rect">
            <a:avLst/>
          </a:prstGeom>
          <a:noFill/>
          <a:ln/>
        </p:spPr>
        <p:txBody>
          <a:bodyPr wrap="square" rtlCol="0" anchor="ctr"/>
          <a:lstStyle/>
          <a:p>
            <a:pPr marL="0" indent="0">
              <a:buNone/>
            </a:pPr>
            <a:r>
              <a:rPr lang="en-US" sz="1500" b="1" kern="0" spc="100" dirty="0">
                <a:solidFill>
                  <a:srgbClr val="FFFFFF"/>
                </a:solidFill>
                <a:latin typeface="Trebuchet MS" pitchFamily="34" charset="0"/>
                <a:ea typeface="Trebuchet MS" pitchFamily="34" charset="-122"/>
                <a:cs typeface="Trebuchet MS" pitchFamily="34" charset="-120"/>
              </a:rPr>
              <a:t>WITH SHARING</a:t>
            </a:r>
            <a:endParaRPr lang="en-US" sz="1500" dirty="0"/>
          </a:p>
        </p:txBody>
      </p:sp>
      <p:sp>
        <p:nvSpPr>
          <p:cNvPr id="28" name="Text 26"/>
          <p:cNvSpPr/>
          <p:nvPr/>
        </p:nvSpPr>
        <p:spPr>
          <a:xfrm>
            <a:off x="6400800" y="3063240"/>
            <a:ext cx="5029200" cy="274320"/>
          </a:xfrm>
          <a:prstGeom prst="rect">
            <a:avLst/>
          </a:prstGeom>
          <a:noFill/>
          <a:ln/>
        </p:spPr>
        <p:txBody>
          <a:bodyPr wrap="square" rtlCol="0" anchor="ctr"/>
          <a:lstStyle/>
          <a:p>
            <a:pPr marL="0" indent="0">
              <a:buNone/>
            </a:pPr>
            <a:r>
              <a:rPr lang="en-US" sz="1300" b="1" dirty="0">
                <a:solidFill>
                  <a:srgbClr val="64748B"/>
                </a:solidFill>
                <a:latin typeface="Trebuchet MS" pitchFamily="34" charset="0"/>
                <a:ea typeface="Trebuchet MS" pitchFamily="34" charset="-122"/>
                <a:cs typeface="Trebuchet MS" pitchFamily="34" charset="-120"/>
              </a:rPr>
              <a:t>Hardware</a:t>
            </a:r>
            <a:endParaRPr lang="en-US" sz="1300" dirty="0"/>
          </a:p>
        </p:txBody>
      </p:sp>
      <p:sp>
        <p:nvSpPr>
          <p:cNvPr id="29" name="Shape 27"/>
          <p:cNvSpPr/>
          <p:nvPr/>
        </p:nvSpPr>
        <p:spPr>
          <a:xfrm>
            <a:off x="6400800" y="3383280"/>
            <a:ext cx="1828800" cy="457200"/>
          </a:xfrm>
          <a:prstGeom prst="roundRect">
            <a:avLst>
              <a:gd name="adj" fmla="val 14000"/>
            </a:avLst>
          </a:prstGeom>
          <a:solidFill>
            <a:srgbClr val="1A4FA0"/>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30" name="Text 28"/>
          <p:cNvSpPr/>
          <p:nvPr/>
        </p:nvSpPr>
        <p:spPr>
          <a:xfrm>
            <a:off x="6446520" y="3383280"/>
            <a:ext cx="17373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Shared Mult</a:t>
            </a:r>
            <a:endParaRPr lang="en-US" sz="1200" dirty="0"/>
          </a:p>
        </p:txBody>
      </p:sp>
      <p:sp>
        <p:nvSpPr>
          <p:cNvPr id="31" name="Shape 29"/>
          <p:cNvSpPr/>
          <p:nvPr/>
        </p:nvSpPr>
        <p:spPr>
          <a:xfrm>
            <a:off x="8321040" y="3383280"/>
            <a:ext cx="1188720" cy="457200"/>
          </a:xfrm>
          <a:prstGeom prst="roundRect">
            <a:avLst>
              <a:gd name="adj" fmla="val 14000"/>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32" name="Text 30"/>
          <p:cNvSpPr/>
          <p:nvPr/>
        </p:nvSpPr>
        <p:spPr>
          <a:xfrm>
            <a:off x="8366760" y="3383280"/>
            <a:ext cx="1097280" cy="457200"/>
          </a:xfrm>
          <a:prstGeom prst="rect">
            <a:avLst/>
          </a:prstGeom>
          <a:noFill/>
          <a:ln/>
        </p:spPr>
        <p:txBody>
          <a:bodyPr wrap="square" rtlCol="0" anchor="ctr"/>
          <a:lstStyle/>
          <a:p>
            <a:pPr marL="0" indent="0" algn="ctr">
              <a:buNone/>
            </a:pPr>
            <a:r>
              <a:rPr lang="en-US" sz="1200" b="1" dirty="0">
                <a:solidFill>
                  <a:srgbClr val="1A4FA0"/>
                </a:solidFill>
                <a:latin typeface="Trebuchet MS" pitchFamily="34" charset="0"/>
                <a:ea typeface="Trebuchet MS" pitchFamily="34" charset="-122"/>
                <a:cs typeface="Trebuchet MS" pitchFamily="34" charset="-120"/>
              </a:rPr>
              <a:t>MUX</a:t>
            </a:r>
            <a:endParaRPr lang="en-US" sz="1200" dirty="0"/>
          </a:p>
        </p:txBody>
      </p:sp>
      <p:sp>
        <p:nvSpPr>
          <p:cNvPr id="33" name="Shape 31"/>
          <p:cNvSpPr/>
          <p:nvPr/>
        </p:nvSpPr>
        <p:spPr>
          <a:xfrm>
            <a:off x="9601200" y="3383280"/>
            <a:ext cx="1371600" cy="457200"/>
          </a:xfrm>
          <a:prstGeom prst="roundRect">
            <a:avLst>
              <a:gd name="adj" fmla="val 14000"/>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34" name="Text 32"/>
          <p:cNvSpPr/>
          <p:nvPr/>
        </p:nvSpPr>
        <p:spPr>
          <a:xfrm>
            <a:off x="9646920" y="3383280"/>
            <a:ext cx="1280160" cy="457200"/>
          </a:xfrm>
          <a:prstGeom prst="rect">
            <a:avLst/>
          </a:prstGeom>
          <a:noFill/>
          <a:ln/>
        </p:spPr>
        <p:txBody>
          <a:bodyPr wrap="square" rtlCol="0" anchor="ctr"/>
          <a:lstStyle/>
          <a:p>
            <a:pPr marL="0" indent="0" algn="ctr">
              <a:buNone/>
            </a:pPr>
            <a:r>
              <a:rPr lang="en-US" sz="1200" b="1" dirty="0">
                <a:solidFill>
                  <a:srgbClr val="1A4FA0"/>
                </a:solidFill>
                <a:latin typeface="Trebuchet MS" pitchFamily="34" charset="0"/>
                <a:ea typeface="Trebuchet MS" pitchFamily="34" charset="-122"/>
                <a:cs typeface="Trebuchet MS" pitchFamily="34" charset="-120"/>
              </a:rPr>
              <a:t>Adder</a:t>
            </a:r>
            <a:endParaRPr lang="en-US" sz="1200" dirty="0"/>
          </a:p>
        </p:txBody>
      </p:sp>
      <p:sp>
        <p:nvSpPr>
          <p:cNvPr id="35" name="Text 33"/>
          <p:cNvSpPr/>
          <p:nvPr/>
        </p:nvSpPr>
        <p:spPr>
          <a:xfrm>
            <a:off x="6400800" y="4023360"/>
            <a:ext cx="5029200" cy="274320"/>
          </a:xfrm>
          <a:prstGeom prst="rect">
            <a:avLst/>
          </a:prstGeom>
          <a:noFill/>
          <a:ln/>
        </p:spPr>
        <p:txBody>
          <a:bodyPr wrap="square" rtlCol="0" anchor="ctr"/>
          <a:lstStyle/>
          <a:p>
            <a:pPr marL="0" indent="0">
              <a:buNone/>
            </a:pPr>
            <a:r>
              <a:rPr lang="en-US" sz="1300" b="1" dirty="0">
                <a:solidFill>
                  <a:srgbClr val="64748B"/>
                </a:solidFill>
                <a:latin typeface="Trebuchet MS" pitchFamily="34" charset="0"/>
                <a:ea typeface="Trebuchet MS" pitchFamily="34" charset="-122"/>
                <a:cs typeface="Trebuchet MS" pitchFamily="34" charset="-120"/>
              </a:rPr>
              <a:t>Resources used</a:t>
            </a:r>
            <a:endParaRPr lang="en-US" sz="1300" dirty="0"/>
          </a:p>
        </p:txBody>
      </p:sp>
      <p:sp>
        <p:nvSpPr>
          <p:cNvPr id="36" name="Text 34"/>
          <p:cNvSpPr/>
          <p:nvPr/>
        </p:nvSpPr>
        <p:spPr>
          <a:xfrm>
            <a:off x="6400800" y="4315968"/>
            <a:ext cx="5120640" cy="411480"/>
          </a:xfrm>
          <a:prstGeom prst="rect">
            <a:avLst/>
          </a:prstGeom>
          <a:noFill/>
          <a:ln/>
        </p:spPr>
        <p:txBody>
          <a:bodyPr wrap="square" rtlCol="0" anchor="ctr"/>
          <a:lstStyle/>
          <a:p>
            <a:pPr marL="0" indent="0">
              <a:buNone/>
            </a:pPr>
            <a:r>
              <a:rPr lang="en-US" sz="1600" b="1" dirty="0">
                <a:solidFill>
                  <a:srgbClr val="2E9E5B"/>
                </a:solidFill>
                <a:latin typeface="Calibri" pitchFamily="34" charset="0"/>
                <a:ea typeface="Calibri" pitchFamily="34" charset="-122"/>
                <a:cs typeface="Calibri" pitchFamily="34" charset="-120"/>
              </a:rPr>
              <a:t>1 </a:t>
            </a:r>
            <a:r>
              <a:rPr lang="en-US" sz="1600" dirty="0">
                <a:solidFill>
                  <a:srgbClr val="33415C"/>
                </a:solidFill>
                <a:latin typeface="Calibri" pitchFamily="34" charset="0"/>
                <a:ea typeface="Calibri" pitchFamily="34" charset="-122"/>
                <a:cs typeface="Calibri" pitchFamily="34" charset="-120"/>
              </a:rPr>
              <a:t>Multiplier   </a:t>
            </a:r>
            <a:r>
              <a:rPr lang="en-US" sz="1600" b="1" dirty="0">
                <a:solidFill>
                  <a:srgbClr val="2E9E5B"/>
                </a:solidFill>
                <a:latin typeface="Calibri" pitchFamily="34" charset="0"/>
                <a:ea typeface="Calibri" pitchFamily="34" charset="-122"/>
                <a:cs typeface="Calibri" pitchFamily="34" charset="-120"/>
              </a:rPr>
              <a:t>1 </a:t>
            </a:r>
            <a:r>
              <a:rPr lang="en-US" sz="1600" dirty="0">
                <a:solidFill>
                  <a:srgbClr val="33415C"/>
                </a:solidFill>
                <a:latin typeface="Calibri" pitchFamily="34" charset="0"/>
                <a:ea typeface="Calibri" pitchFamily="34" charset="-122"/>
                <a:cs typeface="Calibri" pitchFamily="34" charset="-120"/>
              </a:rPr>
              <a:t>MUX   </a:t>
            </a:r>
            <a:r>
              <a:rPr lang="en-US" sz="1600" b="1" dirty="0">
                <a:solidFill>
                  <a:srgbClr val="2E9E5B"/>
                </a:solidFill>
                <a:latin typeface="Calibri" pitchFamily="34" charset="0"/>
                <a:ea typeface="Calibri" pitchFamily="34" charset="-122"/>
                <a:cs typeface="Calibri" pitchFamily="34" charset="-120"/>
              </a:rPr>
              <a:t>1 </a:t>
            </a:r>
            <a:r>
              <a:rPr lang="en-US" sz="1600" dirty="0">
                <a:solidFill>
                  <a:srgbClr val="33415C"/>
                </a:solidFill>
                <a:latin typeface="Calibri" pitchFamily="34" charset="0"/>
                <a:ea typeface="Calibri" pitchFamily="34" charset="-122"/>
                <a:cs typeface="Calibri" pitchFamily="34" charset="-120"/>
              </a:rPr>
              <a:t>Adder</a:t>
            </a:r>
            <a:endParaRPr lang="en-US" sz="1600" dirty="0"/>
          </a:p>
        </p:txBody>
      </p:sp>
      <p:sp>
        <p:nvSpPr>
          <p:cNvPr id="37" name="Shape 35"/>
          <p:cNvSpPr/>
          <p:nvPr/>
        </p:nvSpPr>
        <p:spPr>
          <a:xfrm>
            <a:off x="6400800" y="4892040"/>
            <a:ext cx="5120640" cy="822960"/>
          </a:xfrm>
          <a:prstGeom prst="rect">
            <a:avLst/>
          </a:prstGeom>
          <a:solidFill>
            <a:srgbClr val="E9F5EE"/>
          </a:solidFill>
          <a:ln w="12700">
            <a:solidFill>
              <a:srgbClr val="C7E3D2"/>
            </a:solidFill>
            <a:prstDash val="solid"/>
          </a:ln>
        </p:spPr>
        <p:txBody>
          <a:bodyPr/>
          <a:lstStyle/>
          <a:p>
            <a:endParaRPr lang="en-DE"/>
          </a:p>
        </p:txBody>
      </p:sp>
      <p:sp>
        <p:nvSpPr>
          <p:cNvPr id="38" name="Text 36"/>
          <p:cNvSpPr/>
          <p:nvPr/>
        </p:nvSpPr>
        <p:spPr>
          <a:xfrm>
            <a:off x="6583680" y="4892040"/>
            <a:ext cx="4754880" cy="822960"/>
          </a:xfrm>
          <a:prstGeom prst="rect">
            <a:avLst/>
          </a:prstGeom>
          <a:noFill/>
          <a:ln/>
        </p:spPr>
        <p:txBody>
          <a:bodyPr wrap="square" rtlCol="0" anchor="ctr"/>
          <a:lstStyle/>
          <a:p>
            <a:pPr marL="0" indent="0">
              <a:buNone/>
            </a:pPr>
            <a:r>
              <a:rPr lang="en-US" sz="1250" dirty="0">
                <a:solidFill>
                  <a:srgbClr val="1F6B43"/>
                </a:solidFill>
                <a:latin typeface="Calibri" pitchFamily="34" charset="0"/>
                <a:ea typeface="Calibri" pitchFamily="34" charset="-122"/>
                <a:cs typeface="Calibri" pitchFamily="34" charset="-120"/>
              </a:rPr>
              <a:t>One multiplier is time-multiplexed by a MUX — saving a full DSP block at the cost of a little control logic.</a:t>
            </a:r>
            <a:endParaRPr lang="en-US" sz="1250" dirty="0"/>
          </a:p>
        </p:txBody>
      </p:sp>
      <p:sp>
        <p:nvSpPr>
          <p:cNvPr id="39" name="Text 37"/>
          <p:cNvSpPr/>
          <p:nvPr/>
        </p:nvSpPr>
        <p:spPr>
          <a:xfrm>
            <a:off x="502920" y="6473952"/>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Sharing and Binding within High-Level Synthesis</a:t>
            </a:r>
            <a:endParaRPr lang="en-US" sz="900" dirty="0"/>
          </a:p>
        </p:txBody>
      </p:sp>
      <p:sp>
        <p:nvSpPr>
          <p:cNvPr id="40" name="Text 38"/>
          <p:cNvSpPr/>
          <p:nvPr/>
        </p:nvSpPr>
        <p:spPr>
          <a:xfrm>
            <a:off x="8229600" y="6473952"/>
            <a:ext cx="2743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HSHL  •  Seminar Presentation</a:t>
            </a:r>
            <a:endParaRPr lang="en-US" sz="900" dirty="0"/>
          </a:p>
        </p:txBody>
      </p:sp>
      <p:sp>
        <p:nvSpPr>
          <p:cNvPr id="41" name="Text 39"/>
          <p:cNvSpPr/>
          <p:nvPr/>
        </p:nvSpPr>
        <p:spPr>
          <a:xfrm>
            <a:off x="11155680" y="6473952"/>
            <a:ext cx="548640" cy="274320"/>
          </a:xfrm>
          <a:prstGeom prst="rect">
            <a:avLst/>
          </a:prstGeom>
          <a:noFill/>
          <a:ln/>
        </p:spPr>
        <p:txBody>
          <a:bodyPr wrap="square" rtlCol="0" anchor="ctr"/>
          <a:lstStyle/>
          <a:p>
            <a:pPr marL="0" indent="0" algn="r">
              <a:buNone/>
            </a:pPr>
            <a:r>
              <a:rPr lang="en-US" sz="1000" b="1" dirty="0">
                <a:solidFill>
                  <a:srgbClr val="1A4FA0"/>
                </a:solidFill>
                <a:latin typeface="Trebuchet MS" pitchFamily="34" charset="0"/>
                <a:ea typeface="Trebuchet MS" pitchFamily="34" charset="-122"/>
                <a:cs typeface="Trebuchet MS"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FFFFFF"/>
          </a:solidFill>
          <a:ln/>
        </p:spPr>
        <p:txBody>
          <a:bodyPr/>
          <a:lstStyle/>
          <a:p>
            <a:endParaRPr lang="en-DE"/>
          </a:p>
        </p:txBody>
      </p:sp>
      <p:sp>
        <p:nvSpPr>
          <p:cNvPr id="3" name="Shape 1"/>
          <p:cNvSpPr/>
          <p:nvPr/>
        </p:nvSpPr>
        <p:spPr>
          <a:xfrm>
            <a:off x="0" y="0"/>
            <a:ext cx="201168" cy="1078992"/>
          </a:xfrm>
          <a:prstGeom prst="rect">
            <a:avLst/>
          </a:prstGeom>
          <a:solidFill>
            <a:srgbClr val="1A4FA0"/>
          </a:solidFill>
          <a:ln/>
        </p:spPr>
        <p:txBody>
          <a:bodyPr/>
          <a:lstStyle/>
          <a:p>
            <a:endParaRPr lang="en-DE"/>
          </a:p>
        </p:txBody>
      </p:sp>
      <p:sp>
        <p:nvSpPr>
          <p:cNvPr id="4" name="Text 2"/>
          <p:cNvSpPr/>
          <p:nvPr/>
        </p:nvSpPr>
        <p:spPr>
          <a:xfrm>
            <a:off x="502920" y="182880"/>
            <a:ext cx="10515600" cy="274320"/>
          </a:xfrm>
          <a:prstGeom prst="rect">
            <a:avLst/>
          </a:prstGeom>
          <a:noFill/>
          <a:ln/>
        </p:spPr>
        <p:txBody>
          <a:bodyPr wrap="square" rtlCol="0" anchor="ctr"/>
          <a:lstStyle/>
          <a:p>
            <a:pPr marL="0" indent="0">
              <a:buNone/>
            </a:pPr>
            <a:r>
              <a:rPr lang="en-US" sz="1200" b="1" kern="0" spc="200" dirty="0">
                <a:solidFill>
                  <a:srgbClr val="0E8FD0"/>
                </a:solidFill>
                <a:latin typeface="Trebuchet MS" pitchFamily="34" charset="0"/>
                <a:ea typeface="Trebuchet MS" pitchFamily="34" charset="-122"/>
                <a:cs typeface="Trebuchet MS" pitchFamily="34" charset="-120"/>
              </a:rPr>
              <a:t>RESULTS</a:t>
            </a:r>
            <a:endParaRPr lang="en-US" sz="1200" dirty="0"/>
          </a:p>
        </p:txBody>
      </p:sp>
      <p:sp>
        <p:nvSpPr>
          <p:cNvPr id="5" name="Text 3"/>
          <p:cNvSpPr/>
          <p:nvPr/>
        </p:nvSpPr>
        <p:spPr>
          <a:xfrm>
            <a:off x="475488" y="420624"/>
            <a:ext cx="11247120" cy="566928"/>
          </a:xfrm>
          <a:prstGeom prst="rect">
            <a:avLst/>
          </a:prstGeom>
          <a:noFill/>
          <a:ln/>
        </p:spPr>
        <p:txBody>
          <a:bodyPr wrap="square" rtlCol="0" anchor="ctr"/>
          <a:lstStyle/>
          <a:p>
            <a:pPr marL="0" indent="0">
              <a:buNone/>
            </a:pPr>
            <a:r>
              <a:rPr lang="en-US" sz="2700" b="1" dirty="0">
                <a:solidFill>
                  <a:srgbClr val="0E2747"/>
                </a:solidFill>
                <a:latin typeface="Trebuchet MS" pitchFamily="34" charset="0"/>
                <a:ea typeface="Trebuchet MS" pitchFamily="34" charset="-122"/>
                <a:cs typeface="Trebuchet MS" pitchFamily="34" charset="-120"/>
              </a:rPr>
              <a:t>Resource Utilization Comparison</a:t>
            </a:r>
            <a:endParaRPr lang="en-US" sz="2700" dirty="0"/>
          </a:p>
        </p:txBody>
      </p:sp>
      <p:sp>
        <p:nvSpPr>
          <p:cNvPr id="6" name="Shape 4"/>
          <p:cNvSpPr/>
          <p:nvPr/>
        </p:nvSpPr>
        <p:spPr>
          <a:xfrm>
            <a:off x="502920" y="1060704"/>
            <a:ext cx="11185855" cy="16459"/>
          </a:xfrm>
          <a:prstGeom prst="rect">
            <a:avLst/>
          </a:prstGeom>
          <a:solidFill>
            <a:srgbClr val="D5E0F0"/>
          </a:solidFill>
          <a:ln/>
        </p:spPr>
        <p:txBody>
          <a:bodyPr/>
          <a:lstStyle/>
          <a:p>
            <a:endParaRPr lang="en-DE"/>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5486400" cy="3154680"/>
        </p:xfrm>
        <a:graphic>
          <a:graphicData uri="http://schemas.openxmlformats.org/drawingml/2006/table">
            <a:tbl>
              <a:tblPr/>
              <a:tblGrid>
                <a:gridCol w="25603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11480">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Resource</a:t>
                      </a:r>
                      <a:endParaRPr lang="en-US" sz="1300" dirty="0">
                        <a:latin typeface="Trebuchet MS" charset="0"/>
                        <a:ea typeface="Trebuchet MS" charset="0"/>
                        <a:cs typeface="Trebuchet MS"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1A4FA0"/>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No Sharing</a:t>
                      </a:r>
                      <a:endParaRPr lang="en-US" sz="1300" dirty="0">
                        <a:latin typeface="Trebuchet MS" charset="0"/>
                        <a:ea typeface="Trebuchet MS" charset="0"/>
                        <a:cs typeface="Trebuchet MS"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1A4FA0"/>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Sharing</a:t>
                      </a:r>
                      <a:endParaRPr lang="en-US" sz="1300" dirty="0">
                        <a:latin typeface="Trebuchet MS" charset="0"/>
                        <a:ea typeface="Trebuchet MS" charset="0"/>
                        <a:cs typeface="Trebuchet MS"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0E2747"/>
                    </a:solidFill>
                  </a:tcPr>
                </a:tc>
                <a:extLst>
                  <a:ext uri="{0D108BD9-81ED-4DB2-BD59-A6C34878D82A}">
                    <a16:rowId xmlns:a16="http://schemas.microsoft.com/office/drawing/2014/main" val="10000"/>
                  </a:ext>
                </a:extLst>
              </a:tr>
              <a:tr h="457200">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Multipliers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415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9E5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Adders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ctr">
                        <a:buNone/>
                      </a:pPr>
                      <a:r>
                        <a:rPr lang="en-US" sz="1300" dirty="0">
                          <a:solidFill>
                            <a:srgbClr val="33415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ctr">
                        <a:buNone/>
                      </a:pPr>
                      <a:r>
                        <a:rPr lang="en-US" sz="1300" b="1" dirty="0">
                          <a:solidFill>
                            <a:srgbClr val="2E9E5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extLst>
                  <a:ext uri="{0D108BD9-81ED-4DB2-BD59-A6C34878D82A}">
                    <a16:rowId xmlns:a16="http://schemas.microsoft.com/office/drawing/2014/main" val="10002"/>
                  </a:ext>
                </a:extLst>
              </a:tr>
              <a:tr h="457200">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MUX</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415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9E5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DSP Blocks</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ctr">
                        <a:buNone/>
                      </a:pPr>
                      <a:r>
                        <a:rPr lang="en-US" sz="1300" dirty="0">
                          <a:solidFill>
                            <a:srgbClr val="33415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ctr">
                        <a:buNone/>
                      </a:pPr>
                      <a:r>
                        <a:rPr lang="en-US" sz="1300" b="1" dirty="0">
                          <a:solidFill>
                            <a:srgbClr val="2E9E5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extLst>
                  <a:ext uri="{0D108BD9-81ED-4DB2-BD59-A6C34878D82A}">
                    <a16:rowId xmlns:a16="http://schemas.microsoft.com/office/drawing/2014/main" val="10004"/>
                  </a:ext>
                </a:extLst>
              </a:tr>
              <a:tr h="457200">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Area</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415C"/>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9E5B"/>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300" b="1" dirty="0">
                          <a:solidFill>
                            <a:srgbClr val="0E2747"/>
                          </a:solidFill>
                          <a:latin typeface="Calibri" pitchFamily="34" charset="0"/>
                          <a:ea typeface="Calibri" pitchFamily="34" charset="-122"/>
                          <a:cs typeface="Calibri" pitchFamily="34" charset="-120"/>
                        </a:rPr>
                        <a:t>Power</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ctr">
                        <a:buNone/>
                      </a:pPr>
                      <a:r>
                        <a:rPr lang="en-US" sz="1300" dirty="0">
                          <a:solidFill>
                            <a:srgbClr val="33415C"/>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tc>
                  <a:txBody>
                    <a:bodyPr/>
                    <a:lstStyle/>
                    <a:p>
                      <a:pPr marL="0" indent="0" algn="ctr">
                        <a:buNone/>
                      </a:pPr>
                      <a:r>
                        <a:rPr lang="en-US" sz="1300" b="1" dirty="0">
                          <a:solidFill>
                            <a:srgbClr val="2E9E5B"/>
                          </a:solidFill>
                          <a:latin typeface="Calibri" pitchFamily="34" charset="0"/>
                          <a:ea typeface="Calibri" pitchFamily="34" charset="-122"/>
                          <a:cs typeface="Calibri" pitchFamily="34" charset="-120"/>
                        </a:rPr>
                        <a:t>Lower</a:t>
                      </a:r>
                      <a:endParaRPr lang="en-US" sz="1300" dirty="0">
                        <a:latin typeface="Calibri" charset="0"/>
                        <a:ea typeface="Calibri" charset="0"/>
                        <a:cs typeface="Calibri" charset="0"/>
                      </a:endParaRPr>
                    </a:p>
                  </a:txBody>
                  <a:tcPr anchor="ctr">
                    <a:lnL w="6350" cap="flat" cmpd="sng" algn="ctr">
                      <a:solidFill>
                        <a:srgbClr val="D5E0F0"/>
                      </a:solidFill>
                      <a:prstDash val="solid"/>
                      <a:round/>
                      <a:headEnd type="none" w="med" len="med"/>
                      <a:tailEnd type="none" w="med" len="med"/>
                    </a:lnL>
                    <a:lnR w="6350" cap="flat" cmpd="sng" algn="ctr">
                      <a:solidFill>
                        <a:srgbClr val="D5E0F0"/>
                      </a:solidFill>
                      <a:prstDash val="solid"/>
                      <a:round/>
                      <a:headEnd type="none" w="med" len="med"/>
                      <a:tailEnd type="none" w="med" len="med"/>
                    </a:lnR>
                    <a:lnT w="6350" cap="flat" cmpd="sng" algn="ctr">
                      <a:solidFill>
                        <a:srgbClr val="D5E0F0"/>
                      </a:solidFill>
                      <a:prstDash val="solid"/>
                      <a:round/>
                      <a:headEnd type="none" w="med" len="med"/>
                      <a:tailEnd type="none" w="med" len="med"/>
                    </a:lnT>
                    <a:lnB w="6350" cap="flat" cmpd="sng" algn="ctr">
                      <a:solidFill>
                        <a:srgbClr val="D5E0F0"/>
                      </a:solidFill>
                      <a:prstDash val="solid"/>
                      <a:round/>
                      <a:headEnd type="none" w="med" len="med"/>
                      <a:tailEnd type="none" w="med" len="med"/>
                    </a:lnB>
                    <a:solidFill>
                      <a:srgbClr val="F4F7FC"/>
                    </a:solidFill>
                  </a:tcPr>
                </a:tc>
                <a:extLst>
                  <a:ext uri="{0D108BD9-81ED-4DB2-BD59-A6C34878D82A}">
                    <a16:rowId xmlns:a16="http://schemas.microsoft.com/office/drawing/2014/main" val="10006"/>
                  </a:ext>
                </a:extLst>
              </a:tr>
            </a:tbl>
          </a:graphicData>
        </a:graphic>
      </p:graphicFrame>
      <p:sp>
        <p:nvSpPr>
          <p:cNvPr id="8" name="Text 5"/>
          <p:cNvSpPr/>
          <p:nvPr/>
        </p:nvSpPr>
        <p:spPr>
          <a:xfrm>
            <a:off x="6355080" y="1280160"/>
            <a:ext cx="5486400" cy="320040"/>
          </a:xfrm>
          <a:prstGeom prst="rect">
            <a:avLst/>
          </a:prstGeom>
          <a:noFill/>
          <a:ln/>
        </p:spPr>
        <p:txBody>
          <a:bodyPr wrap="square" rtlCol="0" anchor="ctr"/>
          <a:lstStyle/>
          <a:p>
            <a:pPr marL="0" indent="0">
              <a:buNone/>
            </a:pPr>
            <a:r>
              <a:rPr lang="en-US" sz="1400" b="1" dirty="0">
                <a:solidFill>
                  <a:srgbClr val="1A4FA0"/>
                </a:solidFill>
                <a:latin typeface="Trebuchet MS" pitchFamily="34" charset="0"/>
                <a:ea typeface="Trebuchet MS" pitchFamily="34" charset="-122"/>
                <a:cs typeface="Trebuchet MS" pitchFamily="34" charset="-120"/>
              </a:rPr>
              <a:t>Hardware Units: No Sharing vs Sharing</a:t>
            </a:r>
            <a:endParaRPr lang="en-US" sz="1400" dirty="0"/>
          </a:p>
        </p:txBody>
      </p:sp>
      <p:graphicFrame>
        <p:nvGraphicFramePr>
          <p:cNvPr id="9" name="Chart 0"/>
          <p:cNvGraphicFramePr/>
          <p:nvPr/>
        </p:nvGraphicFramePr>
        <p:xfrm>
          <a:off x="6263640" y="1645920"/>
          <a:ext cx="548640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502920" y="5074920"/>
            <a:ext cx="11201400" cy="914400"/>
          </a:xfrm>
          <a:prstGeom prst="rect">
            <a:avLst/>
          </a:prstGeom>
          <a:solidFill>
            <a:srgbClr val="0E2747"/>
          </a:solidFill>
          <a:ln/>
          <a:effectLst>
            <a:outerShdw blurRad="88900" dist="25400" dir="5400000" algn="bl" rotWithShape="0">
              <a:srgbClr val="8AA0C0">
                <a:alpha val="28000"/>
              </a:srgbClr>
            </a:outerShdw>
          </a:effectLst>
        </p:spPr>
        <p:txBody>
          <a:bodyPr/>
          <a:lstStyle/>
          <a:p>
            <a:endParaRPr lang="en-DE"/>
          </a:p>
        </p:txBody>
      </p:sp>
      <p:sp>
        <p:nvSpPr>
          <p:cNvPr id="7" name="Shape 7"/>
          <p:cNvSpPr/>
          <p:nvPr/>
        </p:nvSpPr>
        <p:spPr>
          <a:xfrm>
            <a:off x="502920" y="5074920"/>
            <a:ext cx="109728" cy="914400"/>
          </a:xfrm>
          <a:prstGeom prst="rect">
            <a:avLst/>
          </a:prstGeom>
          <a:solidFill>
            <a:srgbClr val="0E8FD0"/>
          </a:solidFill>
          <a:ln/>
        </p:spPr>
        <p:txBody>
          <a:bodyPr/>
          <a:lstStyle/>
          <a:p>
            <a:endParaRPr lang="en-DE"/>
          </a:p>
        </p:txBody>
      </p:sp>
      <p:sp>
        <p:nvSpPr>
          <p:cNvPr id="12" name="Text 8"/>
          <p:cNvSpPr/>
          <p:nvPr/>
        </p:nvSpPr>
        <p:spPr>
          <a:xfrm>
            <a:off x="777240" y="5074920"/>
            <a:ext cx="457200" cy="914400"/>
          </a:xfrm>
          <a:prstGeom prst="rect">
            <a:avLst/>
          </a:prstGeom>
          <a:noFill/>
          <a:ln/>
        </p:spPr>
        <p:txBody>
          <a:bodyPr wrap="square" rtlCol="0" anchor="ctr"/>
          <a:lstStyle/>
          <a:p>
            <a:pPr marL="0" indent="0">
              <a:buNone/>
            </a:pPr>
            <a:r>
              <a:rPr lang="en-US" sz="2200" b="1" dirty="0">
                <a:solidFill>
                  <a:srgbClr val="2E9E5B"/>
                </a:solidFill>
                <a:latin typeface="Calibri" pitchFamily="34" charset="0"/>
                <a:ea typeface="Calibri" pitchFamily="34" charset="-122"/>
                <a:cs typeface="Calibri" pitchFamily="34" charset="-120"/>
              </a:rPr>
              <a:t>✔</a:t>
            </a:r>
            <a:endParaRPr lang="en-US" sz="2200" dirty="0"/>
          </a:p>
        </p:txBody>
      </p:sp>
      <p:sp>
        <p:nvSpPr>
          <p:cNvPr id="13" name="Text 9"/>
          <p:cNvSpPr/>
          <p:nvPr/>
        </p:nvSpPr>
        <p:spPr>
          <a:xfrm>
            <a:off x="1280160" y="5074920"/>
            <a:ext cx="10241280" cy="914400"/>
          </a:xfrm>
          <a:prstGeom prst="rect">
            <a:avLst/>
          </a:prstGeom>
          <a:noFill/>
          <a:ln/>
        </p:spPr>
        <p:txBody>
          <a:bodyPr wrap="square" rtlCol="0" anchor="ctr"/>
          <a:lstStyle/>
          <a:p>
            <a:pPr marL="0" indent="0">
              <a:buNone/>
            </a:pPr>
            <a:r>
              <a:rPr lang="en-US" sz="1450" b="1" dirty="0">
                <a:solidFill>
                  <a:srgbClr val="0E8FD0"/>
                </a:solidFill>
                <a:latin typeface="Calibri" pitchFamily="34" charset="0"/>
                <a:ea typeface="Calibri" pitchFamily="34" charset="-122"/>
                <a:cs typeface="Calibri" pitchFamily="34" charset="-120"/>
              </a:rPr>
              <a:t>Result.  </a:t>
            </a:r>
            <a:r>
              <a:rPr lang="en-US" sz="1450" dirty="0">
                <a:solidFill>
                  <a:srgbClr val="FFFFFF"/>
                </a:solidFill>
                <a:latin typeface="Calibri" pitchFamily="34" charset="0"/>
                <a:ea typeface="Calibri" pitchFamily="34" charset="-122"/>
                <a:cs typeface="Calibri" pitchFamily="34" charset="-120"/>
              </a:rPr>
              <a:t>Resource sharing roughly halves multiplier and DSP-block usage, significantly reducing FPGA utilization, area and power.</a:t>
            </a:r>
            <a:endParaRPr lang="en-US" sz="1450" dirty="0"/>
          </a:p>
        </p:txBody>
      </p:sp>
      <p:sp>
        <p:nvSpPr>
          <p:cNvPr id="14" name="Text 10"/>
          <p:cNvSpPr/>
          <p:nvPr/>
        </p:nvSpPr>
        <p:spPr>
          <a:xfrm>
            <a:off x="502920" y="6473952"/>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Sharing and Binding within High-Level Synthesis</a:t>
            </a:r>
            <a:endParaRPr lang="en-US" sz="900" dirty="0"/>
          </a:p>
        </p:txBody>
      </p:sp>
      <p:sp>
        <p:nvSpPr>
          <p:cNvPr id="15" name="Text 11"/>
          <p:cNvSpPr/>
          <p:nvPr/>
        </p:nvSpPr>
        <p:spPr>
          <a:xfrm>
            <a:off x="8229600" y="6473952"/>
            <a:ext cx="2743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HSHL  •  Seminar Presentation</a:t>
            </a:r>
            <a:endParaRPr lang="en-US" sz="900" dirty="0"/>
          </a:p>
        </p:txBody>
      </p:sp>
      <p:sp>
        <p:nvSpPr>
          <p:cNvPr id="16" name="Text 12"/>
          <p:cNvSpPr/>
          <p:nvPr/>
        </p:nvSpPr>
        <p:spPr>
          <a:xfrm>
            <a:off x="11155680" y="6473952"/>
            <a:ext cx="548640" cy="274320"/>
          </a:xfrm>
          <a:prstGeom prst="rect">
            <a:avLst/>
          </a:prstGeom>
          <a:noFill/>
          <a:ln/>
        </p:spPr>
        <p:txBody>
          <a:bodyPr wrap="square" rtlCol="0" anchor="ctr"/>
          <a:lstStyle/>
          <a:p>
            <a:pPr marL="0" indent="0" algn="r">
              <a:buNone/>
            </a:pPr>
            <a:r>
              <a:rPr lang="en-US" sz="1000" b="1" dirty="0">
                <a:solidFill>
                  <a:srgbClr val="1A4FA0"/>
                </a:solidFill>
                <a:latin typeface="Trebuchet MS" pitchFamily="34" charset="0"/>
                <a:ea typeface="Trebuchet MS" pitchFamily="34" charset="-122"/>
                <a:cs typeface="Trebuchet M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FFFFFF"/>
          </a:solidFill>
          <a:ln/>
        </p:spPr>
        <p:txBody>
          <a:bodyPr/>
          <a:lstStyle/>
          <a:p>
            <a:endParaRPr lang="en-DE"/>
          </a:p>
        </p:txBody>
      </p:sp>
      <p:sp>
        <p:nvSpPr>
          <p:cNvPr id="3" name="Shape 1"/>
          <p:cNvSpPr/>
          <p:nvPr/>
        </p:nvSpPr>
        <p:spPr>
          <a:xfrm>
            <a:off x="0" y="0"/>
            <a:ext cx="201168" cy="1078992"/>
          </a:xfrm>
          <a:prstGeom prst="rect">
            <a:avLst/>
          </a:prstGeom>
          <a:solidFill>
            <a:srgbClr val="1A4FA0"/>
          </a:solidFill>
          <a:ln/>
        </p:spPr>
        <p:txBody>
          <a:bodyPr/>
          <a:lstStyle/>
          <a:p>
            <a:endParaRPr lang="en-DE"/>
          </a:p>
        </p:txBody>
      </p:sp>
      <p:sp>
        <p:nvSpPr>
          <p:cNvPr id="4" name="Text 2"/>
          <p:cNvSpPr/>
          <p:nvPr/>
        </p:nvSpPr>
        <p:spPr>
          <a:xfrm>
            <a:off x="502920" y="182880"/>
            <a:ext cx="10515600" cy="274320"/>
          </a:xfrm>
          <a:prstGeom prst="rect">
            <a:avLst/>
          </a:prstGeom>
          <a:noFill/>
          <a:ln/>
        </p:spPr>
        <p:txBody>
          <a:bodyPr wrap="square" rtlCol="0" anchor="ctr"/>
          <a:lstStyle/>
          <a:p>
            <a:pPr marL="0" indent="0">
              <a:buNone/>
            </a:pPr>
            <a:r>
              <a:rPr lang="en-US" sz="1200" b="1" kern="0" spc="200" dirty="0">
                <a:solidFill>
                  <a:srgbClr val="0E8FD0"/>
                </a:solidFill>
                <a:latin typeface="Trebuchet MS" pitchFamily="34" charset="0"/>
                <a:ea typeface="Trebuchet MS" pitchFamily="34" charset="-122"/>
                <a:cs typeface="Trebuchet MS" pitchFamily="34" charset="-120"/>
              </a:rPr>
              <a:t>ARCHITECTURE</a:t>
            </a:r>
            <a:endParaRPr lang="en-US" sz="1200" dirty="0"/>
          </a:p>
        </p:txBody>
      </p:sp>
      <p:sp>
        <p:nvSpPr>
          <p:cNvPr id="5" name="Text 3"/>
          <p:cNvSpPr/>
          <p:nvPr/>
        </p:nvSpPr>
        <p:spPr>
          <a:xfrm>
            <a:off x="475488" y="420624"/>
            <a:ext cx="11247120" cy="566928"/>
          </a:xfrm>
          <a:prstGeom prst="rect">
            <a:avLst/>
          </a:prstGeom>
          <a:noFill/>
          <a:ln/>
        </p:spPr>
        <p:txBody>
          <a:bodyPr wrap="square" rtlCol="0" anchor="ctr"/>
          <a:lstStyle/>
          <a:p>
            <a:pPr marL="0" indent="0">
              <a:buNone/>
            </a:pPr>
            <a:r>
              <a:rPr lang="en-US" sz="2700" b="1" dirty="0">
                <a:solidFill>
                  <a:srgbClr val="0E2747"/>
                </a:solidFill>
                <a:latin typeface="Trebuchet MS" pitchFamily="34" charset="0"/>
                <a:ea typeface="Trebuchet MS" pitchFamily="34" charset="-122"/>
                <a:cs typeface="Trebuchet MS" pitchFamily="34" charset="-120"/>
              </a:rPr>
              <a:t>RTL Architecture after Binding</a:t>
            </a:r>
            <a:endParaRPr lang="en-US" sz="2700" dirty="0"/>
          </a:p>
        </p:txBody>
      </p:sp>
      <p:sp>
        <p:nvSpPr>
          <p:cNvPr id="6" name="Shape 4"/>
          <p:cNvSpPr/>
          <p:nvPr/>
        </p:nvSpPr>
        <p:spPr>
          <a:xfrm>
            <a:off x="502920" y="1060704"/>
            <a:ext cx="11185855" cy="16459"/>
          </a:xfrm>
          <a:prstGeom prst="rect">
            <a:avLst/>
          </a:prstGeom>
          <a:solidFill>
            <a:srgbClr val="D5E0F0"/>
          </a:solidFill>
          <a:ln/>
        </p:spPr>
        <p:txBody>
          <a:bodyPr/>
          <a:lstStyle/>
          <a:p>
            <a:endParaRPr lang="en-DE"/>
          </a:p>
        </p:txBody>
      </p:sp>
      <p:sp>
        <p:nvSpPr>
          <p:cNvPr id="7" name="Text 5"/>
          <p:cNvSpPr/>
          <p:nvPr/>
        </p:nvSpPr>
        <p:spPr>
          <a:xfrm>
            <a:off x="502920" y="1234440"/>
            <a:ext cx="5029200" cy="365760"/>
          </a:xfrm>
          <a:prstGeom prst="rect">
            <a:avLst/>
          </a:prstGeom>
          <a:noFill/>
          <a:ln/>
        </p:spPr>
        <p:txBody>
          <a:bodyPr wrap="square" rtlCol="0" anchor="ctr"/>
          <a:lstStyle/>
          <a:p>
            <a:pPr marL="0" indent="0">
              <a:buNone/>
            </a:pPr>
            <a:r>
              <a:rPr lang="en-US" sz="1700" b="1" dirty="0">
                <a:solidFill>
                  <a:srgbClr val="1A4FA0"/>
                </a:solidFill>
                <a:latin typeface="Trebuchet MS" pitchFamily="34" charset="0"/>
                <a:ea typeface="Trebuchet MS" pitchFamily="34" charset="-122"/>
                <a:cs typeface="Trebuchet MS" pitchFamily="34" charset="-120"/>
              </a:rPr>
              <a:t>Shared Datapath</a:t>
            </a:r>
            <a:endParaRPr lang="en-US" sz="1700" dirty="0"/>
          </a:p>
        </p:txBody>
      </p:sp>
      <p:sp>
        <p:nvSpPr>
          <p:cNvPr id="8" name="Shape 6"/>
          <p:cNvSpPr/>
          <p:nvPr/>
        </p:nvSpPr>
        <p:spPr>
          <a:xfrm>
            <a:off x="640080" y="1783080"/>
            <a:ext cx="1143000" cy="457200"/>
          </a:xfrm>
          <a:prstGeom prst="roundRect">
            <a:avLst>
              <a:gd name="adj" fmla="val 14000"/>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9" name="Text 7"/>
          <p:cNvSpPr/>
          <p:nvPr/>
        </p:nvSpPr>
        <p:spPr>
          <a:xfrm>
            <a:off x="685800" y="1783080"/>
            <a:ext cx="1051560" cy="457200"/>
          </a:xfrm>
          <a:prstGeom prst="rect">
            <a:avLst/>
          </a:prstGeom>
          <a:noFill/>
          <a:ln/>
        </p:spPr>
        <p:txBody>
          <a:bodyPr wrap="square" rtlCol="0" anchor="ctr"/>
          <a:lstStyle/>
          <a:p>
            <a:pPr marL="0" indent="0" algn="ctr">
              <a:buNone/>
            </a:pPr>
            <a:r>
              <a:rPr lang="en-US" sz="1300" b="1" dirty="0">
                <a:solidFill>
                  <a:srgbClr val="0E2747"/>
                </a:solidFill>
                <a:latin typeface="Trebuchet MS" pitchFamily="34" charset="0"/>
                <a:ea typeface="Trebuchet MS" pitchFamily="34" charset="-122"/>
                <a:cs typeface="Trebuchet MS" pitchFamily="34" charset="-120"/>
              </a:rPr>
              <a:t>a, b</a:t>
            </a:r>
            <a:endParaRPr lang="en-US" sz="1300" dirty="0"/>
          </a:p>
        </p:txBody>
      </p:sp>
      <p:sp>
        <p:nvSpPr>
          <p:cNvPr id="10" name="Shape 8"/>
          <p:cNvSpPr/>
          <p:nvPr/>
        </p:nvSpPr>
        <p:spPr>
          <a:xfrm>
            <a:off x="640080" y="2468880"/>
            <a:ext cx="1143000" cy="457200"/>
          </a:xfrm>
          <a:prstGeom prst="roundRect">
            <a:avLst>
              <a:gd name="adj" fmla="val 14000"/>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1" name="Text 9"/>
          <p:cNvSpPr/>
          <p:nvPr/>
        </p:nvSpPr>
        <p:spPr>
          <a:xfrm>
            <a:off x="685800" y="2468880"/>
            <a:ext cx="1051560" cy="457200"/>
          </a:xfrm>
          <a:prstGeom prst="rect">
            <a:avLst/>
          </a:prstGeom>
          <a:noFill/>
          <a:ln/>
        </p:spPr>
        <p:txBody>
          <a:bodyPr wrap="square" rtlCol="0" anchor="ctr"/>
          <a:lstStyle/>
          <a:p>
            <a:pPr marL="0" indent="0" algn="ctr">
              <a:buNone/>
            </a:pPr>
            <a:r>
              <a:rPr lang="en-US" sz="1300" b="1" dirty="0">
                <a:solidFill>
                  <a:srgbClr val="0E2747"/>
                </a:solidFill>
                <a:latin typeface="Trebuchet MS" pitchFamily="34" charset="0"/>
                <a:ea typeface="Trebuchet MS" pitchFamily="34" charset="-122"/>
                <a:cs typeface="Trebuchet MS" pitchFamily="34" charset="-120"/>
              </a:rPr>
              <a:t>c, d</a:t>
            </a:r>
            <a:endParaRPr lang="en-US" sz="1300" dirty="0"/>
          </a:p>
        </p:txBody>
      </p:sp>
      <p:sp>
        <p:nvSpPr>
          <p:cNvPr id="12" name="Text 10"/>
          <p:cNvSpPr/>
          <p:nvPr/>
        </p:nvSpPr>
        <p:spPr>
          <a:xfrm>
            <a:off x="1828800" y="1783080"/>
            <a:ext cx="365760" cy="457200"/>
          </a:xfrm>
          <a:prstGeom prst="rect">
            <a:avLst/>
          </a:prstGeom>
          <a:noFill/>
          <a:ln/>
        </p:spPr>
        <p:txBody>
          <a:bodyPr wrap="square" rtlCol="0" anchor="ctr"/>
          <a:lstStyle/>
          <a:p>
            <a:pPr marL="0" indent="0" algn="ctr">
              <a:buNone/>
            </a:pPr>
            <a:r>
              <a:rPr lang="en-US" sz="1400" dirty="0">
                <a:solidFill>
                  <a:srgbClr val="0E8FD0"/>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828800" y="2468880"/>
            <a:ext cx="365760" cy="457200"/>
          </a:xfrm>
          <a:prstGeom prst="rect">
            <a:avLst/>
          </a:prstGeom>
          <a:noFill/>
          <a:ln/>
        </p:spPr>
        <p:txBody>
          <a:bodyPr wrap="square" rtlCol="0" anchor="ctr"/>
          <a:lstStyle/>
          <a:p>
            <a:pPr marL="0" indent="0" algn="ctr">
              <a:buNone/>
            </a:pPr>
            <a:r>
              <a:rPr lang="en-US" sz="1400" dirty="0">
                <a:solidFill>
                  <a:srgbClr val="0E8FD0"/>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2148840" y="1810512"/>
            <a:ext cx="2377440" cy="1097280"/>
          </a:xfrm>
          <a:prstGeom prst="roundRect">
            <a:avLst>
              <a:gd name="adj" fmla="val 5833"/>
            </a:avLst>
          </a:prstGeom>
          <a:solidFill>
            <a:srgbClr val="1A4FA0"/>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5" name="Text 13"/>
          <p:cNvSpPr/>
          <p:nvPr/>
        </p:nvSpPr>
        <p:spPr>
          <a:xfrm>
            <a:off x="2194560" y="1810512"/>
            <a:ext cx="2286000" cy="109728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MUX</a:t>
            </a:r>
            <a:endParaRPr lang="en-US" sz="1500" dirty="0"/>
          </a:p>
        </p:txBody>
      </p:sp>
      <p:sp>
        <p:nvSpPr>
          <p:cNvPr id="16" name="Text 14"/>
          <p:cNvSpPr/>
          <p:nvPr/>
        </p:nvSpPr>
        <p:spPr>
          <a:xfrm>
            <a:off x="2148840" y="2971800"/>
            <a:ext cx="237744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2148840" y="3246120"/>
            <a:ext cx="2377440" cy="566928"/>
          </a:xfrm>
          <a:prstGeom prst="roundRect">
            <a:avLst>
              <a:gd name="adj" fmla="val 11290"/>
            </a:avLst>
          </a:prstGeom>
          <a:solidFill>
            <a:srgbClr val="0E2747"/>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18" name="Text 16"/>
          <p:cNvSpPr/>
          <p:nvPr/>
        </p:nvSpPr>
        <p:spPr>
          <a:xfrm>
            <a:off x="2194560" y="3246120"/>
            <a:ext cx="2286000" cy="566928"/>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Shared Multiplier</a:t>
            </a:r>
            <a:endParaRPr lang="en-US" sz="1400" dirty="0"/>
          </a:p>
        </p:txBody>
      </p:sp>
      <p:sp>
        <p:nvSpPr>
          <p:cNvPr id="19" name="Text 17"/>
          <p:cNvSpPr/>
          <p:nvPr/>
        </p:nvSpPr>
        <p:spPr>
          <a:xfrm>
            <a:off x="2148840" y="3877056"/>
            <a:ext cx="237744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2148840" y="4151376"/>
            <a:ext cx="2377440" cy="566928"/>
          </a:xfrm>
          <a:prstGeom prst="roundRect">
            <a:avLst>
              <a:gd name="adj" fmla="val 11290"/>
            </a:avLst>
          </a:prstGeom>
          <a:solidFill>
            <a:srgbClr val="F4F7FC"/>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1" name="Text 19"/>
          <p:cNvSpPr/>
          <p:nvPr/>
        </p:nvSpPr>
        <p:spPr>
          <a:xfrm>
            <a:off x="2194560" y="4151376"/>
            <a:ext cx="2286000" cy="566928"/>
          </a:xfrm>
          <a:prstGeom prst="rect">
            <a:avLst/>
          </a:prstGeom>
          <a:noFill/>
          <a:ln/>
        </p:spPr>
        <p:txBody>
          <a:bodyPr wrap="square" rtlCol="0" anchor="ctr"/>
          <a:lstStyle/>
          <a:p>
            <a:pPr marL="0" indent="0" algn="ctr">
              <a:buNone/>
            </a:pPr>
            <a:r>
              <a:rPr lang="en-US" sz="1400" b="1" dirty="0">
                <a:solidFill>
                  <a:srgbClr val="1A4FA0"/>
                </a:solidFill>
                <a:latin typeface="Trebuchet MS" pitchFamily="34" charset="0"/>
                <a:ea typeface="Trebuchet MS" pitchFamily="34" charset="-122"/>
                <a:cs typeface="Trebuchet MS" pitchFamily="34" charset="-120"/>
              </a:rPr>
              <a:t>Adder</a:t>
            </a:r>
            <a:endParaRPr lang="en-US" sz="1400" dirty="0"/>
          </a:p>
        </p:txBody>
      </p:sp>
      <p:sp>
        <p:nvSpPr>
          <p:cNvPr id="22" name="Text 20"/>
          <p:cNvSpPr/>
          <p:nvPr/>
        </p:nvSpPr>
        <p:spPr>
          <a:xfrm>
            <a:off x="2148840" y="4782312"/>
            <a:ext cx="237744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2788920" y="5056632"/>
            <a:ext cx="1097280" cy="502920"/>
          </a:xfrm>
          <a:prstGeom prst="roundRect">
            <a:avLst>
              <a:gd name="adj" fmla="val 12727"/>
            </a:avLst>
          </a:prstGeom>
          <a:solidFill>
            <a:srgbClr val="1A4FA0"/>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4" name="Text 22"/>
          <p:cNvSpPr/>
          <p:nvPr/>
        </p:nvSpPr>
        <p:spPr>
          <a:xfrm>
            <a:off x="2834640" y="5056632"/>
            <a:ext cx="1005840" cy="50292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y</a:t>
            </a:r>
            <a:endParaRPr lang="en-US" sz="1600" dirty="0"/>
          </a:p>
        </p:txBody>
      </p:sp>
      <p:sp>
        <p:nvSpPr>
          <p:cNvPr id="25" name="Shape 23"/>
          <p:cNvSpPr/>
          <p:nvPr/>
        </p:nvSpPr>
        <p:spPr>
          <a:xfrm>
            <a:off x="5989320" y="1371600"/>
            <a:ext cx="18288" cy="4297680"/>
          </a:xfrm>
          <a:prstGeom prst="rect">
            <a:avLst/>
          </a:prstGeom>
          <a:solidFill>
            <a:srgbClr val="D5E0F0"/>
          </a:solidFill>
          <a:ln/>
        </p:spPr>
        <p:txBody>
          <a:bodyPr/>
          <a:lstStyle/>
          <a:p>
            <a:endParaRPr lang="en-DE"/>
          </a:p>
        </p:txBody>
      </p:sp>
      <p:sp>
        <p:nvSpPr>
          <p:cNvPr id="26" name="Text 24"/>
          <p:cNvSpPr/>
          <p:nvPr/>
        </p:nvSpPr>
        <p:spPr>
          <a:xfrm>
            <a:off x="6355080" y="1234440"/>
            <a:ext cx="5029200" cy="365760"/>
          </a:xfrm>
          <a:prstGeom prst="rect">
            <a:avLst/>
          </a:prstGeom>
          <a:noFill/>
          <a:ln/>
        </p:spPr>
        <p:txBody>
          <a:bodyPr wrap="square" rtlCol="0" anchor="ctr"/>
          <a:lstStyle/>
          <a:p>
            <a:pPr marL="0" indent="0">
              <a:buNone/>
            </a:pPr>
            <a:r>
              <a:rPr lang="en-US" sz="1700" b="1" dirty="0">
                <a:solidFill>
                  <a:srgbClr val="1A4FA0"/>
                </a:solidFill>
                <a:latin typeface="Trebuchet MS" pitchFamily="34" charset="0"/>
                <a:ea typeface="Trebuchet MS" pitchFamily="34" charset="-122"/>
                <a:cs typeface="Trebuchet MS" pitchFamily="34" charset="-120"/>
              </a:rPr>
              <a:t>Controller FSM</a:t>
            </a:r>
            <a:endParaRPr lang="en-US" sz="1700" dirty="0"/>
          </a:p>
        </p:txBody>
      </p:sp>
      <p:sp>
        <p:nvSpPr>
          <p:cNvPr id="27" name="Shape 25"/>
          <p:cNvSpPr/>
          <p:nvPr/>
        </p:nvSpPr>
        <p:spPr>
          <a:xfrm>
            <a:off x="6355080" y="1783080"/>
            <a:ext cx="5349240" cy="804672"/>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28" name="Shape 26"/>
          <p:cNvSpPr/>
          <p:nvPr/>
        </p:nvSpPr>
        <p:spPr>
          <a:xfrm>
            <a:off x="6510528" y="1956816"/>
            <a:ext cx="457200" cy="457200"/>
          </a:xfrm>
          <a:prstGeom prst="ellipse">
            <a:avLst/>
          </a:prstGeom>
          <a:solidFill>
            <a:srgbClr val="1A4FA0"/>
          </a:solidFill>
          <a:ln/>
        </p:spPr>
        <p:txBody>
          <a:bodyPr/>
          <a:lstStyle/>
          <a:p>
            <a:endParaRPr lang="en-DE"/>
          </a:p>
        </p:txBody>
      </p:sp>
      <p:sp>
        <p:nvSpPr>
          <p:cNvPr id="29" name="Text 27"/>
          <p:cNvSpPr/>
          <p:nvPr/>
        </p:nvSpPr>
        <p:spPr>
          <a:xfrm>
            <a:off x="6510528" y="1956816"/>
            <a:ext cx="457200" cy="45720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30" name="Text 28"/>
          <p:cNvSpPr/>
          <p:nvPr/>
        </p:nvSpPr>
        <p:spPr>
          <a:xfrm>
            <a:off x="7132320" y="1892808"/>
            <a:ext cx="4389120" cy="310896"/>
          </a:xfrm>
          <a:prstGeom prst="rect">
            <a:avLst/>
          </a:prstGeom>
          <a:noFill/>
          <a:ln/>
        </p:spPr>
        <p:txBody>
          <a:bodyPr wrap="square" rtlCol="0" anchor="ctr"/>
          <a:lstStyle/>
          <a:p>
            <a:pPr marL="0" indent="0">
              <a:buNone/>
            </a:pPr>
            <a:r>
              <a:rPr lang="en-US" sz="1400" b="1" dirty="0">
                <a:solidFill>
                  <a:srgbClr val="0E2747"/>
                </a:solidFill>
                <a:latin typeface="Trebuchet MS" pitchFamily="34" charset="0"/>
                <a:ea typeface="Trebuchet MS" pitchFamily="34" charset="-122"/>
                <a:cs typeface="Trebuchet MS" pitchFamily="34" charset="-120"/>
              </a:rPr>
              <a:t>State 1</a:t>
            </a:r>
            <a:endParaRPr lang="en-US" sz="1400" dirty="0"/>
          </a:p>
        </p:txBody>
      </p:sp>
      <p:sp>
        <p:nvSpPr>
          <p:cNvPr id="31" name="Text 29"/>
          <p:cNvSpPr/>
          <p:nvPr/>
        </p:nvSpPr>
        <p:spPr>
          <a:xfrm>
            <a:off x="7132320" y="2203704"/>
            <a:ext cx="4389120" cy="310896"/>
          </a:xfrm>
          <a:prstGeom prst="rect">
            <a:avLst/>
          </a:prstGeom>
          <a:noFill/>
          <a:ln/>
        </p:spPr>
        <p:txBody>
          <a:bodyPr wrap="square" rtlCol="0" anchor="ctr"/>
          <a:lstStyle/>
          <a:p>
            <a:pPr marL="0" indent="0">
              <a:buNone/>
            </a:pPr>
            <a:r>
              <a:rPr lang="en-US" sz="1250" dirty="0">
                <a:solidFill>
                  <a:srgbClr val="33415C"/>
                </a:solidFill>
                <a:latin typeface="Calibri" pitchFamily="34" charset="0"/>
                <a:ea typeface="Calibri" pitchFamily="34" charset="-122"/>
                <a:cs typeface="Calibri" pitchFamily="34" charset="-120"/>
              </a:rPr>
              <a:t>Compute a · b</a:t>
            </a:r>
            <a:endParaRPr lang="en-US" sz="1250" dirty="0"/>
          </a:p>
        </p:txBody>
      </p:sp>
      <p:sp>
        <p:nvSpPr>
          <p:cNvPr id="32" name="Text 30"/>
          <p:cNvSpPr/>
          <p:nvPr/>
        </p:nvSpPr>
        <p:spPr>
          <a:xfrm>
            <a:off x="8778240" y="2569464"/>
            <a:ext cx="54864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33" name="Shape 31"/>
          <p:cNvSpPr/>
          <p:nvPr/>
        </p:nvSpPr>
        <p:spPr>
          <a:xfrm>
            <a:off x="6355080" y="2862072"/>
            <a:ext cx="5349240" cy="804672"/>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34" name="Shape 32"/>
          <p:cNvSpPr/>
          <p:nvPr/>
        </p:nvSpPr>
        <p:spPr>
          <a:xfrm>
            <a:off x="6510528" y="3035808"/>
            <a:ext cx="457200" cy="457200"/>
          </a:xfrm>
          <a:prstGeom prst="ellipse">
            <a:avLst/>
          </a:prstGeom>
          <a:solidFill>
            <a:srgbClr val="0E8FD0"/>
          </a:solidFill>
          <a:ln/>
        </p:spPr>
        <p:txBody>
          <a:bodyPr/>
          <a:lstStyle/>
          <a:p>
            <a:endParaRPr lang="en-DE"/>
          </a:p>
        </p:txBody>
      </p:sp>
      <p:sp>
        <p:nvSpPr>
          <p:cNvPr id="35" name="Text 33"/>
          <p:cNvSpPr/>
          <p:nvPr/>
        </p:nvSpPr>
        <p:spPr>
          <a:xfrm>
            <a:off x="6510528" y="3035808"/>
            <a:ext cx="457200" cy="45720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36" name="Text 34"/>
          <p:cNvSpPr/>
          <p:nvPr/>
        </p:nvSpPr>
        <p:spPr>
          <a:xfrm>
            <a:off x="7132320" y="2971800"/>
            <a:ext cx="4389120" cy="310896"/>
          </a:xfrm>
          <a:prstGeom prst="rect">
            <a:avLst/>
          </a:prstGeom>
          <a:noFill/>
          <a:ln/>
        </p:spPr>
        <p:txBody>
          <a:bodyPr wrap="square" rtlCol="0" anchor="ctr"/>
          <a:lstStyle/>
          <a:p>
            <a:pPr marL="0" indent="0">
              <a:buNone/>
            </a:pPr>
            <a:r>
              <a:rPr lang="en-US" sz="1400" b="1" dirty="0">
                <a:solidFill>
                  <a:srgbClr val="0E2747"/>
                </a:solidFill>
                <a:latin typeface="Trebuchet MS" pitchFamily="34" charset="0"/>
                <a:ea typeface="Trebuchet MS" pitchFamily="34" charset="-122"/>
                <a:cs typeface="Trebuchet MS" pitchFamily="34" charset="-120"/>
              </a:rPr>
              <a:t>State 2</a:t>
            </a:r>
            <a:endParaRPr lang="en-US" sz="1400" dirty="0"/>
          </a:p>
        </p:txBody>
      </p:sp>
      <p:sp>
        <p:nvSpPr>
          <p:cNvPr id="37" name="Text 35"/>
          <p:cNvSpPr/>
          <p:nvPr/>
        </p:nvSpPr>
        <p:spPr>
          <a:xfrm>
            <a:off x="7132320" y="3282696"/>
            <a:ext cx="4389120" cy="310896"/>
          </a:xfrm>
          <a:prstGeom prst="rect">
            <a:avLst/>
          </a:prstGeom>
          <a:noFill/>
          <a:ln/>
        </p:spPr>
        <p:txBody>
          <a:bodyPr wrap="square" rtlCol="0" anchor="ctr"/>
          <a:lstStyle/>
          <a:p>
            <a:pPr marL="0" indent="0">
              <a:buNone/>
            </a:pPr>
            <a:r>
              <a:rPr lang="en-US" sz="1250" dirty="0">
                <a:solidFill>
                  <a:srgbClr val="33415C"/>
                </a:solidFill>
                <a:latin typeface="Calibri" pitchFamily="34" charset="0"/>
                <a:ea typeface="Calibri" pitchFamily="34" charset="-122"/>
                <a:cs typeface="Calibri" pitchFamily="34" charset="-120"/>
              </a:rPr>
              <a:t>Compute c · d</a:t>
            </a:r>
            <a:endParaRPr lang="en-US" sz="1250" dirty="0"/>
          </a:p>
        </p:txBody>
      </p:sp>
      <p:sp>
        <p:nvSpPr>
          <p:cNvPr id="38" name="Text 36"/>
          <p:cNvSpPr/>
          <p:nvPr/>
        </p:nvSpPr>
        <p:spPr>
          <a:xfrm>
            <a:off x="8778240" y="3648456"/>
            <a:ext cx="548640" cy="237744"/>
          </a:xfrm>
          <a:prstGeom prst="rect">
            <a:avLst/>
          </a:prstGeom>
          <a:noFill/>
          <a:ln/>
        </p:spPr>
        <p:txBody>
          <a:bodyPr wrap="square" rtlCol="0" anchor="ctr"/>
          <a:lstStyle/>
          <a:p>
            <a:pPr marL="0" indent="0" algn="ctr">
              <a:buNone/>
            </a:pPr>
            <a:r>
              <a:rPr lang="en-US" sz="1300" dirty="0">
                <a:solidFill>
                  <a:srgbClr val="0E8FD0"/>
                </a:solidFill>
                <a:latin typeface="Calibri" pitchFamily="34" charset="0"/>
                <a:ea typeface="Calibri" pitchFamily="34" charset="-122"/>
                <a:cs typeface="Calibri" pitchFamily="34" charset="-120"/>
              </a:rPr>
              <a:t>▼</a:t>
            </a:r>
            <a:endParaRPr lang="en-US" sz="1300" dirty="0"/>
          </a:p>
        </p:txBody>
      </p:sp>
      <p:sp>
        <p:nvSpPr>
          <p:cNvPr id="39" name="Shape 37"/>
          <p:cNvSpPr/>
          <p:nvPr/>
        </p:nvSpPr>
        <p:spPr>
          <a:xfrm>
            <a:off x="6355080" y="3941064"/>
            <a:ext cx="5349240" cy="804672"/>
          </a:xfrm>
          <a:prstGeom prst="rect">
            <a:avLst/>
          </a:prstGeom>
          <a:solidFill>
            <a:srgbClr val="FFFFFF"/>
          </a:solidFill>
          <a:ln w="12700">
            <a:solidFill>
              <a:srgbClr val="D5E0F0"/>
            </a:solidFill>
            <a:prstDash val="solid"/>
          </a:ln>
          <a:effectLst>
            <a:outerShdw blurRad="88900" dist="25400" dir="5400000" algn="bl" rotWithShape="0">
              <a:srgbClr val="8AA0C0">
                <a:alpha val="28000"/>
              </a:srgbClr>
            </a:outerShdw>
          </a:effectLst>
        </p:spPr>
        <p:txBody>
          <a:bodyPr/>
          <a:lstStyle/>
          <a:p>
            <a:endParaRPr lang="en-DE"/>
          </a:p>
        </p:txBody>
      </p:sp>
      <p:sp>
        <p:nvSpPr>
          <p:cNvPr id="40" name="Shape 38"/>
          <p:cNvSpPr/>
          <p:nvPr/>
        </p:nvSpPr>
        <p:spPr>
          <a:xfrm>
            <a:off x="6510528" y="4114800"/>
            <a:ext cx="457200" cy="457200"/>
          </a:xfrm>
          <a:prstGeom prst="ellipse">
            <a:avLst/>
          </a:prstGeom>
          <a:solidFill>
            <a:srgbClr val="2E9E5B"/>
          </a:solidFill>
          <a:ln/>
        </p:spPr>
        <p:txBody>
          <a:bodyPr/>
          <a:lstStyle/>
          <a:p>
            <a:endParaRPr lang="en-DE"/>
          </a:p>
        </p:txBody>
      </p:sp>
      <p:sp>
        <p:nvSpPr>
          <p:cNvPr id="41" name="Text 39"/>
          <p:cNvSpPr/>
          <p:nvPr/>
        </p:nvSpPr>
        <p:spPr>
          <a:xfrm>
            <a:off x="6510528" y="4114800"/>
            <a:ext cx="457200" cy="45720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42" name="Text 40"/>
          <p:cNvSpPr/>
          <p:nvPr/>
        </p:nvSpPr>
        <p:spPr>
          <a:xfrm>
            <a:off x="7132320" y="4050792"/>
            <a:ext cx="4389120" cy="310896"/>
          </a:xfrm>
          <a:prstGeom prst="rect">
            <a:avLst/>
          </a:prstGeom>
          <a:noFill/>
          <a:ln/>
        </p:spPr>
        <p:txBody>
          <a:bodyPr wrap="square" rtlCol="0" anchor="ctr"/>
          <a:lstStyle/>
          <a:p>
            <a:pPr marL="0" indent="0">
              <a:buNone/>
            </a:pPr>
            <a:r>
              <a:rPr lang="en-US" sz="1400" b="1" dirty="0">
                <a:solidFill>
                  <a:srgbClr val="0E2747"/>
                </a:solidFill>
                <a:latin typeface="Trebuchet MS" pitchFamily="34" charset="0"/>
                <a:ea typeface="Trebuchet MS" pitchFamily="34" charset="-122"/>
                <a:cs typeface="Trebuchet MS" pitchFamily="34" charset="-120"/>
              </a:rPr>
              <a:t>State 3</a:t>
            </a:r>
            <a:endParaRPr lang="en-US" sz="1400" dirty="0"/>
          </a:p>
        </p:txBody>
      </p:sp>
      <p:sp>
        <p:nvSpPr>
          <p:cNvPr id="43" name="Text 41"/>
          <p:cNvSpPr/>
          <p:nvPr/>
        </p:nvSpPr>
        <p:spPr>
          <a:xfrm>
            <a:off x="7132320" y="4361688"/>
            <a:ext cx="4389120" cy="310896"/>
          </a:xfrm>
          <a:prstGeom prst="rect">
            <a:avLst/>
          </a:prstGeom>
          <a:noFill/>
          <a:ln/>
        </p:spPr>
        <p:txBody>
          <a:bodyPr wrap="square" rtlCol="0" anchor="ctr"/>
          <a:lstStyle/>
          <a:p>
            <a:pPr marL="0" indent="0">
              <a:buNone/>
            </a:pPr>
            <a:r>
              <a:rPr lang="en-US" sz="1250" dirty="0">
                <a:solidFill>
                  <a:srgbClr val="33415C"/>
                </a:solidFill>
                <a:latin typeface="Calibri" pitchFamily="34" charset="0"/>
                <a:ea typeface="Calibri" pitchFamily="34" charset="-122"/>
                <a:cs typeface="Calibri" pitchFamily="34" charset="-120"/>
              </a:rPr>
              <a:t>Perform addition  →  y</a:t>
            </a:r>
            <a:endParaRPr lang="en-US" sz="1250" dirty="0"/>
          </a:p>
        </p:txBody>
      </p:sp>
      <p:sp>
        <p:nvSpPr>
          <p:cNvPr id="44" name="Shape 42"/>
          <p:cNvSpPr/>
          <p:nvPr/>
        </p:nvSpPr>
        <p:spPr>
          <a:xfrm>
            <a:off x="6355080" y="5120640"/>
            <a:ext cx="5349240" cy="566928"/>
          </a:xfrm>
          <a:prstGeom prst="rect">
            <a:avLst/>
          </a:prstGeom>
          <a:solidFill>
            <a:srgbClr val="F4F7FC"/>
          </a:solidFill>
          <a:ln w="12700">
            <a:solidFill>
              <a:srgbClr val="D5E0F0"/>
            </a:solidFill>
            <a:prstDash val="solid"/>
          </a:ln>
        </p:spPr>
        <p:txBody>
          <a:bodyPr/>
          <a:lstStyle/>
          <a:p>
            <a:endParaRPr lang="en-DE"/>
          </a:p>
        </p:txBody>
      </p:sp>
      <p:sp>
        <p:nvSpPr>
          <p:cNvPr id="45" name="Text 43"/>
          <p:cNvSpPr/>
          <p:nvPr/>
        </p:nvSpPr>
        <p:spPr>
          <a:xfrm>
            <a:off x="6537960" y="5120640"/>
            <a:ext cx="5029200" cy="566928"/>
          </a:xfrm>
          <a:prstGeom prst="rect">
            <a:avLst/>
          </a:prstGeom>
          <a:noFill/>
          <a:ln/>
        </p:spPr>
        <p:txBody>
          <a:bodyPr wrap="square" rtlCol="0" anchor="ctr"/>
          <a:lstStyle/>
          <a:p>
            <a:pPr marL="0" indent="0">
              <a:buNone/>
            </a:pPr>
            <a:r>
              <a:rPr lang="en-US" sz="1150" i="1" dirty="0">
                <a:solidFill>
                  <a:srgbClr val="33415C"/>
                </a:solidFill>
                <a:latin typeface="Calibri" pitchFamily="34" charset="0"/>
                <a:ea typeface="Calibri" pitchFamily="34" charset="-122"/>
                <a:cs typeface="Calibri" pitchFamily="34" charset="-120"/>
              </a:rPr>
              <a:t>The FSM sequences the shared datapath so one multiplier serves both products across clock cycles.</a:t>
            </a:r>
            <a:endParaRPr lang="en-US" sz="1150" dirty="0"/>
          </a:p>
        </p:txBody>
      </p:sp>
      <p:sp>
        <p:nvSpPr>
          <p:cNvPr id="46" name="Text 44"/>
          <p:cNvSpPr/>
          <p:nvPr/>
        </p:nvSpPr>
        <p:spPr>
          <a:xfrm>
            <a:off x="502920" y="6473952"/>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Sharing and Binding within High-Level Synthesis</a:t>
            </a:r>
            <a:endParaRPr lang="en-US" sz="900" dirty="0"/>
          </a:p>
        </p:txBody>
      </p:sp>
      <p:sp>
        <p:nvSpPr>
          <p:cNvPr id="47" name="Text 45"/>
          <p:cNvSpPr/>
          <p:nvPr/>
        </p:nvSpPr>
        <p:spPr>
          <a:xfrm>
            <a:off x="8229600" y="6473952"/>
            <a:ext cx="2743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HSHL  •  Seminar Presentation</a:t>
            </a:r>
            <a:endParaRPr lang="en-US" sz="900" dirty="0"/>
          </a:p>
        </p:txBody>
      </p:sp>
      <p:sp>
        <p:nvSpPr>
          <p:cNvPr id="48" name="Text 46"/>
          <p:cNvSpPr/>
          <p:nvPr/>
        </p:nvSpPr>
        <p:spPr>
          <a:xfrm>
            <a:off x="11155680" y="6473952"/>
            <a:ext cx="548640" cy="274320"/>
          </a:xfrm>
          <a:prstGeom prst="rect">
            <a:avLst/>
          </a:prstGeom>
          <a:noFill/>
          <a:ln/>
        </p:spPr>
        <p:txBody>
          <a:bodyPr wrap="square" rtlCol="0" anchor="ctr"/>
          <a:lstStyle/>
          <a:p>
            <a:pPr marL="0" indent="0" algn="r">
              <a:buNone/>
            </a:pPr>
            <a:r>
              <a:rPr lang="en-US" sz="1000" b="1" dirty="0">
                <a:solidFill>
                  <a:srgbClr val="1A4FA0"/>
                </a:solidFill>
                <a:latin typeface="Trebuchet MS" pitchFamily="34" charset="0"/>
                <a:ea typeface="Trebuchet MS" pitchFamily="34" charset="-122"/>
                <a:cs typeface="Trebuchet MS"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FFFFFF"/>
          </a:solidFill>
          <a:ln/>
        </p:spPr>
        <p:txBody>
          <a:bodyPr/>
          <a:lstStyle/>
          <a:p>
            <a:endParaRPr lang="en-DE"/>
          </a:p>
        </p:txBody>
      </p:sp>
      <p:sp>
        <p:nvSpPr>
          <p:cNvPr id="3" name="Shape 1"/>
          <p:cNvSpPr/>
          <p:nvPr/>
        </p:nvSpPr>
        <p:spPr>
          <a:xfrm>
            <a:off x="0" y="0"/>
            <a:ext cx="201168" cy="1078992"/>
          </a:xfrm>
          <a:prstGeom prst="rect">
            <a:avLst/>
          </a:prstGeom>
          <a:solidFill>
            <a:srgbClr val="1A4FA0"/>
          </a:solidFill>
          <a:ln/>
        </p:spPr>
        <p:txBody>
          <a:bodyPr/>
          <a:lstStyle/>
          <a:p>
            <a:endParaRPr lang="en-DE"/>
          </a:p>
        </p:txBody>
      </p:sp>
      <p:sp>
        <p:nvSpPr>
          <p:cNvPr id="4" name="Text 2"/>
          <p:cNvSpPr/>
          <p:nvPr/>
        </p:nvSpPr>
        <p:spPr>
          <a:xfrm>
            <a:off x="502920" y="182880"/>
            <a:ext cx="10515600" cy="274320"/>
          </a:xfrm>
          <a:prstGeom prst="rect">
            <a:avLst/>
          </a:prstGeom>
          <a:noFill/>
          <a:ln/>
        </p:spPr>
        <p:txBody>
          <a:bodyPr wrap="square" rtlCol="0" anchor="ctr"/>
          <a:lstStyle/>
          <a:p>
            <a:pPr marL="0" indent="0">
              <a:buNone/>
            </a:pPr>
            <a:r>
              <a:rPr lang="en-US" sz="1200" b="1" kern="0" spc="200" dirty="0">
                <a:solidFill>
                  <a:srgbClr val="0E8FD0"/>
                </a:solidFill>
                <a:latin typeface="Trebuchet MS" pitchFamily="34" charset="0"/>
                <a:ea typeface="Trebuchet MS" pitchFamily="34" charset="-122"/>
                <a:cs typeface="Trebuchet MS" pitchFamily="34" charset="-120"/>
              </a:rPr>
              <a:t>WRAP-UP</a:t>
            </a:r>
            <a:endParaRPr lang="en-US" sz="1200" dirty="0"/>
          </a:p>
        </p:txBody>
      </p:sp>
      <p:sp>
        <p:nvSpPr>
          <p:cNvPr id="5" name="Text 3"/>
          <p:cNvSpPr/>
          <p:nvPr/>
        </p:nvSpPr>
        <p:spPr>
          <a:xfrm>
            <a:off x="475488" y="420624"/>
            <a:ext cx="11247120" cy="566928"/>
          </a:xfrm>
          <a:prstGeom prst="rect">
            <a:avLst/>
          </a:prstGeom>
          <a:noFill/>
          <a:ln/>
        </p:spPr>
        <p:txBody>
          <a:bodyPr wrap="square" rtlCol="0" anchor="ctr"/>
          <a:lstStyle/>
          <a:p>
            <a:pPr marL="0" indent="0">
              <a:buNone/>
            </a:pPr>
            <a:r>
              <a:rPr lang="en-US" sz="2700" b="1" dirty="0">
                <a:solidFill>
                  <a:srgbClr val="0E2747"/>
                </a:solidFill>
                <a:latin typeface="Trebuchet MS" pitchFamily="34" charset="0"/>
                <a:ea typeface="Trebuchet MS" pitchFamily="34" charset="-122"/>
                <a:cs typeface="Trebuchet MS" pitchFamily="34" charset="-120"/>
              </a:rPr>
              <a:t>Conclusion and Discussion</a:t>
            </a:r>
            <a:endParaRPr lang="en-US" sz="2700" dirty="0"/>
          </a:p>
        </p:txBody>
      </p:sp>
      <p:sp>
        <p:nvSpPr>
          <p:cNvPr id="6" name="Shape 4"/>
          <p:cNvSpPr/>
          <p:nvPr/>
        </p:nvSpPr>
        <p:spPr>
          <a:xfrm>
            <a:off x="502920" y="1060704"/>
            <a:ext cx="11185855" cy="16459"/>
          </a:xfrm>
          <a:prstGeom prst="rect">
            <a:avLst/>
          </a:prstGeom>
          <a:solidFill>
            <a:srgbClr val="D5E0F0"/>
          </a:solidFill>
          <a:ln/>
        </p:spPr>
        <p:txBody>
          <a:bodyPr/>
          <a:lstStyle/>
          <a:p>
            <a:endParaRPr lang="en-DE"/>
          </a:p>
        </p:txBody>
      </p:sp>
      <p:sp>
        <p:nvSpPr>
          <p:cNvPr id="7" name="Text 5"/>
          <p:cNvSpPr/>
          <p:nvPr/>
        </p:nvSpPr>
        <p:spPr>
          <a:xfrm>
            <a:off x="502920" y="1207008"/>
            <a:ext cx="3657600" cy="310896"/>
          </a:xfrm>
          <a:prstGeom prst="rect">
            <a:avLst/>
          </a:prstGeom>
          <a:noFill/>
          <a:ln/>
        </p:spPr>
        <p:txBody>
          <a:bodyPr wrap="square" rtlCol="0" anchor="ctr"/>
          <a:lstStyle/>
          <a:p>
            <a:pPr marL="0" indent="0">
              <a:buNone/>
            </a:pPr>
            <a:r>
              <a:rPr lang="en-US" sz="1500" b="1" dirty="0">
                <a:solidFill>
                  <a:srgbClr val="1A4FA0"/>
                </a:solidFill>
                <a:latin typeface="Trebuchet MS" pitchFamily="34" charset="0"/>
                <a:ea typeface="Trebuchet MS" pitchFamily="34" charset="-122"/>
                <a:cs typeface="Trebuchet MS" pitchFamily="34" charset="-120"/>
              </a:rPr>
              <a:t>Key Takeaways</a:t>
            </a:r>
            <a:endParaRPr lang="en-US" sz="1500" dirty="0"/>
          </a:p>
        </p:txBody>
      </p:sp>
      <p:sp>
        <p:nvSpPr>
          <p:cNvPr id="8" name="Text 6"/>
          <p:cNvSpPr/>
          <p:nvPr/>
        </p:nvSpPr>
        <p:spPr>
          <a:xfrm>
            <a:off x="502920" y="1572768"/>
            <a:ext cx="274320" cy="457200"/>
          </a:xfrm>
          <a:prstGeom prst="rect">
            <a:avLst/>
          </a:prstGeom>
          <a:noFill/>
          <a:ln/>
        </p:spPr>
        <p:txBody>
          <a:bodyPr wrap="square" rtlCol="0" anchor="t"/>
          <a:lstStyle/>
          <a:p>
            <a:pPr marL="0" indent="0">
              <a:buNone/>
            </a:pPr>
            <a:r>
              <a:rPr lang="en-US" sz="1200" b="1" dirty="0">
                <a:solidFill>
                  <a:srgbClr val="2E9E5B"/>
                </a:solidFill>
                <a:latin typeface="Calibri" pitchFamily="34" charset="0"/>
                <a:ea typeface="Calibri" pitchFamily="34" charset="-122"/>
                <a:cs typeface="Calibri" pitchFamily="34" charset="-120"/>
              </a:rPr>
              <a:t>✔</a:t>
            </a:r>
            <a:endParaRPr lang="en-US" sz="1200" dirty="0"/>
          </a:p>
        </p:txBody>
      </p:sp>
      <p:sp>
        <p:nvSpPr>
          <p:cNvPr id="9" name="Text 7"/>
          <p:cNvSpPr/>
          <p:nvPr/>
        </p:nvSpPr>
        <p:spPr>
          <a:xfrm>
            <a:off x="804672" y="1572768"/>
            <a:ext cx="3154680" cy="502920"/>
          </a:xfrm>
          <a:prstGeom prst="rect">
            <a:avLst/>
          </a:prstGeom>
          <a:noFill/>
          <a:ln/>
        </p:spPr>
        <p:txBody>
          <a:bodyPr wrap="square" rtlCol="0" anchor="t"/>
          <a:lstStyle/>
          <a:p>
            <a:pPr marL="0" indent="0">
              <a:buNone/>
            </a:pPr>
            <a:r>
              <a:rPr lang="en-US" sz="1200" dirty="0">
                <a:solidFill>
                  <a:srgbClr val="33415C"/>
                </a:solidFill>
                <a:latin typeface="Calibri" pitchFamily="34" charset="0"/>
                <a:ea typeface="Calibri" pitchFamily="34" charset="-122"/>
                <a:cs typeface="Calibri" pitchFamily="34" charset="-120"/>
              </a:rPr>
              <a:t>HLS transforms high-level code into RTL</a:t>
            </a:r>
            <a:endParaRPr lang="en-US" sz="1200" dirty="0"/>
          </a:p>
        </p:txBody>
      </p:sp>
      <p:sp>
        <p:nvSpPr>
          <p:cNvPr id="10" name="Text 8"/>
          <p:cNvSpPr/>
          <p:nvPr/>
        </p:nvSpPr>
        <p:spPr>
          <a:xfrm>
            <a:off x="502920" y="2103120"/>
            <a:ext cx="274320" cy="457200"/>
          </a:xfrm>
          <a:prstGeom prst="rect">
            <a:avLst/>
          </a:prstGeom>
          <a:noFill/>
          <a:ln/>
        </p:spPr>
        <p:txBody>
          <a:bodyPr wrap="square" rtlCol="0" anchor="t"/>
          <a:lstStyle/>
          <a:p>
            <a:pPr marL="0" indent="0">
              <a:buNone/>
            </a:pPr>
            <a:r>
              <a:rPr lang="en-US" sz="1200" b="1" dirty="0">
                <a:solidFill>
                  <a:srgbClr val="2E9E5B"/>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804672" y="2103120"/>
            <a:ext cx="3154680" cy="502920"/>
          </a:xfrm>
          <a:prstGeom prst="rect">
            <a:avLst/>
          </a:prstGeom>
          <a:noFill/>
          <a:ln/>
        </p:spPr>
        <p:txBody>
          <a:bodyPr wrap="square" rtlCol="0" anchor="t"/>
          <a:lstStyle/>
          <a:p>
            <a:pPr marL="0" indent="0">
              <a:buNone/>
            </a:pPr>
            <a:r>
              <a:rPr lang="en-US" sz="1200" dirty="0">
                <a:solidFill>
                  <a:srgbClr val="33415C"/>
                </a:solidFill>
                <a:latin typeface="Calibri" pitchFamily="34" charset="0"/>
                <a:ea typeface="Calibri" pitchFamily="34" charset="-122"/>
                <a:cs typeface="Calibri" pitchFamily="34" charset="-120"/>
              </a:rPr>
              <a:t>Sharing reduces area and power</a:t>
            </a:r>
            <a:endParaRPr lang="en-US" sz="1200" dirty="0"/>
          </a:p>
        </p:txBody>
      </p:sp>
      <p:sp>
        <p:nvSpPr>
          <p:cNvPr id="12" name="Text 10"/>
          <p:cNvSpPr/>
          <p:nvPr/>
        </p:nvSpPr>
        <p:spPr>
          <a:xfrm>
            <a:off x="502920" y="2633472"/>
            <a:ext cx="274320" cy="457200"/>
          </a:xfrm>
          <a:prstGeom prst="rect">
            <a:avLst/>
          </a:prstGeom>
          <a:noFill/>
          <a:ln/>
        </p:spPr>
        <p:txBody>
          <a:bodyPr wrap="square" rtlCol="0" anchor="t"/>
          <a:lstStyle/>
          <a:p>
            <a:pPr marL="0" indent="0">
              <a:buNone/>
            </a:pPr>
            <a:r>
              <a:rPr lang="en-US" sz="1200" b="1" dirty="0">
                <a:solidFill>
                  <a:srgbClr val="2E9E5B"/>
                </a:solidFill>
                <a:latin typeface="Calibri" pitchFamily="34" charset="0"/>
                <a:ea typeface="Calibri" pitchFamily="34" charset="-122"/>
                <a:cs typeface="Calibri" pitchFamily="34" charset="-120"/>
              </a:rPr>
              <a:t>✔</a:t>
            </a:r>
            <a:endParaRPr lang="en-US" sz="1200" dirty="0"/>
          </a:p>
        </p:txBody>
      </p:sp>
      <p:sp>
        <p:nvSpPr>
          <p:cNvPr id="13" name="Text 11"/>
          <p:cNvSpPr/>
          <p:nvPr/>
        </p:nvSpPr>
        <p:spPr>
          <a:xfrm>
            <a:off x="804672" y="2633472"/>
            <a:ext cx="3154680" cy="502920"/>
          </a:xfrm>
          <a:prstGeom prst="rect">
            <a:avLst/>
          </a:prstGeom>
          <a:noFill/>
          <a:ln/>
        </p:spPr>
        <p:txBody>
          <a:bodyPr wrap="square" rtlCol="0" anchor="t"/>
          <a:lstStyle/>
          <a:p>
            <a:pPr marL="0" indent="0">
              <a:buNone/>
            </a:pPr>
            <a:r>
              <a:rPr lang="en-US" sz="1200" dirty="0">
                <a:solidFill>
                  <a:srgbClr val="33415C"/>
                </a:solidFill>
                <a:latin typeface="Calibri" pitchFamily="34" charset="0"/>
                <a:ea typeface="Calibri" pitchFamily="34" charset="-122"/>
                <a:cs typeface="Calibri" pitchFamily="34" charset="-120"/>
              </a:rPr>
              <a:t>Binding determines hardware assignment</a:t>
            </a:r>
            <a:endParaRPr lang="en-US" sz="1200" dirty="0"/>
          </a:p>
        </p:txBody>
      </p:sp>
      <p:sp>
        <p:nvSpPr>
          <p:cNvPr id="14" name="Text 12"/>
          <p:cNvSpPr/>
          <p:nvPr/>
        </p:nvSpPr>
        <p:spPr>
          <a:xfrm>
            <a:off x="502920" y="3163824"/>
            <a:ext cx="274320" cy="457200"/>
          </a:xfrm>
          <a:prstGeom prst="rect">
            <a:avLst/>
          </a:prstGeom>
          <a:noFill/>
          <a:ln/>
        </p:spPr>
        <p:txBody>
          <a:bodyPr wrap="square" rtlCol="0" anchor="t"/>
          <a:lstStyle/>
          <a:p>
            <a:pPr marL="0" indent="0">
              <a:buNone/>
            </a:pPr>
            <a:r>
              <a:rPr lang="en-US" sz="1200" b="1" dirty="0">
                <a:solidFill>
                  <a:srgbClr val="2E9E5B"/>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804672" y="3163824"/>
            <a:ext cx="3154680" cy="502920"/>
          </a:xfrm>
          <a:prstGeom prst="rect">
            <a:avLst/>
          </a:prstGeom>
          <a:noFill/>
          <a:ln/>
        </p:spPr>
        <p:txBody>
          <a:bodyPr wrap="square" rtlCol="0" anchor="t"/>
          <a:lstStyle/>
          <a:p>
            <a:pPr marL="0" indent="0">
              <a:buNone/>
            </a:pPr>
            <a:r>
              <a:rPr lang="en-US" sz="1200" dirty="0">
                <a:solidFill>
                  <a:srgbClr val="33415C"/>
                </a:solidFill>
                <a:latin typeface="Calibri" pitchFamily="34" charset="0"/>
                <a:ea typeface="Calibri" pitchFamily="34" charset="-122"/>
                <a:cs typeface="Calibri" pitchFamily="34" charset="-120"/>
              </a:rPr>
              <a:t>Scheduling and binding work together</a:t>
            </a:r>
            <a:endParaRPr lang="en-US" sz="1200" dirty="0"/>
          </a:p>
        </p:txBody>
      </p:sp>
      <p:sp>
        <p:nvSpPr>
          <p:cNvPr id="16" name="Text 14"/>
          <p:cNvSpPr/>
          <p:nvPr/>
        </p:nvSpPr>
        <p:spPr>
          <a:xfrm>
            <a:off x="502920" y="3694176"/>
            <a:ext cx="274320" cy="457200"/>
          </a:xfrm>
          <a:prstGeom prst="rect">
            <a:avLst/>
          </a:prstGeom>
          <a:noFill/>
          <a:ln/>
        </p:spPr>
        <p:txBody>
          <a:bodyPr wrap="square" rtlCol="0" anchor="t"/>
          <a:lstStyle/>
          <a:p>
            <a:pPr marL="0" indent="0">
              <a:buNone/>
            </a:pPr>
            <a:r>
              <a:rPr lang="en-US" sz="1200" b="1" dirty="0">
                <a:solidFill>
                  <a:srgbClr val="2E9E5B"/>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804672" y="3694176"/>
            <a:ext cx="3154680" cy="502920"/>
          </a:xfrm>
          <a:prstGeom prst="rect">
            <a:avLst/>
          </a:prstGeom>
          <a:noFill/>
          <a:ln/>
        </p:spPr>
        <p:txBody>
          <a:bodyPr wrap="square" rtlCol="0" anchor="t"/>
          <a:lstStyle/>
          <a:p>
            <a:pPr marL="0" indent="0">
              <a:buNone/>
            </a:pPr>
            <a:r>
              <a:rPr lang="en-US" sz="1200" dirty="0">
                <a:solidFill>
                  <a:srgbClr val="33415C"/>
                </a:solidFill>
                <a:latin typeface="Calibri" pitchFamily="34" charset="0"/>
                <a:ea typeface="Calibri" pitchFamily="34" charset="-122"/>
                <a:cs typeface="Calibri" pitchFamily="34" charset="-120"/>
              </a:rPr>
              <a:t>Essential for FPGA / ASIC optimization</a:t>
            </a:r>
            <a:endParaRPr lang="en-US" sz="1200" dirty="0"/>
          </a:p>
        </p:txBody>
      </p:sp>
      <p:sp>
        <p:nvSpPr>
          <p:cNvPr id="18" name="Text 16"/>
          <p:cNvSpPr/>
          <p:nvPr/>
        </p:nvSpPr>
        <p:spPr>
          <a:xfrm>
            <a:off x="502920" y="4297680"/>
            <a:ext cx="3657600" cy="310896"/>
          </a:xfrm>
          <a:prstGeom prst="rect">
            <a:avLst/>
          </a:prstGeom>
          <a:noFill/>
          <a:ln/>
        </p:spPr>
        <p:txBody>
          <a:bodyPr wrap="square" rtlCol="0" anchor="ctr"/>
          <a:lstStyle/>
          <a:p>
            <a:pPr marL="0" indent="0">
              <a:buNone/>
            </a:pPr>
            <a:r>
              <a:rPr lang="en-US" sz="1500" b="1" dirty="0">
                <a:solidFill>
                  <a:srgbClr val="C0392B"/>
                </a:solidFill>
                <a:latin typeface="Trebuchet MS" pitchFamily="34" charset="0"/>
                <a:ea typeface="Trebuchet MS" pitchFamily="34" charset="-122"/>
                <a:cs typeface="Trebuchet MS" pitchFamily="34" charset="-120"/>
              </a:rPr>
              <a:t>Challenges</a:t>
            </a:r>
            <a:endParaRPr lang="en-US" sz="1500" dirty="0"/>
          </a:p>
        </p:txBody>
      </p:sp>
      <p:sp>
        <p:nvSpPr>
          <p:cNvPr id="19" name="Text 17"/>
          <p:cNvSpPr/>
          <p:nvPr/>
        </p:nvSpPr>
        <p:spPr>
          <a:xfrm>
            <a:off x="502920" y="4663440"/>
            <a:ext cx="274320" cy="365760"/>
          </a:xfrm>
          <a:prstGeom prst="rect">
            <a:avLst/>
          </a:prstGeom>
          <a:noFill/>
          <a:ln/>
        </p:spPr>
        <p:txBody>
          <a:bodyPr wrap="square" rtlCol="0" anchor="t"/>
          <a:lstStyle/>
          <a:p>
            <a:pPr marL="0" indent="0">
              <a:buNone/>
            </a:pPr>
            <a:r>
              <a:rPr lang="en-US" sz="1200" b="1" dirty="0">
                <a:solidFill>
                  <a:srgbClr val="C0392B"/>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804672" y="4663440"/>
            <a:ext cx="3154680" cy="365760"/>
          </a:xfrm>
          <a:prstGeom prst="rect">
            <a:avLst/>
          </a:prstGeom>
          <a:noFill/>
          <a:ln/>
        </p:spPr>
        <p:txBody>
          <a:bodyPr wrap="square" rtlCol="0" anchor="t"/>
          <a:lstStyle/>
          <a:p>
            <a:pPr marL="0" indent="0">
              <a:buNone/>
            </a:pPr>
            <a:r>
              <a:rPr lang="en-US" sz="1200" dirty="0">
                <a:solidFill>
                  <a:srgbClr val="33415C"/>
                </a:solidFill>
                <a:latin typeface="Calibri" pitchFamily="34" charset="0"/>
                <a:ea typeface="Calibri" pitchFamily="34" charset="-122"/>
                <a:cs typeface="Calibri" pitchFamily="34" charset="-120"/>
              </a:rPr>
              <a:t>Additional multiplexers</a:t>
            </a:r>
            <a:endParaRPr lang="en-US" sz="1200" dirty="0"/>
          </a:p>
        </p:txBody>
      </p:sp>
      <p:sp>
        <p:nvSpPr>
          <p:cNvPr id="21" name="Text 19"/>
          <p:cNvSpPr/>
          <p:nvPr/>
        </p:nvSpPr>
        <p:spPr>
          <a:xfrm>
            <a:off x="502920" y="5074920"/>
            <a:ext cx="274320" cy="365760"/>
          </a:xfrm>
          <a:prstGeom prst="rect">
            <a:avLst/>
          </a:prstGeom>
          <a:noFill/>
          <a:ln/>
        </p:spPr>
        <p:txBody>
          <a:bodyPr wrap="square" rtlCol="0" anchor="t"/>
          <a:lstStyle/>
          <a:p>
            <a:pPr marL="0" indent="0">
              <a:buNone/>
            </a:pPr>
            <a:r>
              <a:rPr lang="en-US" sz="1200" b="1" dirty="0">
                <a:solidFill>
                  <a:srgbClr val="C0392B"/>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804672" y="5074920"/>
            <a:ext cx="3154680" cy="365760"/>
          </a:xfrm>
          <a:prstGeom prst="rect">
            <a:avLst/>
          </a:prstGeom>
          <a:noFill/>
          <a:ln/>
        </p:spPr>
        <p:txBody>
          <a:bodyPr wrap="square" rtlCol="0" anchor="t"/>
          <a:lstStyle/>
          <a:p>
            <a:pPr marL="0" indent="0">
              <a:buNone/>
            </a:pPr>
            <a:r>
              <a:rPr lang="en-US" sz="1200" dirty="0">
                <a:solidFill>
                  <a:srgbClr val="33415C"/>
                </a:solidFill>
                <a:latin typeface="Calibri" pitchFamily="34" charset="0"/>
                <a:ea typeface="Calibri" pitchFamily="34" charset="-122"/>
                <a:cs typeface="Calibri" pitchFamily="34" charset="-120"/>
              </a:rPr>
              <a:t>More control logic</a:t>
            </a:r>
            <a:endParaRPr lang="en-US" sz="1200" dirty="0"/>
          </a:p>
        </p:txBody>
      </p:sp>
      <p:sp>
        <p:nvSpPr>
          <p:cNvPr id="23" name="Text 21"/>
          <p:cNvSpPr/>
          <p:nvPr/>
        </p:nvSpPr>
        <p:spPr>
          <a:xfrm>
            <a:off x="502920" y="5486400"/>
            <a:ext cx="274320" cy="365760"/>
          </a:xfrm>
          <a:prstGeom prst="rect">
            <a:avLst/>
          </a:prstGeom>
          <a:noFill/>
          <a:ln/>
        </p:spPr>
        <p:txBody>
          <a:bodyPr wrap="square" rtlCol="0" anchor="t"/>
          <a:lstStyle/>
          <a:p>
            <a:pPr marL="0" indent="0">
              <a:buNone/>
            </a:pPr>
            <a:r>
              <a:rPr lang="en-US" sz="1200" b="1" dirty="0">
                <a:solidFill>
                  <a:srgbClr val="C0392B"/>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804672" y="5486400"/>
            <a:ext cx="3154680" cy="365760"/>
          </a:xfrm>
          <a:prstGeom prst="rect">
            <a:avLst/>
          </a:prstGeom>
          <a:noFill/>
          <a:ln/>
        </p:spPr>
        <p:txBody>
          <a:bodyPr wrap="square" rtlCol="0" anchor="t"/>
          <a:lstStyle/>
          <a:p>
            <a:pPr marL="0" indent="0">
              <a:buNone/>
            </a:pPr>
            <a:r>
              <a:rPr lang="en-US" sz="1200" dirty="0">
                <a:solidFill>
                  <a:srgbClr val="33415C"/>
                </a:solidFill>
                <a:latin typeface="Calibri" pitchFamily="34" charset="0"/>
                <a:ea typeface="Calibri" pitchFamily="34" charset="-122"/>
                <a:cs typeface="Calibri" pitchFamily="34" charset="-120"/>
              </a:rPr>
              <a:t>Increased latency</a:t>
            </a:r>
            <a:endParaRPr lang="en-US" sz="1200" dirty="0"/>
          </a:p>
        </p:txBody>
      </p:sp>
      <p:sp>
        <p:nvSpPr>
          <p:cNvPr id="25" name="Text 23"/>
          <p:cNvSpPr/>
          <p:nvPr/>
        </p:nvSpPr>
        <p:spPr>
          <a:xfrm>
            <a:off x="4251960" y="1207008"/>
            <a:ext cx="3657600" cy="310896"/>
          </a:xfrm>
          <a:prstGeom prst="rect">
            <a:avLst/>
          </a:prstGeom>
          <a:noFill/>
          <a:ln/>
        </p:spPr>
        <p:txBody>
          <a:bodyPr wrap="square" rtlCol="0" anchor="ctr"/>
          <a:lstStyle/>
          <a:p>
            <a:pPr marL="0" indent="0">
              <a:buNone/>
            </a:pPr>
            <a:r>
              <a:rPr lang="en-US" sz="1500" b="1" dirty="0">
                <a:solidFill>
                  <a:srgbClr val="1A4FA0"/>
                </a:solidFill>
                <a:latin typeface="Trebuchet MS" pitchFamily="34" charset="0"/>
                <a:ea typeface="Trebuchet MS" pitchFamily="34" charset="-122"/>
                <a:cs typeface="Trebuchet MS" pitchFamily="34" charset="-120"/>
              </a:rPr>
              <a:t>Future Research</a:t>
            </a:r>
            <a:endParaRPr lang="en-US" sz="1500" dirty="0"/>
          </a:p>
        </p:txBody>
      </p:sp>
      <p:pic>
        <p:nvPicPr>
          <p:cNvPr id="26" name="Image 0" descr="/agent/turn1/workspace/images/image-327807c6a160a56b66657218267ea116.jpg"/>
          <p:cNvPicPr>
            <a:picLocks noChangeAspect="1"/>
          </p:cNvPicPr>
          <p:nvPr/>
        </p:nvPicPr>
        <p:blipFill>
          <a:blip r:embed="rId3"/>
          <a:srcRect t="24038" b="24038"/>
          <a:stretch/>
        </p:blipFill>
        <p:spPr>
          <a:xfrm>
            <a:off x="4251960" y="1572768"/>
            <a:ext cx="3566160" cy="1234440"/>
          </a:xfrm>
          <a:prstGeom prst="rect">
            <a:avLst/>
          </a:prstGeom>
        </p:spPr>
      </p:pic>
      <p:sp>
        <p:nvSpPr>
          <p:cNvPr id="27" name="Shape 24"/>
          <p:cNvSpPr/>
          <p:nvPr/>
        </p:nvSpPr>
        <p:spPr>
          <a:xfrm>
            <a:off x="4251960" y="1572768"/>
            <a:ext cx="3566160" cy="1234440"/>
          </a:xfrm>
          <a:prstGeom prst="rect">
            <a:avLst/>
          </a:prstGeom>
          <a:ln w="12700">
            <a:solidFill>
              <a:srgbClr val="D5E0F0"/>
            </a:solidFill>
            <a:prstDash val="solid"/>
          </a:ln>
        </p:spPr>
        <p:txBody>
          <a:bodyPr/>
          <a:lstStyle/>
          <a:p>
            <a:endParaRPr lang="en-DE"/>
          </a:p>
        </p:txBody>
      </p:sp>
      <p:sp>
        <p:nvSpPr>
          <p:cNvPr id="28" name="Text 25"/>
          <p:cNvSpPr/>
          <p:nvPr/>
        </p:nvSpPr>
        <p:spPr>
          <a:xfrm>
            <a:off x="4251960" y="2907792"/>
            <a:ext cx="182880" cy="365760"/>
          </a:xfrm>
          <a:prstGeom prst="rect">
            <a:avLst/>
          </a:prstGeom>
          <a:noFill/>
          <a:ln/>
        </p:spPr>
        <p:txBody>
          <a:bodyPr wrap="square" rtlCol="0" anchor="ctr"/>
          <a:lstStyle/>
          <a:p>
            <a:pPr marL="0" indent="0">
              <a:buNone/>
            </a:pPr>
            <a:r>
              <a:rPr lang="en-US" sz="1300" b="1" dirty="0">
                <a:solidFill>
                  <a:srgbClr val="0E8FD0"/>
                </a:solidFill>
                <a:latin typeface="Calibri" pitchFamily="34" charset="0"/>
                <a:ea typeface="Calibri" pitchFamily="34" charset="-122"/>
                <a:cs typeface="Calibri" pitchFamily="34" charset="-120"/>
              </a:rPr>
              <a:t>•</a:t>
            </a:r>
            <a:endParaRPr lang="en-US" sz="1300" dirty="0"/>
          </a:p>
        </p:txBody>
      </p:sp>
      <p:sp>
        <p:nvSpPr>
          <p:cNvPr id="29" name="Text 26"/>
          <p:cNvSpPr/>
          <p:nvPr/>
        </p:nvSpPr>
        <p:spPr>
          <a:xfrm>
            <a:off x="4434840" y="2907792"/>
            <a:ext cx="1645920" cy="365760"/>
          </a:xfrm>
          <a:prstGeom prst="rect">
            <a:avLst/>
          </a:prstGeom>
          <a:noFill/>
          <a:ln/>
        </p:spPr>
        <p:txBody>
          <a:bodyPr wrap="square" rtlCol="0" anchor="t"/>
          <a:lstStyle/>
          <a:p>
            <a:pPr marL="0" indent="0">
              <a:buNone/>
            </a:pPr>
            <a:r>
              <a:rPr lang="en-US" sz="1150" dirty="0">
                <a:solidFill>
                  <a:srgbClr val="33415C"/>
                </a:solidFill>
                <a:latin typeface="Calibri" pitchFamily="34" charset="0"/>
                <a:ea typeface="Calibri" pitchFamily="34" charset="-122"/>
                <a:cs typeface="Calibri" pitchFamily="34" charset="-120"/>
              </a:rPr>
              <a:t>AI-assisted HLS</a:t>
            </a:r>
            <a:endParaRPr lang="en-US" sz="1150" dirty="0"/>
          </a:p>
        </p:txBody>
      </p:sp>
      <p:sp>
        <p:nvSpPr>
          <p:cNvPr id="30" name="Text 27"/>
          <p:cNvSpPr/>
          <p:nvPr/>
        </p:nvSpPr>
        <p:spPr>
          <a:xfrm>
            <a:off x="6080760" y="2907792"/>
            <a:ext cx="182880" cy="365760"/>
          </a:xfrm>
          <a:prstGeom prst="rect">
            <a:avLst/>
          </a:prstGeom>
          <a:noFill/>
          <a:ln/>
        </p:spPr>
        <p:txBody>
          <a:bodyPr wrap="square" rtlCol="0" anchor="ctr"/>
          <a:lstStyle/>
          <a:p>
            <a:pPr marL="0" indent="0">
              <a:buNone/>
            </a:pPr>
            <a:r>
              <a:rPr lang="en-US" sz="1300" b="1" dirty="0">
                <a:solidFill>
                  <a:srgbClr val="0E8FD0"/>
                </a:solidFill>
                <a:latin typeface="Calibri" pitchFamily="34" charset="0"/>
                <a:ea typeface="Calibri" pitchFamily="34" charset="-122"/>
                <a:cs typeface="Calibri" pitchFamily="34" charset="-120"/>
              </a:rPr>
              <a:t>•</a:t>
            </a:r>
            <a:endParaRPr lang="en-US" sz="1300" dirty="0"/>
          </a:p>
        </p:txBody>
      </p:sp>
      <p:sp>
        <p:nvSpPr>
          <p:cNvPr id="31" name="Text 28"/>
          <p:cNvSpPr/>
          <p:nvPr/>
        </p:nvSpPr>
        <p:spPr>
          <a:xfrm>
            <a:off x="6263640" y="2907792"/>
            <a:ext cx="1645920" cy="365760"/>
          </a:xfrm>
          <a:prstGeom prst="rect">
            <a:avLst/>
          </a:prstGeom>
          <a:noFill/>
          <a:ln/>
        </p:spPr>
        <p:txBody>
          <a:bodyPr wrap="square" rtlCol="0" anchor="t"/>
          <a:lstStyle/>
          <a:p>
            <a:pPr marL="0" indent="0">
              <a:buNone/>
            </a:pPr>
            <a:r>
              <a:rPr lang="en-US" sz="1150" dirty="0">
                <a:solidFill>
                  <a:srgbClr val="33415C"/>
                </a:solidFill>
                <a:latin typeface="Calibri" pitchFamily="34" charset="0"/>
                <a:ea typeface="Calibri" pitchFamily="34" charset="-122"/>
                <a:cs typeface="Calibri" pitchFamily="34" charset="-120"/>
              </a:rPr>
              <a:t>ML-based binding</a:t>
            </a:r>
            <a:endParaRPr lang="en-US" sz="1150" dirty="0"/>
          </a:p>
        </p:txBody>
      </p:sp>
      <p:sp>
        <p:nvSpPr>
          <p:cNvPr id="32" name="Text 29"/>
          <p:cNvSpPr/>
          <p:nvPr/>
        </p:nvSpPr>
        <p:spPr>
          <a:xfrm>
            <a:off x="4251960" y="3291840"/>
            <a:ext cx="182880" cy="365760"/>
          </a:xfrm>
          <a:prstGeom prst="rect">
            <a:avLst/>
          </a:prstGeom>
          <a:noFill/>
          <a:ln/>
        </p:spPr>
        <p:txBody>
          <a:bodyPr wrap="square" rtlCol="0" anchor="ctr"/>
          <a:lstStyle/>
          <a:p>
            <a:pPr marL="0" indent="0">
              <a:buNone/>
            </a:pPr>
            <a:r>
              <a:rPr lang="en-US" sz="1300" b="1" dirty="0">
                <a:solidFill>
                  <a:srgbClr val="0E8FD0"/>
                </a:solidFill>
                <a:latin typeface="Calibri" pitchFamily="34" charset="0"/>
                <a:ea typeface="Calibri" pitchFamily="34" charset="-122"/>
                <a:cs typeface="Calibri" pitchFamily="34" charset="-120"/>
              </a:rPr>
              <a:t>•</a:t>
            </a:r>
            <a:endParaRPr lang="en-US" sz="1300" dirty="0"/>
          </a:p>
        </p:txBody>
      </p:sp>
      <p:sp>
        <p:nvSpPr>
          <p:cNvPr id="33" name="Text 30"/>
          <p:cNvSpPr/>
          <p:nvPr/>
        </p:nvSpPr>
        <p:spPr>
          <a:xfrm>
            <a:off x="4434840" y="3291840"/>
            <a:ext cx="1645920" cy="365760"/>
          </a:xfrm>
          <a:prstGeom prst="rect">
            <a:avLst/>
          </a:prstGeom>
          <a:noFill/>
          <a:ln/>
        </p:spPr>
        <p:txBody>
          <a:bodyPr wrap="square" rtlCol="0" anchor="t"/>
          <a:lstStyle/>
          <a:p>
            <a:pPr marL="0" indent="0">
              <a:buNone/>
            </a:pPr>
            <a:r>
              <a:rPr lang="en-US" sz="1150" dirty="0">
                <a:solidFill>
                  <a:srgbClr val="33415C"/>
                </a:solidFill>
                <a:latin typeface="Calibri" pitchFamily="34" charset="0"/>
                <a:ea typeface="Calibri" pitchFamily="34" charset="-122"/>
                <a:cs typeface="Calibri" pitchFamily="34" charset="-120"/>
              </a:rPr>
              <a:t>Power-aware scheduling</a:t>
            </a:r>
            <a:endParaRPr lang="en-US" sz="1150" dirty="0"/>
          </a:p>
        </p:txBody>
      </p:sp>
      <p:sp>
        <p:nvSpPr>
          <p:cNvPr id="34" name="Text 31"/>
          <p:cNvSpPr/>
          <p:nvPr/>
        </p:nvSpPr>
        <p:spPr>
          <a:xfrm>
            <a:off x="6080760" y="3291840"/>
            <a:ext cx="182880" cy="365760"/>
          </a:xfrm>
          <a:prstGeom prst="rect">
            <a:avLst/>
          </a:prstGeom>
          <a:noFill/>
          <a:ln/>
        </p:spPr>
        <p:txBody>
          <a:bodyPr wrap="square" rtlCol="0" anchor="ctr"/>
          <a:lstStyle/>
          <a:p>
            <a:pPr marL="0" indent="0">
              <a:buNone/>
            </a:pPr>
            <a:r>
              <a:rPr lang="en-US" sz="1300" b="1" dirty="0">
                <a:solidFill>
                  <a:srgbClr val="0E8FD0"/>
                </a:solidFill>
                <a:latin typeface="Calibri" pitchFamily="34" charset="0"/>
                <a:ea typeface="Calibri" pitchFamily="34" charset="-122"/>
                <a:cs typeface="Calibri" pitchFamily="34" charset="-120"/>
              </a:rPr>
              <a:t>•</a:t>
            </a:r>
            <a:endParaRPr lang="en-US" sz="1300" dirty="0"/>
          </a:p>
        </p:txBody>
      </p:sp>
      <p:sp>
        <p:nvSpPr>
          <p:cNvPr id="35" name="Text 32"/>
          <p:cNvSpPr/>
          <p:nvPr/>
        </p:nvSpPr>
        <p:spPr>
          <a:xfrm>
            <a:off x="6263640" y="3291840"/>
            <a:ext cx="1645920" cy="365760"/>
          </a:xfrm>
          <a:prstGeom prst="rect">
            <a:avLst/>
          </a:prstGeom>
          <a:noFill/>
          <a:ln/>
        </p:spPr>
        <p:txBody>
          <a:bodyPr wrap="square" rtlCol="0" anchor="t"/>
          <a:lstStyle/>
          <a:p>
            <a:pPr marL="0" indent="0">
              <a:buNone/>
            </a:pPr>
            <a:r>
              <a:rPr lang="en-US" sz="1150" dirty="0">
                <a:solidFill>
                  <a:srgbClr val="33415C"/>
                </a:solidFill>
                <a:latin typeface="Calibri" pitchFamily="34" charset="0"/>
                <a:ea typeface="Calibri" pitchFamily="34" charset="-122"/>
                <a:cs typeface="Calibri" pitchFamily="34" charset="-120"/>
              </a:rPr>
              <a:t>FPGA accelerator optimization</a:t>
            </a:r>
            <a:endParaRPr lang="en-US" sz="1150" dirty="0"/>
          </a:p>
        </p:txBody>
      </p:sp>
      <p:sp>
        <p:nvSpPr>
          <p:cNvPr id="36" name="Text 33"/>
          <p:cNvSpPr/>
          <p:nvPr/>
        </p:nvSpPr>
        <p:spPr>
          <a:xfrm>
            <a:off x="4251960" y="3822192"/>
            <a:ext cx="3657600" cy="310896"/>
          </a:xfrm>
          <a:prstGeom prst="rect">
            <a:avLst/>
          </a:prstGeom>
          <a:noFill/>
          <a:ln/>
        </p:spPr>
        <p:txBody>
          <a:bodyPr wrap="square" rtlCol="0" anchor="ctr"/>
          <a:lstStyle/>
          <a:p>
            <a:pPr marL="0" indent="0">
              <a:buNone/>
            </a:pPr>
            <a:r>
              <a:rPr lang="en-US" sz="1500" b="1" dirty="0">
                <a:solidFill>
                  <a:srgbClr val="1A4FA0"/>
                </a:solidFill>
                <a:latin typeface="Trebuchet MS" pitchFamily="34" charset="0"/>
                <a:ea typeface="Trebuchet MS" pitchFamily="34" charset="-122"/>
                <a:cs typeface="Trebuchet MS" pitchFamily="34" charset="-120"/>
              </a:rPr>
              <a:t>Discussion Questions</a:t>
            </a:r>
            <a:endParaRPr lang="en-US" sz="1500" dirty="0"/>
          </a:p>
        </p:txBody>
      </p:sp>
      <p:sp>
        <p:nvSpPr>
          <p:cNvPr id="37" name="Text 34"/>
          <p:cNvSpPr/>
          <p:nvPr/>
        </p:nvSpPr>
        <p:spPr>
          <a:xfrm>
            <a:off x="4251960" y="4187952"/>
            <a:ext cx="274320" cy="411480"/>
          </a:xfrm>
          <a:prstGeom prst="rect">
            <a:avLst/>
          </a:prstGeom>
          <a:noFill/>
          <a:ln/>
        </p:spPr>
        <p:txBody>
          <a:bodyPr wrap="square" rtlCol="0" anchor="t"/>
          <a:lstStyle/>
          <a:p>
            <a:pPr marL="0" indent="0">
              <a:buNone/>
            </a:pPr>
            <a:r>
              <a:rPr lang="en-US" sz="1200" b="1" dirty="0">
                <a:solidFill>
                  <a:srgbClr val="0E8FD0"/>
                </a:solidFill>
                <a:latin typeface="Trebuchet MS" pitchFamily="34" charset="0"/>
                <a:ea typeface="Trebuchet MS" pitchFamily="34" charset="-122"/>
                <a:cs typeface="Trebuchet MS" pitchFamily="34" charset="-120"/>
              </a:rPr>
              <a:t>1</a:t>
            </a:r>
            <a:endParaRPr lang="en-US" sz="1200" dirty="0"/>
          </a:p>
        </p:txBody>
      </p:sp>
      <p:sp>
        <p:nvSpPr>
          <p:cNvPr id="38" name="Text 35"/>
          <p:cNvSpPr/>
          <p:nvPr/>
        </p:nvSpPr>
        <p:spPr>
          <a:xfrm>
            <a:off x="4553712" y="4187952"/>
            <a:ext cx="3246120" cy="457200"/>
          </a:xfrm>
          <a:prstGeom prst="rect">
            <a:avLst/>
          </a:prstGeom>
          <a:noFill/>
          <a:ln/>
        </p:spPr>
        <p:txBody>
          <a:bodyPr wrap="square" rtlCol="0" anchor="t"/>
          <a:lstStyle/>
          <a:p>
            <a:pPr marL="0" indent="0">
              <a:buNone/>
            </a:pPr>
            <a:r>
              <a:rPr lang="en-US" sz="1150" dirty="0">
                <a:solidFill>
                  <a:srgbClr val="33415C"/>
                </a:solidFill>
                <a:latin typeface="Calibri" pitchFamily="34" charset="0"/>
                <a:ea typeface="Calibri" pitchFamily="34" charset="-122"/>
                <a:cs typeface="Calibri" pitchFamily="34" charset="-120"/>
              </a:rPr>
              <a:t>Why is sharing important in FPGA design?</a:t>
            </a:r>
            <a:endParaRPr lang="en-US" sz="1150" dirty="0"/>
          </a:p>
        </p:txBody>
      </p:sp>
      <p:sp>
        <p:nvSpPr>
          <p:cNvPr id="39" name="Text 36"/>
          <p:cNvSpPr/>
          <p:nvPr/>
        </p:nvSpPr>
        <p:spPr>
          <a:xfrm>
            <a:off x="4251960" y="4645152"/>
            <a:ext cx="274320" cy="411480"/>
          </a:xfrm>
          <a:prstGeom prst="rect">
            <a:avLst/>
          </a:prstGeom>
          <a:noFill/>
          <a:ln/>
        </p:spPr>
        <p:txBody>
          <a:bodyPr wrap="square" rtlCol="0" anchor="t"/>
          <a:lstStyle/>
          <a:p>
            <a:pPr marL="0" indent="0">
              <a:buNone/>
            </a:pPr>
            <a:r>
              <a:rPr lang="en-US" sz="1200" b="1" dirty="0">
                <a:solidFill>
                  <a:srgbClr val="0E8FD0"/>
                </a:solidFill>
                <a:latin typeface="Trebuchet MS" pitchFamily="34" charset="0"/>
                <a:ea typeface="Trebuchet MS" pitchFamily="34" charset="-122"/>
                <a:cs typeface="Trebuchet MS" pitchFamily="34" charset="-120"/>
              </a:rPr>
              <a:t>2</a:t>
            </a:r>
            <a:endParaRPr lang="en-US" sz="1200" dirty="0"/>
          </a:p>
        </p:txBody>
      </p:sp>
      <p:sp>
        <p:nvSpPr>
          <p:cNvPr id="40" name="Text 37"/>
          <p:cNvSpPr/>
          <p:nvPr/>
        </p:nvSpPr>
        <p:spPr>
          <a:xfrm>
            <a:off x="4553712" y="4645152"/>
            <a:ext cx="3246120" cy="457200"/>
          </a:xfrm>
          <a:prstGeom prst="rect">
            <a:avLst/>
          </a:prstGeom>
          <a:noFill/>
          <a:ln/>
        </p:spPr>
        <p:txBody>
          <a:bodyPr wrap="square" rtlCol="0" anchor="t"/>
          <a:lstStyle/>
          <a:p>
            <a:pPr marL="0" indent="0">
              <a:buNone/>
            </a:pPr>
            <a:r>
              <a:rPr lang="en-US" sz="1150" dirty="0">
                <a:solidFill>
                  <a:srgbClr val="33415C"/>
                </a:solidFill>
                <a:latin typeface="Calibri" pitchFamily="34" charset="0"/>
                <a:ea typeface="Calibri" pitchFamily="34" charset="-122"/>
                <a:cs typeface="Calibri" pitchFamily="34" charset="-120"/>
              </a:rPr>
              <a:t>Can excessive sharing reduce performance?</a:t>
            </a:r>
            <a:endParaRPr lang="en-US" sz="1150" dirty="0"/>
          </a:p>
        </p:txBody>
      </p:sp>
      <p:sp>
        <p:nvSpPr>
          <p:cNvPr id="41" name="Text 38"/>
          <p:cNvSpPr/>
          <p:nvPr/>
        </p:nvSpPr>
        <p:spPr>
          <a:xfrm>
            <a:off x="4251960" y="5102352"/>
            <a:ext cx="274320" cy="411480"/>
          </a:xfrm>
          <a:prstGeom prst="rect">
            <a:avLst/>
          </a:prstGeom>
          <a:noFill/>
          <a:ln/>
        </p:spPr>
        <p:txBody>
          <a:bodyPr wrap="square" rtlCol="0" anchor="t"/>
          <a:lstStyle/>
          <a:p>
            <a:pPr marL="0" indent="0">
              <a:buNone/>
            </a:pPr>
            <a:r>
              <a:rPr lang="en-US" sz="1200" b="1" dirty="0">
                <a:solidFill>
                  <a:srgbClr val="0E8FD0"/>
                </a:solidFill>
                <a:latin typeface="Trebuchet MS" pitchFamily="34" charset="0"/>
                <a:ea typeface="Trebuchet MS" pitchFamily="34" charset="-122"/>
                <a:cs typeface="Trebuchet MS" pitchFamily="34" charset="-120"/>
              </a:rPr>
              <a:t>3</a:t>
            </a:r>
            <a:endParaRPr lang="en-US" sz="1200" dirty="0"/>
          </a:p>
        </p:txBody>
      </p:sp>
      <p:sp>
        <p:nvSpPr>
          <p:cNvPr id="42" name="Text 39"/>
          <p:cNvSpPr/>
          <p:nvPr/>
        </p:nvSpPr>
        <p:spPr>
          <a:xfrm>
            <a:off x="4553712" y="5102352"/>
            <a:ext cx="3246120" cy="457200"/>
          </a:xfrm>
          <a:prstGeom prst="rect">
            <a:avLst/>
          </a:prstGeom>
          <a:noFill/>
          <a:ln/>
        </p:spPr>
        <p:txBody>
          <a:bodyPr wrap="square" rtlCol="0" anchor="t"/>
          <a:lstStyle/>
          <a:p>
            <a:pPr marL="0" indent="0">
              <a:buNone/>
            </a:pPr>
            <a:r>
              <a:rPr lang="en-US" sz="1150" dirty="0">
                <a:solidFill>
                  <a:srgbClr val="33415C"/>
                </a:solidFill>
                <a:latin typeface="Calibri" pitchFamily="34" charset="0"/>
                <a:ea typeface="Calibri" pitchFamily="34" charset="-122"/>
                <a:cs typeface="Calibri" pitchFamily="34" charset="-120"/>
              </a:rPr>
              <a:t>How does binding affect latency?</a:t>
            </a:r>
            <a:endParaRPr lang="en-US" sz="1150" dirty="0"/>
          </a:p>
        </p:txBody>
      </p:sp>
      <p:sp>
        <p:nvSpPr>
          <p:cNvPr id="43" name="Text 40"/>
          <p:cNvSpPr/>
          <p:nvPr/>
        </p:nvSpPr>
        <p:spPr>
          <a:xfrm>
            <a:off x="4251960" y="5559552"/>
            <a:ext cx="274320" cy="411480"/>
          </a:xfrm>
          <a:prstGeom prst="rect">
            <a:avLst/>
          </a:prstGeom>
          <a:noFill/>
          <a:ln/>
        </p:spPr>
        <p:txBody>
          <a:bodyPr wrap="square" rtlCol="0" anchor="t"/>
          <a:lstStyle/>
          <a:p>
            <a:pPr marL="0" indent="0">
              <a:buNone/>
            </a:pPr>
            <a:r>
              <a:rPr lang="en-US" sz="1200" b="1" dirty="0">
                <a:solidFill>
                  <a:srgbClr val="0E8FD0"/>
                </a:solidFill>
                <a:latin typeface="Trebuchet MS" pitchFamily="34" charset="0"/>
                <a:ea typeface="Trebuchet MS" pitchFamily="34" charset="-122"/>
                <a:cs typeface="Trebuchet MS" pitchFamily="34" charset="-120"/>
              </a:rPr>
              <a:t>4</a:t>
            </a:r>
            <a:endParaRPr lang="en-US" sz="1200" dirty="0"/>
          </a:p>
        </p:txBody>
      </p:sp>
      <p:sp>
        <p:nvSpPr>
          <p:cNvPr id="44" name="Text 41"/>
          <p:cNvSpPr/>
          <p:nvPr/>
        </p:nvSpPr>
        <p:spPr>
          <a:xfrm>
            <a:off x="4553712" y="5559552"/>
            <a:ext cx="3246120" cy="457200"/>
          </a:xfrm>
          <a:prstGeom prst="rect">
            <a:avLst/>
          </a:prstGeom>
          <a:noFill/>
          <a:ln/>
        </p:spPr>
        <p:txBody>
          <a:bodyPr wrap="square" rtlCol="0" anchor="t"/>
          <a:lstStyle/>
          <a:p>
            <a:pPr marL="0" indent="0">
              <a:buNone/>
            </a:pPr>
            <a:r>
              <a:rPr lang="en-US" sz="1150" dirty="0">
                <a:solidFill>
                  <a:srgbClr val="33415C"/>
                </a:solidFill>
                <a:latin typeface="Calibri" pitchFamily="34" charset="0"/>
                <a:ea typeface="Calibri" pitchFamily="34" charset="-122"/>
                <a:cs typeface="Calibri" pitchFamily="34" charset="-120"/>
              </a:rPr>
              <a:t>What trade-off exists between area and speed?</a:t>
            </a:r>
            <a:endParaRPr lang="en-US" sz="1150" dirty="0"/>
          </a:p>
        </p:txBody>
      </p:sp>
      <p:sp>
        <p:nvSpPr>
          <p:cNvPr id="45" name="Shape 42"/>
          <p:cNvSpPr/>
          <p:nvPr/>
        </p:nvSpPr>
        <p:spPr>
          <a:xfrm>
            <a:off x="8001000" y="1207008"/>
            <a:ext cx="3703320" cy="4736592"/>
          </a:xfrm>
          <a:prstGeom prst="rect">
            <a:avLst/>
          </a:prstGeom>
          <a:solidFill>
            <a:srgbClr val="F4F7FC"/>
          </a:solidFill>
          <a:ln w="12700">
            <a:solidFill>
              <a:srgbClr val="D5E0F0"/>
            </a:solidFill>
            <a:prstDash val="solid"/>
          </a:ln>
        </p:spPr>
        <p:txBody>
          <a:bodyPr/>
          <a:lstStyle/>
          <a:p>
            <a:endParaRPr lang="en-DE"/>
          </a:p>
        </p:txBody>
      </p:sp>
      <p:sp>
        <p:nvSpPr>
          <p:cNvPr id="46" name="Shape 43"/>
          <p:cNvSpPr/>
          <p:nvPr/>
        </p:nvSpPr>
        <p:spPr>
          <a:xfrm>
            <a:off x="8001000" y="1207008"/>
            <a:ext cx="3703320" cy="457200"/>
          </a:xfrm>
          <a:prstGeom prst="rect">
            <a:avLst/>
          </a:prstGeom>
          <a:solidFill>
            <a:srgbClr val="1A4FA0"/>
          </a:solidFill>
          <a:ln/>
        </p:spPr>
        <p:txBody>
          <a:bodyPr/>
          <a:lstStyle/>
          <a:p>
            <a:endParaRPr lang="en-DE"/>
          </a:p>
        </p:txBody>
      </p:sp>
      <p:sp>
        <p:nvSpPr>
          <p:cNvPr id="47" name="Text 44"/>
          <p:cNvSpPr/>
          <p:nvPr/>
        </p:nvSpPr>
        <p:spPr>
          <a:xfrm>
            <a:off x="8183880" y="1207008"/>
            <a:ext cx="3291840" cy="457200"/>
          </a:xfrm>
          <a:prstGeom prst="rect">
            <a:avLst/>
          </a:prstGeom>
          <a:noFill/>
          <a:ln/>
        </p:spPr>
        <p:txBody>
          <a:bodyPr wrap="square"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IEEE References</a:t>
            </a:r>
            <a:endParaRPr lang="en-US" sz="1400" dirty="0"/>
          </a:p>
        </p:txBody>
      </p:sp>
      <p:sp>
        <p:nvSpPr>
          <p:cNvPr id="48" name="Text 45"/>
          <p:cNvSpPr/>
          <p:nvPr/>
        </p:nvSpPr>
        <p:spPr>
          <a:xfrm>
            <a:off x="8183880" y="1783080"/>
            <a:ext cx="3337560" cy="3246120"/>
          </a:xfrm>
          <a:prstGeom prst="rect">
            <a:avLst/>
          </a:prstGeom>
          <a:noFill/>
          <a:ln/>
        </p:spPr>
        <p:txBody>
          <a:bodyPr wrap="square" rtlCol="0" anchor="t"/>
          <a:lstStyle/>
          <a:p>
            <a:pPr marL="0" indent="0">
              <a:spcAft>
                <a:spcPts val="500"/>
              </a:spcAft>
              <a:buNone/>
            </a:pPr>
            <a:r>
              <a:rPr lang="en-US" sz="950" dirty="0">
                <a:solidFill>
                  <a:srgbClr val="33415C"/>
                </a:solidFill>
                <a:latin typeface="Calibri" pitchFamily="34" charset="0"/>
                <a:ea typeface="Calibri" pitchFamily="34" charset="-122"/>
                <a:cs typeface="Calibri" pitchFamily="34" charset="-120"/>
              </a:rPr>
              <a:t>[1] D. Gajski et al., High-Level Synthesis: Introduction to Chip and System Design.</a:t>
            </a:r>
            <a:endParaRPr lang="en-US" sz="950" dirty="0"/>
          </a:p>
          <a:p>
            <a:pPr marL="0" indent="0">
              <a:spcAft>
                <a:spcPts val="500"/>
              </a:spcAft>
              <a:buNone/>
            </a:pPr>
            <a:r>
              <a:rPr lang="en-US" sz="950" dirty="0">
                <a:solidFill>
                  <a:srgbClr val="33415C"/>
                </a:solidFill>
                <a:latin typeface="Calibri" pitchFamily="34" charset="0"/>
                <a:ea typeface="Calibri" pitchFamily="34" charset="-122"/>
                <a:cs typeface="Calibri" pitchFamily="34" charset="-120"/>
              </a:rPr>
              <a:t>[2] P. Coussy and A. Morawiec, High-Level Synthesis.</a:t>
            </a:r>
            <a:endParaRPr lang="en-US" sz="950" dirty="0"/>
          </a:p>
          <a:p>
            <a:pPr marL="0" indent="0">
              <a:spcAft>
                <a:spcPts val="500"/>
              </a:spcAft>
              <a:buNone/>
            </a:pPr>
            <a:r>
              <a:rPr lang="en-US" sz="950" dirty="0">
                <a:solidFill>
                  <a:srgbClr val="33415C"/>
                </a:solidFill>
                <a:latin typeface="Calibri" pitchFamily="34" charset="0"/>
                <a:ea typeface="Calibri" pitchFamily="34" charset="-122"/>
                <a:cs typeface="Calibri" pitchFamily="34" charset="-120"/>
              </a:rPr>
              <a:t>[3] C. Bobda, Introduction to Reconfigurable Computing.</a:t>
            </a:r>
            <a:endParaRPr lang="en-US" sz="950" dirty="0"/>
          </a:p>
          <a:p>
            <a:pPr marL="0" indent="0">
              <a:spcAft>
                <a:spcPts val="500"/>
              </a:spcAft>
              <a:buNone/>
            </a:pPr>
            <a:r>
              <a:rPr lang="en-US" sz="950" dirty="0">
                <a:solidFill>
                  <a:srgbClr val="33415C"/>
                </a:solidFill>
                <a:latin typeface="Calibri" pitchFamily="34" charset="0"/>
                <a:ea typeface="Calibri" pitchFamily="34" charset="-122"/>
                <a:cs typeface="Calibri" pitchFamily="34" charset="-120"/>
              </a:rPr>
              <a:t>[4] J. Cong et al., “High-Level Synthesis for FPGAs.”</a:t>
            </a:r>
            <a:endParaRPr lang="en-US" sz="950" dirty="0"/>
          </a:p>
          <a:p>
            <a:pPr marL="0" indent="0">
              <a:spcAft>
                <a:spcPts val="500"/>
              </a:spcAft>
              <a:buNone/>
            </a:pPr>
            <a:r>
              <a:rPr lang="en-US" sz="950" dirty="0">
                <a:solidFill>
                  <a:srgbClr val="33415C"/>
                </a:solidFill>
                <a:latin typeface="Calibri" pitchFamily="34" charset="0"/>
                <a:ea typeface="Calibri" pitchFamily="34" charset="-122"/>
                <a:cs typeface="Calibri" pitchFamily="34" charset="-120"/>
              </a:rPr>
              <a:t>[5] AMD Xilinx Vivado HLS User Guide.</a:t>
            </a:r>
            <a:endParaRPr lang="en-US" sz="950" dirty="0"/>
          </a:p>
          <a:p>
            <a:pPr marL="0" indent="0">
              <a:spcAft>
                <a:spcPts val="500"/>
              </a:spcAft>
              <a:buNone/>
            </a:pPr>
            <a:r>
              <a:rPr lang="en-US" sz="950" dirty="0">
                <a:solidFill>
                  <a:srgbClr val="33415C"/>
                </a:solidFill>
                <a:latin typeface="Calibri" pitchFamily="34" charset="0"/>
                <a:ea typeface="Calibri" pitchFamily="34" charset="-122"/>
                <a:cs typeface="Calibri" pitchFamily="34" charset="-120"/>
              </a:rPr>
              <a:t>[6] Intel HLS Compiler User Guide.</a:t>
            </a:r>
            <a:endParaRPr lang="en-US" sz="950" dirty="0"/>
          </a:p>
          <a:p>
            <a:pPr marL="0" indent="0">
              <a:spcAft>
                <a:spcPts val="500"/>
              </a:spcAft>
              <a:buNone/>
            </a:pPr>
            <a:r>
              <a:rPr lang="en-US" sz="950" dirty="0">
                <a:solidFill>
                  <a:srgbClr val="33415C"/>
                </a:solidFill>
                <a:latin typeface="Calibri" pitchFamily="34" charset="0"/>
                <a:ea typeface="Calibri" pitchFamily="34" charset="-122"/>
                <a:cs typeface="Calibri" pitchFamily="34" charset="-120"/>
              </a:rPr>
              <a:t>[7] S. Gupta et al., “SPARK: A High-Level Synthesis Framework.”</a:t>
            </a:r>
            <a:endParaRPr lang="en-US" sz="950" dirty="0"/>
          </a:p>
        </p:txBody>
      </p:sp>
      <p:sp>
        <p:nvSpPr>
          <p:cNvPr id="49" name="Text 46"/>
          <p:cNvSpPr/>
          <p:nvPr/>
        </p:nvSpPr>
        <p:spPr>
          <a:xfrm>
            <a:off x="8183880" y="5138928"/>
            <a:ext cx="3337560" cy="731520"/>
          </a:xfrm>
          <a:prstGeom prst="rect">
            <a:avLst/>
          </a:prstGeom>
          <a:noFill/>
          <a:ln/>
        </p:spPr>
        <p:txBody>
          <a:bodyPr wrap="square" rtlCol="0" anchor="t"/>
          <a:lstStyle/>
          <a:p>
            <a:pPr marL="0" indent="0">
              <a:buNone/>
            </a:pPr>
            <a:r>
              <a:rPr lang="en-US" sz="850" i="1" dirty="0">
                <a:solidFill>
                  <a:srgbClr val="64748B"/>
                </a:solidFill>
                <a:latin typeface="Calibri" pitchFamily="34" charset="0"/>
                <a:ea typeface="Calibri" pitchFamily="34" charset="-122"/>
                <a:cs typeface="Calibri" pitchFamily="34" charset="-120"/>
              </a:rPr>
              <a:t>Image figures are illustrative renderings: [I1]–[I3] generated for this presentation.</a:t>
            </a:r>
            <a:endParaRPr lang="en-US" sz="850" dirty="0"/>
          </a:p>
        </p:txBody>
      </p:sp>
      <p:sp>
        <p:nvSpPr>
          <p:cNvPr id="50" name="Text 47"/>
          <p:cNvSpPr/>
          <p:nvPr/>
        </p:nvSpPr>
        <p:spPr>
          <a:xfrm>
            <a:off x="502920" y="6473952"/>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Sharing and Binding within High-Level Synthesis</a:t>
            </a:r>
            <a:endParaRPr lang="en-US" sz="900" dirty="0"/>
          </a:p>
        </p:txBody>
      </p:sp>
      <p:sp>
        <p:nvSpPr>
          <p:cNvPr id="51" name="Text 48"/>
          <p:cNvSpPr/>
          <p:nvPr/>
        </p:nvSpPr>
        <p:spPr>
          <a:xfrm>
            <a:off x="8229600" y="6473952"/>
            <a:ext cx="2743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HSHL  •  Seminar Presentation</a:t>
            </a:r>
            <a:endParaRPr lang="en-US" sz="900" dirty="0"/>
          </a:p>
        </p:txBody>
      </p:sp>
      <p:sp>
        <p:nvSpPr>
          <p:cNvPr id="52" name="Text 49"/>
          <p:cNvSpPr/>
          <p:nvPr/>
        </p:nvSpPr>
        <p:spPr>
          <a:xfrm>
            <a:off x="11155680" y="6473952"/>
            <a:ext cx="548640" cy="274320"/>
          </a:xfrm>
          <a:prstGeom prst="rect">
            <a:avLst/>
          </a:prstGeom>
          <a:noFill/>
          <a:ln/>
        </p:spPr>
        <p:txBody>
          <a:bodyPr wrap="square" rtlCol="0" anchor="ctr"/>
          <a:lstStyle/>
          <a:p>
            <a:pPr marL="0" indent="0" algn="r">
              <a:buNone/>
            </a:pPr>
            <a:r>
              <a:rPr lang="en-US" sz="1000" b="1" dirty="0">
                <a:solidFill>
                  <a:srgbClr val="1A4FA0"/>
                </a:solidFill>
                <a:latin typeface="Trebuchet MS" pitchFamily="34" charset="0"/>
                <a:ea typeface="Trebuchet MS" pitchFamily="34" charset="-122"/>
                <a:cs typeface="Trebuchet MS"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E17857-4425-3FEE-C759-A64379BEA0DA}"/>
              </a:ext>
            </a:extLst>
          </p:cNvPr>
          <p:cNvSpPr txBox="1"/>
          <p:nvPr/>
        </p:nvSpPr>
        <p:spPr>
          <a:xfrm>
            <a:off x="261257" y="114953"/>
            <a:ext cx="11840174" cy="6617196"/>
          </a:xfrm>
          <a:prstGeom prst="rect">
            <a:avLst/>
          </a:prstGeom>
          <a:noFill/>
        </p:spPr>
        <p:txBody>
          <a:bodyPr wrap="square">
            <a:spAutoFit/>
          </a:bodyPr>
          <a:lstStyle/>
          <a:p>
            <a:pPr>
              <a:buNone/>
            </a:pPr>
            <a:r>
              <a:rPr lang="en-DE" sz="2800" b="1" dirty="0">
                <a:solidFill>
                  <a:schemeClr val="accent1">
                    <a:lumMod val="50000"/>
                  </a:schemeClr>
                </a:solidFill>
                <a:latin typeface="Trebuchet MS" panose="020B0603020202020204" pitchFamily="34" charset="0"/>
              </a:rPr>
              <a:t>Declaration of AI Usage and Originality</a:t>
            </a:r>
            <a:endParaRPr lang="de-DE" sz="2800" b="1" dirty="0">
              <a:solidFill>
                <a:schemeClr val="accent1">
                  <a:lumMod val="50000"/>
                </a:schemeClr>
              </a:solidFill>
              <a:latin typeface="Trebuchet MS" panose="020B0603020202020204" pitchFamily="34" charset="0"/>
            </a:endParaRPr>
          </a:p>
          <a:p>
            <a:pPr>
              <a:buNone/>
            </a:pPr>
            <a:endParaRPr lang="en-DE" dirty="0"/>
          </a:p>
          <a:p>
            <a:pPr>
              <a:buNone/>
            </a:pPr>
            <a:r>
              <a:rPr lang="en-DE" dirty="0"/>
              <a:t>I hereby declare that this coursework and presentation are my own academic work and were prepared under my personal responsibility.</a:t>
            </a:r>
            <a:endParaRPr lang="de-DE" dirty="0"/>
          </a:p>
          <a:p>
            <a:pPr>
              <a:buNone/>
            </a:pPr>
            <a:endParaRPr lang="en-DE" dirty="0"/>
          </a:p>
          <a:p>
            <a:pPr>
              <a:buNone/>
            </a:pPr>
            <a:r>
              <a:rPr lang="en-DE" dirty="0"/>
              <a:t>During the preparation of this work, I used ChatGPT Pro as an assistive tool for tasks such as structuring ideas, summarizing concepts, and reviewing drafts. The AI tool was not used as a substitute for my own academic judgment, analysis, or understanding of the subject matter.</a:t>
            </a:r>
          </a:p>
          <a:p>
            <a:pPr>
              <a:buNone/>
            </a:pPr>
            <a:r>
              <a:rPr lang="en-DE" dirty="0"/>
              <a:t>All technical content, interpretations, conclusions, design decisions, calculations, and final submissions were reviewed, verified, and approved by me. Where applicable, information generated with AI assistance was checked against course materials, scientific literature, official documentation, or other reliable sources before inclusion in the final work.</a:t>
            </a:r>
            <a:endParaRPr lang="de-DE" dirty="0"/>
          </a:p>
          <a:p>
            <a:pPr>
              <a:buNone/>
            </a:pPr>
            <a:endParaRPr lang="en-DE" dirty="0"/>
          </a:p>
          <a:p>
            <a:pPr>
              <a:buNone/>
            </a:pPr>
            <a:r>
              <a:rPr lang="en-DE" dirty="0"/>
              <a:t>I accept full responsibility for the accuracy, originality, integrity, and academic quality of the submitted work. This declaration is provided in accordance with the transparency requirements regarding the use of Artificial Intelligence tools in higher education and the applicable guidelines of Hochschule Hamm-Lippstadt and the State of North Rhine-Westphalia (NRW).</a:t>
            </a:r>
            <a:endParaRPr lang="de-DE" dirty="0"/>
          </a:p>
          <a:p>
            <a:pPr>
              <a:buNone/>
            </a:pPr>
            <a:endParaRPr lang="en-DE" dirty="0"/>
          </a:p>
          <a:p>
            <a:pPr>
              <a:buNone/>
            </a:pPr>
            <a:r>
              <a:rPr lang="en-DE" b="1" dirty="0"/>
              <a:t>Student:</a:t>
            </a:r>
            <a:r>
              <a:rPr lang="en-DE" dirty="0"/>
              <a:t> Daniel Chidi Chimezie</a:t>
            </a:r>
            <a:br>
              <a:rPr lang="en-DE" dirty="0"/>
            </a:br>
            <a:r>
              <a:rPr lang="en-DE" b="1" dirty="0"/>
              <a:t>Matriculation Number:</a:t>
            </a:r>
            <a:r>
              <a:rPr lang="en-DE" dirty="0"/>
              <a:t> 1230515</a:t>
            </a:r>
            <a:br>
              <a:rPr lang="en-DE" dirty="0"/>
            </a:br>
            <a:r>
              <a:rPr lang="en-DE" b="1" dirty="0"/>
              <a:t>University:</a:t>
            </a:r>
            <a:r>
              <a:rPr lang="en-DE" dirty="0"/>
              <a:t> Hochschule Hamm-Lippstadt</a:t>
            </a:r>
            <a:endParaRPr lang="de-DE" dirty="0"/>
          </a:p>
          <a:p>
            <a:pPr>
              <a:buNone/>
            </a:pPr>
            <a:br>
              <a:rPr lang="en-DE" dirty="0"/>
            </a:br>
            <a:r>
              <a:rPr lang="en-DE" b="1" dirty="0"/>
              <a:t>Course:</a:t>
            </a:r>
            <a:r>
              <a:rPr lang="en-DE" dirty="0"/>
              <a:t> </a:t>
            </a:r>
            <a:r>
              <a:rPr lang="de-DE" dirty="0"/>
              <a:t>Embedded Electronic Engineering A</a:t>
            </a:r>
          </a:p>
          <a:p>
            <a:pPr>
              <a:buNone/>
            </a:pPr>
            <a:endParaRPr lang="de-DE" dirty="0"/>
          </a:p>
          <a:p>
            <a:pPr>
              <a:buNone/>
            </a:pPr>
            <a:r>
              <a:rPr lang="en-DE" b="1" dirty="0"/>
              <a:t>Date:</a:t>
            </a:r>
            <a:r>
              <a:rPr lang="en-DE" dirty="0"/>
              <a:t> </a:t>
            </a:r>
            <a:r>
              <a:rPr lang="de-DE" dirty="0"/>
              <a:t>June 23, 2026</a:t>
            </a:r>
            <a:endParaRPr lang="en-DE" dirty="0"/>
          </a:p>
        </p:txBody>
      </p:sp>
      <p:grpSp>
        <p:nvGrpSpPr>
          <p:cNvPr id="16" name="Group 15">
            <a:extLst>
              <a:ext uri="{FF2B5EF4-FFF2-40B4-BE49-F238E27FC236}">
                <a16:creationId xmlns:a16="http://schemas.microsoft.com/office/drawing/2014/main" id="{49D8FA0C-0A49-07CA-C597-C1BFBB54B2C5}"/>
              </a:ext>
            </a:extLst>
          </p:cNvPr>
          <p:cNvGrpSpPr/>
          <p:nvPr/>
        </p:nvGrpSpPr>
        <p:grpSpPr>
          <a:xfrm>
            <a:off x="400680" y="6087615"/>
            <a:ext cx="1217160" cy="224640"/>
            <a:chOff x="400680" y="6087615"/>
            <a:chExt cx="1217160" cy="22464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415E514-F4A3-5A8C-C366-B1DF0B2841B7}"/>
                    </a:ext>
                  </a:extLst>
                </p14:cNvPr>
                <p14:cNvContentPartPr/>
                <p14:nvPr/>
              </p14:nvContentPartPr>
              <p14:xfrm>
                <a:off x="450000" y="6155655"/>
                <a:ext cx="108000" cy="132120"/>
              </p14:xfrm>
            </p:contentPart>
          </mc:Choice>
          <mc:Fallback>
            <p:pic>
              <p:nvPicPr>
                <p:cNvPr id="4" name="Ink 3">
                  <a:extLst>
                    <a:ext uri="{FF2B5EF4-FFF2-40B4-BE49-F238E27FC236}">
                      <a16:creationId xmlns:a16="http://schemas.microsoft.com/office/drawing/2014/main" id="{9415E514-F4A3-5A8C-C366-B1DF0B2841B7}"/>
                    </a:ext>
                  </a:extLst>
                </p:cNvPr>
                <p:cNvPicPr/>
                <p:nvPr/>
              </p:nvPicPr>
              <p:blipFill>
                <a:blip r:embed="rId3"/>
                <a:stretch>
                  <a:fillRect/>
                </a:stretch>
              </p:blipFill>
              <p:spPr>
                <a:xfrm>
                  <a:off x="443880" y="6149535"/>
                  <a:ext cx="12024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D717B4C-A61F-BE5B-70E2-A1E53830CA66}"/>
                    </a:ext>
                  </a:extLst>
                </p14:cNvPr>
                <p14:cNvContentPartPr/>
                <p14:nvPr/>
              </p14:nvContentPartPr>
              <p14:xfrm>
                <a:off x="571680" y="6087615"/>
                <a:ext cx="66600" cy="201240"/>
              </p14:xfrm>
            </p:contentPart>
          </mc:Choice>
          <mc:Fallback>
            <p:pic>
              <p:nvPicPr>
                <p:cNvPr id="5" name="Ink 4">
                  <a:extLst>
                    <a:ext uri="{FF2B5EF4-FFF2-40B4-BE49-F238E27FC236}">
                      <a16:creationId xmlns:a16="http://schemas.microsoft.com/office/drawing/2014/main" id="{1D717B4C-A61F-BE5B-70E2-A1E53830CA66}"/>
                    </a:ext>
                  </a:extLst>
                </p:cNvPr>
                <p:cNvPicPr/>
                <p:nvPr/>
              </p:nvPicPr>
              <p:blipFill>
                <a:blip r:embed="rId5"/>
                <a:stretch>
                  <a:fillRect/>
                </a:stretch>
              </p:blipFill>
              <p:spPr>
                <a:xfrm>
                  <a:off x="565560" y="6081495"/>
                  <a:ext cx="7884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48CF278B-DEA1-D9F3-CA90-52908F2ADD2C}"/>
                    </a:ext>
                  </a:extLst>
                </p14:cNvPr>
                <p14:cNvContentPartPr/>
                <p14:nvPr/>
              </p14:nvContentPartPr>
              <p14:xfrm>
                <a:off x="672120" y="6161055"/>
                <a:ext cx="25920" cy="128160"/>
              </p14:xfrm>
            </p:contentPart>
          </mc:Choice>
          <mc:Fallback>
            <p:pic>
              <p:nvPicPr>
                <p:cNvPr id="6" name="Ink 5">
                  <a:extLst>
                    <a:ext uri="{FF2B5EF4-FFF2-40B4-BE49-F238E27FC236}">
                      <a16:creationId xmlns:a16="http://schemas.microsoft.com/office/drawing/2014/main" id="{48CF278B-DEA1-D9F3-CA90-52908F2ADD2C}"/>
                    </a:ext>
                  </a:extLst>
                </p:cNvPr>
                <p:cNvPicPr/>
                <p:nvPr/>
              </p:nvPicPr>
              <p:blipFill>
                <a:blip r:embed="rId7"/>
                <a:stretch>
                  <a:fillRect/>
                </a:stretch>
              </p:blipFill>
              <p:spPr>
                <a:xfrm>
                  <a:off x="666000" y="6154935"/>
                  <a:ext cx="3816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076D615E-2E77-0FAE-D623-8DDC79D20CE7}"/>
                    </a:ext>
                  </a:extLst>
                </p14:cNvPr>
                <p14:cNvContentPartPr/>
                <p14:nvPr/>
              </p14:nvContentPartPr>
              <p14:xfrm>
                <a:off x="713880" y="6156375"/>
                <a:ext cx="83160" cy="155880"/>
              </p14:xfrm>
            </p:contentPart>
          </mc:Choice>
          <mc:Fallback>
            <p:pic>
              <p:nvPicPr>
                <p:cNvPr id="7" name="Ink 6">
                  <a:extLst>
                    <a:ext uri="{FF2B5EF4-FFF2-40B4-BE49-F238E27FC236}">
                      <a16:creationId xmlns:a16="http://schemas.microsoft.com/office/drawing/2014/main" id="{076D615E-2E77-0FAE-D623-8DDC79D20CE7}"/>
                    </a:ext>
                  </a:extLst>
                </p:cNvPr>
                <p:cNvPicPr/>
                <p:nvPr/>
              </p:nvPicPr>
              <p:blipFill>
                <a:blip r:embed="rId9"/>
                <a:stretch>
                  <a:fillRect/>
                </a:stretch>
              </p:blipFill>
              <p:spPr>
                <a:xfrm>
                  <a:off x="707760" y="6150255"/>
                  <a:ext cx="9540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9E43AD77-7940-A6B3-F9FE-BDE9FE8F9E34}"/>
                    </a:ext>
                  </a:extLst>
                </p14:cNvPr>
                <p14:cNvContentPartPr/>
                <p14:nvPr/>
              </p14:nvContentPartPr>
              <p14:xfrm>
                <a:off x="400680" y="6177255"/>
                <a:ext cx="449280" cy="62280"/>
              </p14:xfrm>
            </p:contentPart>
          </mc:Choice>
          <mc:Fallback>
            <p:pic>
              <p:nvPicPr>
                <p:cNvPr id="8" name="Ink 7">
                  <a:extLst>
                    <a:ext uri="{FF2B5EF4-FFF2-40B4-BE49-F238E27FC236}">
                      <a16:creationId xmlns:a16="http://schemas.microsoft.com/office/drawing/2014/main" id="{9E43AD77-7940-A6B3-F9FE-BDE9FE8F9E34}"/>
                    </a:ext>
                  </a:extLst>
                </p:cNvPr>
                <p:cNvPicPr/>
                <p:nvPr/>
              </p:nvPicPr>
              <p:blipFill>
                <a:blip r:embed="rId11"/>
                <a:stretch>
                  <a:fillRect/>
                </a:stretch>
              </p:blipFill>
              <p:spPr>
                <a:xfrm>
                  <a:off x="394560" y="6171135"/>
                  <a:ext cx="46152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21E32D99-B727-E32A-32F8-B4580CC5AE00}"/>
                    </a:ext>
                  </a:extLst>
                </p14:cNvPr>
                <p14:cNvContentPartPr/>
                <p14:nvPr/>
              </p14:nvContentPartPr>
              <p14:xfrm>
                <a:off x="907920" y="6118215"/>
                <a:ext cx="9360" cy="140400"/>
              </p14:xfrm>
            </p:contentPart>
          </mc:Choice>
          <mc:Fallback>
            <p:pic>
              <p:nvPicPr>
                <p:cNvPr id="9" name="Ink 8">
                  <a:extLst>
                    <a:ext uri="{FF2B5EF4-FFF2-40B4-BE49-F238E27FC236}">
                      <a16:creationId xmlns:a16="http://schemas.microsoft.com/office/drawing/2014/main" id="{21E32D99-B727-E32A-32F8-B4580CC5AE00}"/>
                    </a:ext>
                  </a:extLst>
                </p:cNvPr>
                <p:cNvPicPr/>
                <p:nvPr/>
              </p:nvPicPr>
              <p:blipFill>
                <a:blip r:embed="rId13"/>
                <a:stretch>
                  <a:fillRect/>
                </a:stretch>
              </p:blipFill>
              <p:spPr>
                <a:xfrm>
                  <a:off x="901800" y="6112095"/>
                  <a:ext cx="2160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82998964-5711-7AF3-FF01-22D9DE25FBEA}"/>
                    </a:ext>
                  </a:extLst>
                </p14:cNvPr>
                <p14:cNvContentPartPr/>
                <p14:nvPr/>
              </p14:nvContentPartPr>
              <p14:xfrm>
                <a:off x="891000" y="6144135"/>
                <a:ext cx="235800" cy="135360"/>
              </p14:xfrm>
            </p:contentPart>
          </mc:Choice>
          <mc:Fallback>
            <p:pic>
              <p:nvPicPr>
                <p:cNvPr id="10" name="Ink 9">
                  <a:extLst>
                    <a:ext uri="{FF2B5EF4-FFF2-40B4-BE49-F238E27FC236}">
                      <a16:creationId xmlns:a16="http://schemas.microsoft.com/office/drawing/2014/main" id="{82998964-5711-7AF3-FF01-22D9DE25FBEA}"/>
                    </a:ext>
                  </a:extLst>
                </p:cNvPr>
                <p:cNvPicPr/>
                <p:nvPr/>
              </p:nvPicPr>
              <p:blipFill>
                <a:blip r:embed="rId15"/>
                <a:stretch>
                  <a:fillRect/>
                </a:stretch>
              </p:blipFill>
              <p:spPr>
                <a:xfrm>
                  <a:off x="884880" y="6138015"/>
                  <a:ext cx="24804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9BC9F1BF-0358-2EDE-67B2-1576600F0A15}"/>
                    </a:ext>
                  </a:extLst>
                </p14:cNvPr>
                <p14:cNvContentPartPr/>
                <p14:nvPr/>
              </p14:nvContentPartPr>
              <p14:xfrm>
                <a:off x="906480" y="6165735"/>
                <a:ext cx="274680" cy="75960"/>
              </p14:xfrm>
            </p:contentPart>
          </mc:Choice>
          <mc:Fallback>
            <p:pic>
              <p:nvPicPr>
                <p:cNvPr id="11" name="Ink 10">
                  <a:extLst>
                    <a:ext uri="{FF2B5EF4-FFF2-40B4-BE49-F238E27FC236}">
                      <a16:creationId xmlns:a16="http://schemas.microsoft.com/office/drawing/2014/main" id="{9BC9F1BF-0358-2EDE-67B2-1576600F0A15}"/>
                    </a:ext>
                  </a:extLst>
                </p:cNvPr>
                <p:cNvPicPr/>
                <p:nvPr/>
              </p:nvPicPr>
              <p:blipFill>
                <a:blip r:embed="rId17"/>
                <a:stretch>
                  <a:fillRect/>
                </a:stretch>
              </p:blipFill>
              <p:spPr>
                <a:xfrm>
                  <a:off x="900360" y="6159615"/>
                  <a:ext cx="28692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06F870A9-BAB1-013E-FFA9-7AA26C0FFFA9}"/>
                    </a:ext>
                  </a:extLst>
                </p14:cNvPr>
                <p14:cNvContentPartPr/>
                <p14:nvPr/>
              </p14:nvContentPartPr>
              <p14:xfrm>
                <a:off x="1298160" y="6103095"/>
                <a:ext cx="194040" cy="157680"/>
              </p14:xfrm>
            </p:contentPart>
          </mc:Choice>
          <mc:Fallback>
            <p:pic>
              <p:nvPicPr>
                <p:cNvPr id="12" name="Ink 11">
                  <a:extLst>
                    <a:ext uri="{FF2B5EF4-FFF2-40B4-BE49-F238E27FC236}">
                      <a16:creationId xmlns:a16="http://schemas.microsoft.com/office/drawing/2014/main" id="{06F870A9-BAB1-013E-FFA9-7AA26C0FFFA9}"/>
                    </a:ext>
                  </a:extLst>
                </p:cNvPr>
                <p:cNvPicPr/>
                <p:nvPr/>
              </p:nvPicPr>
              <p:blipFill>
                <a:blip r:embed="rId19"/>
                <a:stretch>
                  <a:fillRect/>
                </a:stretch>
              </p:blipFill>
              <p:spPr>
                <a:xfrm>
                  <a:off x="1292040" y="6096975"/>
                  <a:ext cx="20628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F635B043-211F-7DDA-F595-7649AF887DD6}"/>
                    </a:ext>
                  </a:extLst>
                </p14:cNvPr>
                <p14:cNvContentPartPr/>
                <p14:nvPr/>
              </p14:nvContentPartPr>
              <p14:xfrm>
                <a:off x="1253880" y="6138015"/>
                <a:ext cx="300960" cy="104400"/>
              </p14:xfrm>
            </p:contentPart>
          </mc:Choice>
          <mc:Fallback>
            <p:pic>
              <p:nvPicPr>
                <p:cNvPr id="13" name="Ink 12">
                  <a:extLst>
                    <a:ext uri="{FF2B5EF4-FFF2-40B4-BE49-F238E27FC236}">
                      <a16:creationId xmlns:a16="http://schemas.microsoft.com/office/drawing/2014/main" id="{F635B043-211F-7DDA-F595-7649AF887DD6}"/>
                    </a:ext>
                  </a:extLst>
                </p:cNvPr>
                <p:cNvPicPr/>
                <p:nvPr/>
              </p:nvPicPr>
              <p:blipFill>
                <a:blip r:embed="rId21"/>
                <a:stretch>
                  <a:fillRect/>
                </a:stretch>
              </p:blipFill>
              <p:spPr>
                <a:xfrm>
                  <a:off x="1247760" y="6131895"/>
                  <a:ext cx="31320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B6B868D9-8FD6-9066-3BCF-AEC5FE53FA8F}"/>
                    </a:ext>
                  </a:extLst>
                </p14:cNvPr>
                <p14:cNvContentPartPr/>
                <p14:nvPr/>
              </p14:nvContentPartPr>
              <p14:xfrm>
                <a:off x="1612800" y="6128655"/>
                <a:ext cx="360" cy="360"/>
              </p14:xfrm>
            </p:contentPart>
          </mc:Choice>
          <mc:Fallback>
            <p:pic>
              <p:nvPicPr>
                <p:cNvPr id="14" name="Ink 13">
                  <a:extLst>
                    <a:ext uri="{FF2B5EF4-FFF2-40B4-BE49-F238E27FC236}">
                      <a16:creationId xmlns:a16="http://schemas.microsoft.com/office/drawing/2014/main" id="{B6B868D9-8FD6-9066-3BCF-AEC5FE53FA8F}"/>
                    </a:ext>
                  </a:extLst>
                </p:cNvPr>
                <p:cNvPicPr/>
                <p:nvPr/>
              </p:nvPicPr>
              <p:blipFill>
                <a:blip r:embed="rId23"/>
                <a:stretch>
                  <a:fillRect/>
                </a:stretch>
              </p:blipFill>
              <p:spPr>
                <a:xfrm>
                  <a:off x="1606680" y="612253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30F6A9E0-78BC-42A1-5EC3-BE80DB500675}"/>
                    </a:ext>
                  </a:extLst>
                </p14:cNvPr>
                <p14:cNvContentPartPr/>
                <p14:nvPr/>
              </p14:nvContentPartPr>
              <p14:xfrm>
                <a:off x="1617480" y="6196335"/>
                <a:ext cx="360" cy="360"/>
              </p14:xfrm>
            </p:contentPart>
          </mc:Choice>
          <mc:Fallback>
            <p:pic>
              <p:nvPicPr>
                <p:cNvPr id="15" name="Ink 14">
                  <a:extLst>
                    <a:ext uri="{FF2B5EF4-FFF2-40B4-BE49-F238E27FC236}">
                      <a16:creationId xmlns:a16="http://schemas.microsoft.com/office/drawing/2014/main" id="{30F6A9E0-78BC-42A1-5EC3-BE80DB500675}"/>
                    </a:ext>
                  </a:extLst>
                </p:cNvPr>
                <p:cNvPicPr/>
                <p:nvPr/>
              </p:nvPicPr>
              <p:blipFill>
                <a:blip r:embed="rId23"/>
                <a:stretch>
                  <a:fillRect/>
                </a:stretch>
              </p:blipFill>
              <p:spPr>
                <a:xfrm>
                  <a:off x="1611360" y="6190215"/>
                  <a:ext cx="12600" cy="12600"/>
                </a:xfrm>
                <a:prstGeom prst="rect">
                  <a:avLst/>
                </a:prstGeom>
              </p:spPr>
            </p:pic>
          </mc:Fallback>
        </mc:AlternateContent>
      </p:grpSp>
    </p:spTree>
    <p:extLst>
      <p:ext uri="{BB962C8B-B14F-4D97-AF65-F5344CB8AC3E}">
        <p14:creationId xmlns:p14="http://schemas.microsoft.com/office/powerpoint/2010/main" val="4064388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1388</Words>
  <Application>Microsoft Office PowerPoint</Application>
  <PresentationFormat>Widescreen</PresentationFormat>
  <Paragraphs>346</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Engr. D. Chimezie</dc:creator>
  <cp:lastModifiedBy>Engr. D. Chimezie</cp:lastModifiedBy>
  <cp:revision>5</cp:revision>
  <dcterms:created xsi:type="dcterms:W3CDTF">2026-06-23T10:25:55Z</dcterms:created>
  <dcterms:modified xsi:type="dcterms:W3CDTF">2026-06-23T10:55:49Z</dcterms:modified>
</cp:coreProperties>
</file>